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claro desde el inicio que es un trabajo argumentativo: hay una postura y hay que defenderla con evidencia normativa y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preguntan por la fuente, citar el artículo 131 de la Ley 30220 y la Ley 30476 completa, ambas publicadas por el Congreso.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contraargumento. Sostenerlo con honestidad es lo que hace que la conclusión no suene a propaganda.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conviene detenerse: una fuente puede ser verdadera y a la vez interesada. CRAAP no la descarta, la ubica.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E0B26"/>
        </a:solidFill>
      </p:bgPr>
    </p:bg>
    <p:spTree>
      <p:nvGrpSpPr>
        <p:cNvPr id="1" name=""/>
        <p:cNvGrpSpPr/>
        <p:nvPr/>
      </p:nvGrpSpPr>
      <p:grpSpPr>
        <a:xfrm>
          <a:off x="0" y="0"/>
          <a:ext cx="0" cy="0"/>
          <a:chOff x="0" y="0"/>
          <a:chExt cx="0" cy="0"/>
        </a:xfrm>
      </p:grpSpPr>
      <p:sp>
        <p:nvSpPr>
          <p:cNvPr id="2" name="Shape 0"/>
          <p:cNvSpPr/>
          <p:nvPr/>
        </p:nvSpPr>
        <p:spPr>
          <a:xfrm>
            <a:off x="10424160" y="914400"/>
            <a:ext cx="1737360" cy="1737360"/>
          </a:xfrm>
          <a:prstGeom prst="ellipse">
            <a:avLst/>
          </a:prstGeom>
          <a:solidFill>
            <a:srgbClr val="F6CFCB"/>
          </a:solidFill>
          <a:ln/>
        </p:spPr>
      </p:sp>
      <p:sp>
        <p:nvSpPr>
          <p:cNvPr id="3" name="Shape 1"/>
          <p:cNvSpPr/>
          <p:nvPr/>
        </p:nvSpPr>
        <p:spPr>
          <a:xfrm>
            <a:off x="11521440" y="2834640"/>
            <a:ext cx="502920" cy="502920"/>
          </a:xfrm>
          <a:prstGeom prst="ellipse">
            <a:avLst/>
          </a:prstGeom>
          <a:solidFill>
            <a:srgbClr val="E8B54C">
              <a:alpha val="65000"/>
            </a:srgbClr>
          </a:solidFill>
          <a:ln/>
        </p:spPr>
      </p:sp>
      <p:sp>
        <p:nvSpPr>
          <p:cNvPr id="4" name="Shape 2"/>
          <p:cNvSpPr/>
          <p:nvPr/>
        </p:nvSpPr>
        <p:spPr>
          <a:xfrm>
            <a:off x="9601200" y="3566160"/>
            <a:ext cx="822960" cy="822960"/>
          </a:xfrm>
          <a:prstGeom prst="ellipse">
            <a:avLst/>
          </a:prstGeom>
          <a:solidFill>
            <a:srgbClr val="F6CFCB">
              <a:alpha val="65000"/>
            </a:srgbClr>
          </a:solidFill>
          <a:ln/>
        </p:spPr>
      </p:sp>
      <p:sp>
        <p:nvSpPr>
          <p:cNvPr id="5" name="Shape 3"/>
          <p:cNvSpPr/>
          <p:nvPr/>
        </p:nvSpPr>
        <p:spPr>
          <a:xfrm>
            <a:off x="11155680" y="4937760"/>
            <a:ext cx="320040" cy="320040"/>
          </a:xfrm>
          <a:prstGeom prst="ellipse">
            <a:avLst/>
          </a:prstGeom>
          <a:solidFill>
            <a:srgbClr val="E8B54C">
              <a:alpha val="65000"/>
            </a:srgbClr>
          </a:solidFill>
          <a:ln/>
        </p:spPr>
      </p:sp>
      <p:sp>
        <p:nvSpPr>
          <p:cNvPr id="6" name="Text 4"/>
          <p:cNvSpPr txBox="1"/>
          <p:nvPr/>
        </p:nvSpPr>
        <p:spPr>
          <a:xfrm>
            <a:off x="640080" y="1371600"/>
            <a:ext cx="7772400" cy="320040"/>
          </a:xfrm>
          <a:prstGeom prst="rect">
            <a:avLst/>
          </a:prstGeom>
          <a:noFill/>
          <a:ln/>
        </p:spPr>
        <p:txBody>
          <a:bodyPr wrap="square" lIns="0" tIns="0" rIns="0" bIns="0" rtlCol="0" anchor="ctr"/>
          <a:lstStyle/>
          <a:p>
            <a:pPr indent="0" marL="0">
              <a:buNone/>
            </a:pPr>
            <a:r>
              <a:rPr lang="en-US" sz="1200" b="1" spc="300" kern="0" dirty="0">
                <a:solidFill>
                  <a:srgbClr val="E8B54C"/>
                </a:solidFill>
                <a:latin typeface="Calibri" pitchFamily="34" charset="0"/>
                <a:ea typeface="Calibri" pitchFamily="34" charset="-122"/>
                <a:cs typeface="Calibri" pitchFamily="34" charset="-120"/>
              </a:rPr>
              <a:t>INVESTIGACIÓN · DEPORTE Y EDUCACIÓN SUPERIOR</a:t>
            </a:r>
            <a:endParaRPr lang="en-US" sz="1200" dirty="0"/>
          </a:p>
        </p:txBody>
      </p:sp>
      <p:sp>
        <p:nvSpPr>
          <p:cNvPr id="7" name="Text 5"/>
          <p:cNvSpPr txBox="1"/>
          <p:nvPr/>
        </p:nvSpPr>
        <p:spPr>
          <a:xfrm>
            <a:off x="640080" y="1828800"/>
            <a:ext cx="8229600" cy="1737360"/>
          </a:xfrm>
          <a:prstGeom prst="rect">
            <a:avLst/>
          </a:prstGeom>
          <a:noFill/>
          <a:ln/>
        </p:spPr>
        <p:txBody>
          <a:bodyPr wrap="square" lIns="0" tIns="0" rIns="0" bIns="0" rtlCol="0" anchor="t"/>
          <a:lstStyle/>
          <a:p>
            <a:pPr indent="0" marL="0">
              <a:buNone/>
            </a:pPr>
            <a:r>
              <a:rPr lang="en-US" sz="5200" b="1" dirty="0">
                <a:solidFill>
                  <a:srgbClr val="FDF7F6"/>
                </a:solidFill>
                <a:latin typeface="Cambria" pitchFamily="34" charset="0"/>
                <a:ea typeface="Cambria" pitchFamily="34" charset="-122"/>
                <a:cs typeface="Cambria" pitchFamily="34" charset="-120"/>
              </a:rPr>
              <a:t>Universidades y selección peruana</a:t>
            </a:r>
            <a:endParaRPr lang="en-US" sz="5200" dirty="0"/>
          </a:p>
        </p:txBody>
      </p:sp>
      <p:sp>
        <p:nvSpPr>
          <p:cNvPr id="8" name="Text 6"/>
          <p:cNvSpPr txBox="1"/>
          <p:nvPr/>
        </p:nvSpPr>
        <p:spPr>
          <a:xfrm>
            <a:off x="640080" y="3657600"/>
            <a:ext cx="7863840" cy="822960"/>
          </a:xfrm>
          <a:prstGeom prst="rect">
            <a:avLst/>
          </a:prstGeom>
          <a:noFill/>
          <a:ln/>
        </p:spPr>
        <p:txBody>
          <a:bodyPr wrap="square" lIns="0" tIns="0" rIns="0" bIns="0" rtlCol="0" anchor="t"/>
          <a:lstStyle/>
          <a:p>
            <a:pPr indent="0" marL="0">
              <a:buNone/>
            </a:pPr>
            <a:r>
              <a:rPr lang="en-US" sz="1700" dirty="0">
                <a:solidFill>
                  <a:srgbClr val="F6CFCB"/>
                </a:solidFill>
                <a:latin typeface="Calibri" pitchFamily="34" charset="0"/>
                <a:ea typeface="Calibri" pitchFamily="34" charset="-122"/>
                <a:cs typeface="Calibri" pitchFamily="34" charset="-120"/>
              </a:rPr>
              <a:t>¿Le conviene a una universidad tener estudiantes que representan al Perú? La respuesta corta es sí, pero con condiciones.</a:t>
            </a:r>
            <a:endParaRPr lang="en-US" sz="1700" dirty="0"/>
          </a:p>
        </p:txBody>
      </p:sp>
      <p:sp>
        <p:nvSpPr>
          <p:cNvPr id="9" name="Text 7"/>
          <p:cNvSpPr txBox="1"/>
          <p:nvPr/>
        </p:nvSpPr>
        <p:spPr>
          <a:xfrm>
            <a:off x="640080" y="5394960"/>
            <a:ext cx="8229600" cy="822960"/>
          </a:xfrm>
          <a:prstGeom prst="rect">
            <a:avLst/>
          </a:prstGeom>
          <a:noFill/>
          <a:ln/>
        </p:spPr>
        <p:txBody>
          <a:bodyPr wrap="square" lIns="0" tIns="0" rIns="0" bIns="0" rtlCol="0" anchor="ctr"/>
          <a:lstStyle/>
          <a:p>
            <a:pPr indent="0" marL="0">
              <a:lnSpc>
                <a:spcPts val="1800"/>
              </a:lnSpc>
              <a:buNone/>
            </a:pPr>
            <a:r>
              <a:rPr lang="en-US" sz="1200" dirty="0">
                <a:solidFill>
                  <a:srgbClr val="E7AFAD"/>
                </a:solidFill>
                <a:latin typeface="Calibri" pitchFamily="34" charset="0"/>
                <a:ea typeface="Calibri" pitchFamily="34" charset="-122"/>
                <a:cs typeface="Calibri" pitchFamily="34" charset="-120"/>
              </a:rPr>
              <a:t>Evaluación de fuentes con el método CRAAP  ·  Referencias en formato APA</a:t>
            </a:r>
            <a:endParaRPr lang="en-US" sz="1200" dirty="0"/>
          </a:p>
          <a:p>
            <a:pPr indent="0" marL="0">
              <a:lnSpc>
                <a:spcPts val="1800"/>
              </a:lnSpc>
              <a:buNone/>
            </a:pPr>
            <a:r>
              <a:rPr lang="en-US" sz="1200" dirty="0">
                <a:solidFill>
                  <a:srgbClr val="E7AFAD"/>
                </a:solidFill>
                <a:latin typeface="Calibri" pitchFamily="34" charset="0"/>
                <a:ea typeface="Calibri" pitchFamily="34" charset="-122"/>
                <a:cs typeface="Calibri" pitchFamily="34" charset="-120"/>
              </a:rPr>
              <a:t>Colegio Santa María Marianistas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8E0B26"/>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E8B54C"/>
                </a:solidFill>
                <a:latin typeface="Calibri" pitchFamily="34" charset="0"/>
                <a:ea typeface="Calibri" pitchFamily="34" charset="-122"/>
                <a:cs typeface="Calibri" pitchFamily="34" charset="-120"/>
              </a:rPr>
              <a:t>PUNTO DE PARTIDA</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t"/>
          <a:lstStyle/>
          <a:p>
            <a:pPr indent="0" marL="0">
              <a:buNone/>
            </a:pPr>
            <a:r>
              <a:rPr lang="en-US" sz="3400" b="1" dirty="0">
                <a:solidFill>
                  <a:srgbClr val="FDF7F6"/>
                </a:solidFill>
                <a:latin typeface="Cambria" pitchFamily="34" charset="0"/>
                <a:ea typeface="Cambria" pitchFamily="34" charset="-122"/>
                <a:cs typeface="Cambria" pitchFamily="34" charset="-120"/>
              </a:rPr>
              <a:t>La pregunta y nuestra postura</a:t>
            </a:r>
            <a:endParaRPr lang="en-US" sz="3400" dirty="0"/>
          </a:p>
        </p:txBody>
      </p:sp>
      <p:sp>
        <p:nvSpPr>
          <p:cNvPr id="4" name="Text 2"/>
          <p:cNvSpPr txBox="1"/>
          <p:nvPr/>
        </p:nvSpPr>
        <p:spPr>
          <a:xfrm>
            <a:off x="640080" y="1600200"/>
            <a:ext cx="6766560" cy="1737360"/>
          </a:xfrm>
          <a:prstGeom prst="rect">
            <a:avLst/>
          </a:prstGeom>
          <a:noFill/>
          <a:ln/>
        </p:spPr>
        <p:txBody>
          <a:bodyPr wrap="square" lIns="0" tIns="0" rIns="0" bIns="0" rtlCol="0" anchor="t"/>
          <a:lstStyle/>
          <a:p>
            <a:pPr indent="0" marL="0">
              <a:buNone/>
            </a:pPr>
            <a:r>
              <a:rPr lang="en-US" sz="2700" i="1" dirty="0">
                <a:solidFill>
                  <a:srgbClr val="E8B54C"/>
                </a:solidFill>
                <a:latin typeface="Cambria" pitchFamily="34" charset="0"/>
                <a:ea typeface="Cambria" pitchFamily="34" charset="-122"/>
                <a:cs typeface="Cambria" pitchFamily="34" charset="-120"/>
              </a:rPr>
              <a:t>¿Le conviene de verdad a una universidad peruana tener estudiantes en la selección nacional?</a:t>
            </a:r>
            <a:endParaRPr lang="en-US" sz="2700" dirty="0"/>
          </a:p>
        </p:txBody>
      </p:sp>
      <p:sp>
        <p:nvSpPr>
          <p:cNvPr id="5" name="Text 3"/>
          <p:cNvSpPr txBox="1"/>
          <p:nvPr/>
        </p:nvSpPr>
        <p:spPr>
          <a:xfrm>
            <a:off x="640080" y="3429000"/>
            <a:ext cx="6583680" cy="2194560"/>
          </a:xfrm>
          <a:prstGeom prst="rect">
            <a:avLst/>
          </a:prstGeom>
          <a:noFill/>
          <a:ln/>
        </p:spPr>
        <p:txBody>
          <a:bodyPr wrap="square" lIns="0" tIns="0" rIns="0" bIns="0" rtlCol="0" anchor="t"/>
          <a:lstStyle/>
          <a:p>
            <a:pPr indent="0" marL="0">
              <a:lnSpc>
                <a:spcPts val="2300"/>
              </a:lnSpc>
              <a:buNone/>
            </a:pPr>
            <a:r>
              <a:rPr lang="en-US" sz="1450" dirty="0">
                <a:solidFill>
                  <a:srgbClr val="FDF7F6"/>
                </a:solidFill>
                <a:latin typeface="Calibri" pitchFamily="34" charset="0"/>
                <a:ea typeface="Calibri" pitchFamily="34" charset="-122"/>
                <a:cs typeface="Calibri" pitchFamily="34" charset="-120"/>
              </a:rPr>
              <a:t>Postura: sí los hay, y son de tres tipos, normativos, reputacionales y de vida universitaria. Pero no aparecen solos. Solo se concretan cuando la universidad sostiene un programa deportivo real, con tutoría académica y flexibilidad curricular, y no una beca suelta con foto para redes sociales.</a:t>
            </a:r>
            <a:endParaRPr lang="en-US" sz="1450" dirty="0"/>
          </a:p>
        </p:txBody>
      </p:sp>
      <p:sp>
        <p:nvSpPr>
          <p:cNvPr id="6" name="Shape 4"/>
          <p:cNvSpPr/>
          <p:nvPr/>
        </p:nvSpPr>
        <p:spPr>
          <a:xfrm>
            <a:off x="7772400" y="1600200"/>
            <a:ext cx="3749040" cy="4023360"/>
          </a:xfrm>
          <a:prstGeom prst="roundRect">
            <a:avLst>
              <a:gd name="adj" fmla="val 2927"/>
            </a:avLst>
          </a:prstGeom>
          <a:solidFill>
            <a:srgbClr val="A8203C"/>
          </a:solidFill>
          <a:ln/>
        </p:spPr>
      </p:sp>
      <p:sp>
        <p:nvSpPr>
          <p:cNvPr id="7" name="Text 5"/>
          <p:cNvSpPr txBox="1"/>
          <p:nvPr/>
        </p:nvSpPr>
        <p:spPr>
          <a:xfrm>
            <a:off x="8092440" y="1874520"/>
            <a:ext cx="3108960" cy="320040"/>
          </a:xfrm>
          <a:prstGeom prst="rect">
            <a:avLst/>
          </a:prstGeom>
          <a:noFill/>
          <a:ln/>
        </p:spPr>
        <p:txBody>
          <a:bodyPr wrap="square" lIns="0" tIns="0" rIns="0" bIns="0" rtlCol="0" anchor="ctr"/>
          <a:lstStyle/>
          <a:p>
            <a:pPr indent="0" marL="0">
              <a:buNone/>
            </a:pPr>
            <a:r>
              <a:rPr lang="en-US" sz="1100" b="1" spc="150" kern="0" dirty="0">
                <a:solidFill>
                  <a:srgbClr val="E8B54C"/>
                </a:solidFill>
                <a:latin typeface="Calibri" pitchFamily="34" charset="0"/>
                <a:ea typeface="Calibri" pitchFamily="34" charset="-122"/>
                <a:cs typeface="Calibri" pitchFamily="34" charset="-120"/>
              </a:rPr>
              <a:t>Sub-preguntas</a:t>
            </a:r>
            <a:endParaRPr lang="en-US" sz="1100" dirty="0"/>
          </a:p>
        </p:txBody>
      </p:sp>
      <p:sp>
        <p:nvSpPr>
          <p:cNvPr id="8" name="Shape 6"/>
          <p:cNvSpPr/>
          <p:nvPr/>
        </p:nvSpPr>
        <p:spPr>
          <a:xfrm>
            <a:off x="8092440" y="2331720"/>
            <a:ext cx="329184" cy="329184"/>
          </a:xfrm>
          <a:prstGeom prst="ellipse">
            <a:avLst/>
          </a:prstGeom>
          <a:solidFill>
            <a:srgbClr val="E8B54C"/>
          </a:solidFill>
          <a:ln/>
        </p:spPr>
      </p:sp>
      <p:sp>
        <p:nvSpPr>
          <p:cNvPr id="9" name="Text 7"/>
          <p:cNvSpPr txBox="1"/>
          <p:nvPr/>
        </p:nvSpPr>
        <p:spPr>
          <a:xfrm>
            <a:off x="8092440" y="2331720"/>
            <a:ext cx="329184" cy="329184"/>
          </a:xfrm>
          <a:prstGeom prst="rect">
            <a:avLst/>
          </a:prstGeom>
          <a:noFill/>
          <a:ln/>
        </p:spPr>
        <p:txBody>
          <a:bodyPr wrap="square" lIns="0" tIns="0" rIns="0" bIns="0" rtlCol="0" anchor="ctr"/>
          <a:lstStyle/>
          <a:p>
            <a:pPr algn="ctr" indent="0" marL="0">
              <a:buNone/>
            </a:pPr>
            <a:r>
              <a:rPr lang="en-US" sz="1300" b="1" dirty="0">
                <a:solidFill>
                  <a:srgbClr val="8E0B26"/>
                </a:solidFill>
                <a:latin typeface="Cambria" pitchFamily="34" charset="0"/>
                <a:ea typeface="Cambria" pitchFamily="34" charset="-122"/>
                <a:cs typeface="Cambria" pitchFamily="34" charset="-120"/>
              </a:rPr>
              <a:t>1</a:t>
            </a:r>
            <a:endParaRPr lang="en-US" sz="1300" dirty="0"/>
          </a:p>
        </p:txBody>
      </p:sp>
      <p:sp>
        <p:nvSpPr>
          <p:cNvPr id="10" name="Text 8"/>
          <p:cNvSpPr txBox="1"/>
          <p:nvPr/>
        </p:nvSpPr>
        <p:spPr>
          <a:xfrm>
            <a:off x="8549640" y="2276856"/>
            <a:ext cx="2606040" cy="868680"/>
          </a:xfrm>
          <a:prstGeom prst="rect">
            <a:avLst/>
          </a:prstGeom>
          <a:noFill/>
          <a:ln/>
        </p:spPr>
        <p:txBody>
          <a:bodyPr wrap="square" lIns="0" tIns="0" rIns="0" bIns="0" rtlCol="0" anchor="t"/>
          <a:lstStyle/>
          <a:p>
            <a:pPr indent="0" marL="0">
              <a:lnSpc>
                <a:spcPts val="1700"/>
              </a:lnSpc>
              <a:buNone/>
            </a:pPr>
            <a:r>
              <a:rPr lang="en-US" sz="1250" dirty="0">
                <a:solidFill>
                  <a:srgbClr val="FDF7F6"/>
                </a:solidFill>
                <a:latin typeface="Calibri" pitchFamily="34" charset="0"/>
                <a:ea typeface="Calibri" pitchFamily="34" charset="-122"/>
                <a:cs typeface="Calibri" pitchFamily="34" charset="-120"/>
              </a:rPr>
              <a:t>¿Qué obliga la ley peruana a hacer a las universidades?</a:t>
            </a:r>
            <a:endParaRPr lang="en-US" sz="1250" dirty="0"/>
          </a:p>
        </p:txBody>
      </p:sp>
      <p:sp>
        <p:nvSpPr>
          <p:cNvPr id="11" name="Shape 9"/>
          <p:cNvSpPr/>
          <p:nvPr/>
        </p:nvSpPr>
        <p:spPr>
          <a:xfrm>
            <a:off x="8092440" y="3291840"/>
            <a:ext cx="329184" cy="329184"/>
          </a:xfrm>
          <a:prstGeom prst="ellipse">
            <a:avLst/>
          </a:prstGeom>
          <a:solidFill>
            <a:srgbClr val="E8B54C"/>
          </a:solidFill>
          <a:ln/>
        </p:spPr>
      </p:sp>
      <p:sp>
        <p:nvSpPr>
          <p:cNvPr id="12" name="Text 10"/>
          <p:cNvSpPr txBox="1"/>
          <p:nvPr/>
        </p:nvSpPr>
        <p:spPr>
          <a:xfrm>
            <a:off x="8092440" y="3291840"/>
            <a:ext cx="329184" cy="329184"/>
          </a:xfrm>
          <a:prstGeom prst="rect">
            <a:avLst/>
          </a:prstGeom>
          <a:noFill/>
          <a:ln/>
        </p:spPr>
        <p:txBody>
          <a:bodyPr wrap="square" lIns="0" tIns="0" rIns="0" bIns="0" rtlCol="0" anchor="ctr"/>
          <a:lstStyle/>
          <a:p>
            <a:pPr algn="ctr" indent="0" marL="0">
              <a:buNone/>
            </a:pPr>
            <a:r>
              <a:rPr lang="en-US" sz="1300" b="1" dirty="0">
                <a:solidFill>
                  <a:srgbClr val="8E0B26"/>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8549640" y="3236976"/>
            <a:ext cx="2606040" cy="868680"/>
          </a:xfrm>
          <a:prstGeom prst="rect">
            <a:avLst/>
          </a:prstGeom>
          <a:noFill/>
          <a:ln/>
        </p:spPr>
        <p:txBody>
          <a:bodyPr wrap="square" lIns="0" tIns="0" rIns="0" bIns="0" rtlCol="0" anchor="t"/>
          <a:lstStyle/>
          <a:p>
            <a:pPr indent="0" marL="0">
              <a:lnSpc>
                <a:spcPts val="1700"/>
              </a:lnSpc>
              <a:buNone/>
            </a:pPr>
            <a:r>
              <a:rPr lang="en-US" sz="1250" dirty="0">
                <a:solidFill>
                  <a:srgbClr val="FDF7F6"/>
                </a:solidFill>
                <a:latin typeface="Calibri" pitchFamily="34" charset="0"/>
                <a:ea typeface="Calibri" pitchFamily="34" charset="-122"/>
                <a:cs typeface="Calibri" pitchFamily="34" charset="-120"/>
              </a:rPr>
              <a:t>¿Qué gana efectivamente la institución?</a:t>
            </a:r>
            <a:endParaRPr lang="en-US" sz="1250" dirty="0"/>
          </a:p>
        </p:txBody>
      </p:sp>
      <p:sp>
        <p:nvSpPr>
          <p:cNvPr id="14" name="Shape 12"/>
          <p:cNvSpPr/>
          <p:nvPr/>
        </p:nvSpPr>
        <p:spPr>
          <a:xfrm>
            <a:off x="8092440" y="4251960"/>
            <a:ext cx="329184" cy="329184"/>
          </a:xfrm>
          <a:prstGeom prst="ellipse">
            <a:avLst/>
          </a:prstGeom>
          <a:solidFill>
            <a:srgbClr val="E8B54C"/>
          </a:solidFill>
          <a:ln/>
        </p:spPr>
      </p:sp>
      <p:sp>
        <p:nvSpPr>
          <p:cNvPr id="15" name="Text 13"/>
          <p:cNvSpPr txBox="1"/>
          <p:nvPr/>
        </p:nvSpPr>
        <p:spPr>
          <a:xfrm>
            <a:off x="8092440" y="4251960"/>
            <a:ext cx="329184" cy="329184"/>
          </a:xfrm>
          <a:prstGeom prst="rect">
            <a:avLst/>
          </a:prstGeom>
          <a:noFill/>
          <a:ln/>
        </p:spPr>
        <p:txBody>
          <a:bodyPr wrap="square" lIns="0" tIns="0" rIns="0" bIns="0" rtlCol="0" anchor="ctr"/>
          <a:lstStyle/>
          <a:p>
            <a:pPr algn="ctr" indent="0" marL="0">
              <a:buNone/>
            </a:pPr>
            <a:r>
              <a:rPr lang="en-US" sz="1300" b="1" dirty="0">
                <a:solidFill>
                  <a:srgbClr val="8E0B26"/>
                </a:solidFill>
                <a:latin typeface="Cambria" pitchFamily="34" charset="0"/>
                <a:ea typeface="Cambria" pitchFamily="34" charset="-122"/>
                <a:cs typeface="Cambria" pitchFamily="34" charset="-120"/>
              </a:rPr>
              <a:t>3</a:t>
            </a:r>
            <a:endParaRPr lang="en-US" sz="1300" dirty="0"/>
          </a:p>
        </p:txBody>
      </p:sp>
      <p:sp>
        <p:nvSpPr>
          <p:cNvPr id="16" name="Text 14"/>
          <p:cNvSpPr txBox="1"/>
          <p:nvPr/>
        </p:nvSpPr>
        <p:spPr>
          <a:xfrm>
            <a:off x="8549640" y="4197096"/>
            <a:ext cx="2606040" cy="868680"/>
          </a:xfrm>
          <a:prstGeom prst="rect">
            <a:avLst/>
          </a:prstGeom>
          <a:noFill/>
          <a:ln/>
        </p:spPr>
        <p:txBody>
          <a:bodyPr wrap="square" lIns="0" tIns="0" rIns="0" bIns="0" rtlCol="0" anchor="t"/>
          <a:lstStyle/>
          <a:p>
            <a:pPr indent="0" marL="0">
              <a:lnSpc>
                <a:spcPts val="1700"/>
              </a:lnSpc>
              <a:buNone/>
            </a:pPr>
            <a:r>
              <a:rPr lang="en-US" sz="1250" dirty="0">
                <a:solidFill>
                  <a:srgbClr val="FDF7F6"/>
                </a:solidFill>
                <a:latin typeface="Calibri" pitchFamily="34" charset="0"/>
                <a:ea typeface="Calibri" pitchFamily="34" charset="-122"/>
                <a:cs typeface="Calibri" pitchFamily="34" charset="-120"/>
              </a:rPr>
              <a:t>¿Cuánto cuesta y en qué casos no compensa?</a:t>
            </a:r>
            <a:endParaRPr lang="en-US" sz="1250" dirty="0"/>
          </a:p>
        </p:txBody>
      </p:sp>
      <p:sp>
        <p:nvSpPr>
          <p:cNvPr id="17" name="Text 15"/>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900" dirty="0">
                <a:solidFill>
                  <a:srgbClr val="E7AFAD"/>
                </a:solidFill>
                <a:latin typeface="Calibri" pitchFamily="34" charset="0"/>
                <a:ea typeface="Calibri" pitchFamily="34" charset="-122"/>
                <a:cs typeface="Calibri" pitchFamily="34" charset="-120"/>
              </a:rPr>
              <a:t>Universidades y selección peruana · Método CRAAP</a:t>
            </a:r>
            <a:endParaRPr lang="en-US" sz="900" dirty="0"/>
          </a:p>
        </p:txBody>
      </p:sp>
      <p:sp>
        <p:nvSpPr>
          <p:cNvPr id="18" name="Text 16"/>
          <p:cNvSpPr txBox="1"/>
          <p:nvPr/>
        </p:nvSpPr>
        <p:spPr>
          <a:xfrm>
            <a:off x="10972800" y="6382512"/>
            <a:ext cx="548640" cy="274320"/>
          </a:xfrm>
          <a:prstGeom prst="rect">
            <a:avLst/>
          </a:prstGeom>
          <a:noFill/>
          <a:ln/>
        </p:spPr>
        <p:txBody>
          <a:bodyPr wrap="square" lIns="0" tIns="0" rIns="0" bIns="0" rtlCol="0" anchor="ctr"/>
          <a:lstStyle/>
          <a:p>
            <a:pPr algn="r" indent="0" marL="0">
              <a:buNone/>
            </a:pPr>
            <a:r>
              <a:rPr lang="en-US" sz="900" dirty="0">
                <a:solidFill>
                  <a:srgbClr val="E7AFAD"/>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7F6"/>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E8B54C"/>
                </a:solidFill>
                <a:latin typeface="Calibri" pitchFamily="34" charset="0"/>
                <a:ea typeface="Calibri" pitchFamily="34" charset="-122"/>
                <a:cs typeface="Calibri" pitchFamily="34" charset="-120"/>
              </a:rPr>
              <a:t>METODOLOGÍA</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t"/>
          <a:lstStyle/>
          <a:p>
            <a:pPr indent="0" marL="0">
              <a:buNone/>
            </a:pPr>
            <a:r>
              <a:rPr lang="en-US" sz="2800" b="1" dirty="0">
                <a:solidFill>
                  <a:srgbClr val="8E0B26"/>
                </a:solidFill>
                <a:latin typeface="Cambria" pitchFamily="34" charset="0"/>
                <a:ea typeface="Cambria" pitchFamily="34" charset="-122"/>
                <a:cs typeface="Cambria" pitchFamily="34" charset="-120"/>
              </a:rPr>
              <a:t>El método CRAAP: cinco filtros antes de citar</a:t>
            </a:r>
            <a:endParaRPr lang="en-US" sz="2800" dirty="0"/>
          </a:p>
        </p:txBody>
      </p:sp>
      <p:sp>
        <p:nvSpPr>
          <p:cNvPr id="4" name="Text 2"/>
          <p:cNvSpPr txBox="1"/>
          <p:nvPr/>
        </p:nvSpPr>
        <p:spPr>
          <a:xfrm>
            <a:off x="640080" y="1463040"/>
            <a:ext cx="10515600" cy="502920"/>
          </a:xfrm>
          <a:prstGeom prst="rect">
            <a:avLst/>
          </a:prstGeom>
          <a:noFill/>
          <a:ln/>
        </p:spPr>
        <p:txBody>
          <a:bodyPr wrap="square" lIns="0" tIns="0" rIns="0" bIns="0" rtlCol="0" anchor="t"/>
          <a:lstStyle/>
          <a:p>
            <a:pPr indent="0" marL="0">
              <a:lnSpc>
                <a:spcPts val="2000"/>
              </a:lnSpc>
              <a:buNone/>
            </a:pPr>
            <a:r>
              <a:rPr lang="en-US" sz="1400" dirty="0">
                <a:solidFill>
                  <a:srgbClr val="5A4241"/>
                </a:solidFill>
                <a:latin typeface="Calibri" pitchFamily="34" charset="0"/>
                <a:ea typeface="Calibri" pitchFamily="34" charset="-122"/>
                <a:cs typeface="Calibri" pitchFamily="34" charset="-120"/>
              </a:rPr>
              <a:t>Creado por Sarah Blakeslee y el equipo de la Meriam Library (California State University, Chico). En este tema casi todas las fuentes disponibles son de las propias universidades, así que el criterio de propósito pesa más que en un trabajo de ciencias.</a:t>
            </a:r>
            <a:endParaRPr lang="en-US" sz="1400" dirty="0"/>
          </a:p>
        </p:txBody>
      </p:sp>
      <p:sp>
        <p:nvSpPr>
          <p:cNvPr id="5" name="Shape 3"/>
          <p:cNvSpPr/>
          <p:nvPr/>
        </p:nvSpPr>
        <p:spPr>
          <a:xfrm>
            <a:off x="640080" y="2148840"/>
            <a:ext cx="1956816" cy="3931920"/>
          </a:xfrm>
          <a:prstGeom prst="roundRect">
            <a:avLst>
              <a:gd name="adj" fmla="val 4673"/>
            </a:avLst>
          </a:prstGeom>
          <a:solidFill>
            <a:srgbClr val="F3E4E3"/>
          </a:solidFill>
          <a:ln/>
        </p:spPr>
      </p:sp>
      <p:sp>
        <p:nvSpPr>
          <p:cNvPr id="6" name="Shape 4"/>
          <p:cNvSpPr/>
          <p:nvPr/>
        </p:nvSpPr>
        <p:spPr>
          <a:xfrm>
            <a:off x="932688" y="2423160"/>
            <a:ext cx="457200" cy="457200"/>
          </a:xfrm>
          <a:prstGeom prst="ellipse">
            <a:avLst/>
          </a:prstGeom>
          <a:solidFill>
            <a:srgbClr val="E8B54C"/>
          </a:solidFill>
          <a:ln/>
        </p:spPr>
      </p:sp>
      <p:sp>
        <p:nvSpPr>
          <p:cNvPr id="7" name="Text 5"/>
          <p:cNvSpPr txBox="1"/>
          <p:nvPr/>
        </p:nvSpPr>
        <p:spPr>
          <a:xfrm>
            <a:off x="932688" y="2423160"/>
            <a:ext cx="457200" cy="457200"/>
          </a:xfrm>
          <a:prstGeom prst="rect">
            <a:avLst/>
          </a:prstGeom>
          <a:noFill/>
          <a:ln/>
        </p:spPr>
        <p:txBody>
          <a:bodyPr wrap="square" lIns="0" tIns="0" rIns="0" bIns="0" rtlCol="0" anchor="ctr"/>
          <a:lstStyle/>
          <a:p>
            <a:pPr algn="ctr" indent="0" marL="0">
              <a:buNone/>
            </a:pPr>
            <a:r>
              <a:rPr lang="en-US" sz="1500" b="1" dirty="0">
                <a:solidFill>
                  <a:srgbClr val="8E0B26"/>
                </a:solidFill>
                <a:latin typeface="Cambria" pitchFamily="34" charset="0"/>
                <a:ea typeface="Cambria" pitchFamily="34" charset="-122"/>
                <a:cs typeface="Cambria" pitchFamily="34" charset="-120"/>
              </a:rPr>
              <a:t>C</a:t>
            </a:r>
            <a:endParaRPr lang="en-US" sz="1500" dirty="0"/>
          </a:p>
        </p:txBody>
      </p:sp>
      <p:sp>
        <p:nvSpPr>
          <p:cNvPr id="8" name="Text 6"/>
          <p:cNvSpPr txBox="1"/>
          <p:nvPr/>
        </p:nvSpPr>
        <p:spPr>
          <a:xfrm>
            <a:off x="932688" y="3017520"/>
            <a:ext cx="1371600" cy="512064"/>
          </a:xfrm>
          <a:prstGeom prst="rect">
            <a:avLst/>
          </a:prstGeom>
          <a:noFill/>
          <a:ln/>
        </p:spPr>
        <p:txBody>
          <a:bodyPr wrap="square" lIns="0" tIns="0" rIns="0" bIns="0" rtlCol="0" anchor="ctr"/>
          <a:lstStyle/>
          <a:p>
            <a:pPr indent="0" marL="0">
              <a:buNone/>
            </a:pPr>
            <a:r>
              <a:rPr lang="en-US" sz="1600" b="1" dirty="0">
                <a:solidFill>
                  <a:srgbClr val="8E0B26"/>
                </a:solidFill>
                <a:latin typeface="Cambria" pitchFamily="34" charset="0"/>
                <a:ea typeface="Cambria" pitchFamily="34" charset="-122"/>
                <a:cs typeface="Cambria" pitchFamily="34" charset="-120"/>
              </a:rPr>
              <a:t>Currency</a:t>
            </a:r>
            <a:endParaRPr lang="en-US" sz="1600" dirty="0"/>
          </a:p>
        </p:txBody>
      </p:sp>
      <p:sp>
        <p:nvSpPr>
          <p:cNvPr id="9" name="Text 7"/>
          <p:cNvSpPr txBox="1"/>
          <p:nvPr/>
        </p:nvSpPr>
        <p:spPr>
          <a:xfrm>
            <a:off x="932688" y="3621024"/>
            <a:ext cx="1371600" cy="2258568"/>
          </a:xfrm>
          <a:prstGeom prst="rect">
            <a:avLst/>
          </a:prstGeom>
          <a:noFill/>
          <a:ln/>
        </p:spPr>
        <p:txBody>
          <a:bodyPr wrap="square" lIns="0" tIns="0" rIns="0" bIns="0" rtlCol="0" anchor="t"/>
          <a:lstStyle/>
          <a:p>
            <a:pPr indent="0" marL="0">
              <a:lnSpc>
                <a:spcPts val="1600"/>
              </a:lnSpc>
              <a:buNone/>
            </a:pPr>
            <a:r>
              <a:rPr lang="en-US" sz="1200" dirty="0">
                <a:solidFill>
                  <a:srgbClr val="5A4241"/>
                </a:solidFill>
                <a:latin typeface="Calibri" pitchFamily="34" charset="0"/>
                <a:ea typeface="Calibri" pitchFamily="34" charset="-122"/>
                <a:cs typeface="Calibri" pitchFamily="34" charset="-120"/>
              </a:rPr>
              <a:t>Vigencia. ¿La norma citada sigue en vigor? ¿La página de becas corresponde al proceso de admisión actual?</a:t>
            </a:r>
            <a:endParaRPr lang="en-US" sz="1200" dirty="0"/>
          </a:p>
        </p:txBody>
      </p:sp>
      <p:sp>
        <p:nvSpPr>
          <p:cNvPr id="10" name="Shape 8"/>
          <p:cNvSpPr/>
          <p:nvPr/>
        </p:nvSpPr>
        <p:spPr>
          <a:xfrm>
            <a:off x="2871216" y="2148840"/>
            <a:ext cx="1956816" cy="3931920"/>
          </a:xfrm>
          <a:prstGeom prst="roundRect">
            <a:avLst>
              <a:gd name="adj" fmla="val 4673"/>
            </a:avLst>
          </a:prstGeom>
          <a:solidFill>
            <a:srgbClr val="F3E4E3"/>
          </a:solidFill>
          <a:ln/>
        </p:spPr>
      </p:sp>
      <p:sp>
        <p:nvSpPr>
          <p:cNvPr id="11" name="Shape 9"/>
          <p:cNvSpPr/>
          <p:nvPr/>
        </p:nvSpPr>
        <p:spPr>
          <a:xfrm>
            <a:off x="3163824" y="2423160"/>
            <a:ext cx="457200" cy="457200"/>
          </a:xfrm>
          <a:prstGeom prst="ellipse">
            <a:avLst/>
          </a:prstGeom>
          <a:solidFill>
            <a:srgbClr val="F6CFCB"/>
          </a:solidFill>
          <a:ln/>
        </p:spPr>
      </p:sp>
      <p:sp>
        <p:nvSpPr>
          <p:cNvPr id="12" name="Text 10"/>
          <p:cNvSpPr txBox="1"/>
          <p:nvPr/>
        </p:nvSpPr>
        <p:spPr>
          <a:xfrm>
            <a:off x="3163824" y="2423160"/>
            <a:ext cx="457200" cy="457200"/>
          </a:xfrm>
          <a:prstGeom prst="rect">
            <a:avLst/>
          </a:prstGeom>
          <a:noFill/>
          <a:ln/>
        </p:spPr>
        <p:txBody>
          <a:bodyPr wrap="square" lIns="0" tIns="0" rIns="0" bIns="0" rtlCol="0" anchor="ctr"/>
          <a:lstStyle/>
          <a:p>
            <a:pPr algn="ctr" indent="0" marL="0">
              <a:buNone/>
            </a:pPr>
            <a:r>
              <a:rPr lang="en-US" sz="1500" b="1" dirty="0">
                <a:solidFill>
                  <a:srgbClr val="8E0B26"/>
                </a:solidFill>
                <a:latin typeface="Cambria" pitchFamily="34" charset="0"/>
                <a:ea typeface="Cambria" pitchFamily="34" charset="-122"/>
                <a:cs typeface="Cambria" pitchFamily="34" charset="-120"/>
              </a:rPr>
              <a:t>R</a:t>
            </a:r>
            <a:endParaRPr lang="en-US" sz="1500" dirty="0"/>
          </a:p>
        </p:txBody>
      </p:sp>
      <p:sp>
        <p:nvSpPr>
          <p:cNvPr id="13" name="Text 11"/>
          <p:cNvSpPr txBox="1"/>
          <p:nvPr/>
        </p:nvSpPr>
        <p:spPr>
          <a:xfrm>
            <a:off x="3163824" y="3017520"/>
            <a:ext cx="1371600" cy="512064"/>
          </a:xfrm>
          <a:prstGeom prst="rect">
            <a:avLst/>
          </a:prstGeom>
          <a:noFill/>
          <a:ln/>
        </p:spPr>
        <p:txBody>
          <a:bodyPr wrap="square" lIns="0" tIns="0" rIns="0" bIns="0" rtlCol="0" anchor="ctr"/>
          <a:lstStyle/>
          <a:p>
            <a:pPr indent="0" marL="0">
              <a:buNone/>
            </a:pPr>
            <a:r>
              <a:rPr lang="en-US" sz="1600" b="1" dirty="0">
                <a:solidFill>
                  <a:srgbClr val="8E0B26"/>
                </a:solidFill>
                <a:latin typeface="Cambria" pitchFamily="34" charset="0"/>
                <a:ea typeface="Cambria" pitchFamily="34" charset="-122"/>
                <a:cs typeface="Cambria" pitchFamily="34" charset="-120"/>
              </a:rPr>
              <a:t>Relevance</a:t>
            </a:r>
            <a:endParaRPr lang="en-US" sz="1600" dirty="0"/>
          </a:p>
        </p:txBody>
      </p:sp>
      <p:sp>
        <p:nvSpPr>
          <p:cNvPr id="14" name="Text 12"/>
          <p:cNvSpPr txBox="1"/>
          <p:nvPr/>
        </p:nvSpPr>
        <p:spPr>
          <a:xfrm>
            <a:off x="3163824" y="3621024"/>
            <a:ext cx="1371600" cy="2258568"/>
          </a:xfrm>
          <a:prstGeom prst="rect">
            <a:avLst/>
          </a:prstGeom>
          <a:noFill/>
          <a:ln/>
        </p:spPr>
        <p:txBody>
          <a:bodyPr wrap="square" lIns="0" tIns="0" rIns="0" bIns="0" rtlCol="0" anchor="t"/>
          <a:lstStyle/>
          <a:p>
            <a:pPr indent="0" marL="0">
              <a:lnSpc>
                <a:spcPts val="1600"/>
              </a:lnSpc>
              <a:buNone/>
            </a:pPr>
            <a:r>
              <a:rPr lang="en-US" sz="1200" dirty="0">
                <a:solidFill>
                  <a:srgbClr val="5A4241"/>
                </a:solidFill>
                <a:latin typeface="Calibri" pitchFamily="34" charset="0"/>
                <a:ea typeface="Calibri" pitchFamily="34" charset="-122"/>
                <a:cs typeface="Calibri" pitchFamily="34" charset="-120"/>
              </a:rPr>
              <a:t>Pertinencia. ¿Habla del beneficio para la universidad o solo del beneficio para el deportista? No es lo mismo.</a:t>
            </a:r>
            <a:endParaRPr lang="en-US" sz="1200" dirty="0"/>
          </a:p>
        </p:txBody>
      </p:sp>
      <p:sp>
        <p:nvSpPr>
          <p:cNvPr id="15" name="Shape 13"/>
          <p:cNvSpPr/>
          <p:nvPr/>
        </p:nvSpPr>
        <p:spPr>
          <a:xfrm>
            <a:off x="5102352" y="2148840"/>
            <a:ext cx="1956816" cy="3931920"/>
          </a:xfrm>
          <a:prstGeom prst="roundRect">
            <a:avLst>
              <a:gd name="adj" fmla="val 4673"/>
            </a:avLst>
          </a:prstGeom>
          <a:solidFill>
            <a:srgbClr val="F3E4E3"/>
          </a:solidFill>
          <a:ln/>
        </p:spPr>
      </p:sp>
      <p:sp>
        <p:nvSpPr>
          <p:cNvPr id="16" name="Shape 14"/>
          <p:cNvSpPr/>
          <p:nvPr/>
        </p:nvSpPr>
        <p:spPr>
          <a:xfrm>
            <a:off x="5394960" y="2423160"/>
            <a:ext cx="457200" cy="457200"/>
          </a:xfrm>
          <a:prstGeom prst="ellipse">
            <a:avLst/>
          </a:prstGeom>
          <a:solidFill>
            <a:srgbClr val="F6CFCB"/>
          </a:solidFill>
          <a:ln/>
        </p:spPr>
      </p:sp>
      <p:sp>
        <p:nvSpPr>
          <p:cNvPr id="17" name="Text 15"/>
          <p:cNvSpPr txBox="1"/>
          <p:nvPr/>
        </p:nvSpPr>
        <p:spPr>
          <a:xfrm>
            <a:off x="5394960" y="2423160"/>
            <a:ext cx="457200" cy="457200"/>
          </a:xfrm>
          <a:prstGeom prst="rect">
            <a:avLst/>
          </a:prstGeom>
          <a:noFill/>
          <a:ln/>
        </p:spPr>
        <p:txBody>
          <a:bodyPr wrap="square" lIns="0" tIns="0" rIns="0" bIns="0" rtlCol="0" anchor="ctr"/>
          <a:lstStyle/>
          <a:p>
            <a:pPr algn="ctr" indent="0" marL="0">
              <a:buNone/>
            </a:pPr>
            <a:r>
              <a:rPr lang="en-US" sz="1500" b="1" dirty="0">
                <a:solidFill>
                  <a:srgbClr val="8E0B26"/>
                </a:solidFill>
                <a:latin typeface="Cambria" pitchFamily="34" charset="0"/>
                <a:ea typeface="Cambria" pitchFamily="34" charset="-122"/>
                <a:cs typeface="Cambria" pitchFamily="34" charset="-120"/>
              </a:rPr>
              <a:t>A</a:t>
            </a:r>
            <a:endParaRPr lang="en-US" sz="1500" dirty="0"/>
          </a:p>
        </p:txBody>
      </p:sp>
      <p:sp>
        <p:nvSpPr>
          <p:cNvPr id="18" name="Text 16"/>
          <p:cNvSpPr txBox="1"/>
          <p:nvPr/>
        </p:nvSpPr>
        <p:spPr>
          <a:xfrm>
            <a:off x="5394960" y="3017520"/>
            <a:ext cx="1371600" cy="512064"/>
          </a:xfrm>
          <a:prstGeom prst="rect">
            <a:avLst/>
          </a:prstGeom>
          <a:noFill/>
          <a:ln/>
        </p:spPr>
        <p:txBody>
          <a:bodyPr wrap="square" lIns="0" tIns="0" rIns="0" bIns="0" rtlCol="0" anchor="ctr"/>
          <a:lstStyle/>
          <a:p>
            <a:pPr indent="0" marL="0">
              <a:buNone/>
            </a:pPr>
            <a:r>
              <a:rPr lang="en-US" sz="1600" b="1" dirty="0">
                <a:solidFill>
                  <a:srgbClr val="8E0B26"/>
                </a:solidFill>
                <a:latin typeface="Cambria" pitchFamily="34" charset="0"/>
                <a:ea typeface="Cambria" pitchFamily="34" charset="-122"/>
                <a:cs typeface="Cambria" pitchFamily="34" charset="-120"/>
              </a:rPr>
              <a:t>Authority</a:t>
            </a:r>
            <a:endParaRPr lang="en-US" sz="1600" dirty="0"/>
          </a:p>
        </p:txBody>
      </p:sp>
      <p:sp>
        <p:nvSpPr>
          <p:cNvPr id="19" name="Text 17"/>
          <p:cNvSpPr txBox="1"/>
          <p:nvPr/>
        </p:nvSpPr>
        <p:spPr>
          <a:xfrm>
            <a:off x="5394960" y="3621024"/>
            <a:ext cx="1371600" cy="2258568"/>
          </a:xfrm>
          <a:prstGeom prst="rect">
            <a:avLst/>
          </a:prstGeom>
          <a:noFill/>
          <a:ln/>
        </p:spPr>
        <p:txBody>
          <a:bodyPr wrap="square" lIns="0" tIns="0" rIns="0" bIns="0" rtlCol="0" anchor="t"/>
          <a:lstStyle/>
          <a:p>
            <a:pPr indent="0" marL="0">
              <a:lnSpc>
                <a:spcPts val="1600"/>
              </a:lnSpc>
              <a:buNone/>
            </a:pPr>
            <a:r>
              <a:rPr lang="en-US" sz="1200" dirty="0">
                <a:solidFill>
                  <a:srgbClr val="5A4241"/>
                </a:solidFill>
                <a:latin typeface="Calibri" pitchFamily="34" charset="0"/>
                <a:ea typeface="Calibri" pitchFamily="34" charset="-122"/>
                <a:cs typeface="Calibri" pitchFamily="34" charset="-120"/>
              </a:rPr>
              <a:t>Autoridad. ¿Es el texto legal publicado por el Congreso o el resumen de un blog sin firma?</a:t>
            </a:r>
            <a:endParaRPr lang="en-US" sz="1200" dirty="0"/>
          </a:p>
        </p:txBody>
      </p:sp>
      <p:sp>
        <p:nvSpPr>
          <p:cNvPr id="20" name="Shape 18"/>
          <p:cNvSpPr/>
          <p:nvPr/>
        </p:nvSpPr>
        <p:spPr>
          <a:xfrm>
            <a:off x="7333488" y="2148840"/>
            <a:ext cx="1956816" cy="3931920"/>
          </a:xfrm>
          <a:prstGeom prst="roundRect">
            <a:avLst>
              <a:gd name="adj" fmla="val 4673"/>
            </a:avLst>
          </a:prstGeom>
          <a:solidFill>
            <a:srgbClr val="F3E4E3"/>
          </a:solidFill>
          <a:ln/>
        </p:spPr>
      </p:sp>
      <p:sp>
        <p:nvSpPr>
          <p:cNvPr id="21" name="Shape 19"/>
          <p:cNvSpPr/>
          <p:nvPr/>
        </p:nvSpPr>
        <p:spPr>
          <a:xfrm>
            <a:off x="7626096" y="2423160"/>
            <a:ext cx="457200" cy="457200"/>
          </a:xfrm>
          <a:prstGeom prst="ellipse">
            <a:avLst/>
          </a:prstGeom>
          <a:solidFill>
            <a:srgbClr val="F6CFCB"/>
          </a:solidFill>
          <a:ln/>
        </p:spPr>
      </p:sp>
      <p:sp>
        <p:nvSpPr>
          <p:cNvPr id="22" name="Text 20"/>
          <p:cNvSpPr txBox="1"/>
          <p:nvPr/>
        </p:nvSpPr>
        <p:spPr>
          <a:xfrm>
            <a:off x="7626096" y="2423160"/>
            <a:ext cx="457200" cy="457200"/>
          </a:xfrm>
          <a:prstGeom prst="rect">
            <a:avLst/>
          </a:prstGeom>
          <a:noFill/>
          <a:ln/>
        </p:spPr>
        <p:txBody>
          <a:bodyPr wrap="square" lIns="0" tIns="0" rIns="0" bIns="0" rtlCol="0" anchor="ctr"/>
          <a:lstStyle/>
          <a:p>
            <a:pPr algn="ctr" indent="0" marL="0">
              <a:buNone/>
            </a:pPr>
            <a:r>
              <a:rPr lang="en-US" sz="1500" b="1" dirty="0">
                <a:solidFill>
                  <a:srgbClr val="8E0B26"/>
                </a:solidFill>
                <a:latin typeface="Cambria" pitchFamily="34" charset="0"/>
                <a:ea typeface="Cambria" pitchFamily="34" charset="-122"/>
                <a:cs typeface="Cambria" pitchFamily="34" charset="-120"/>
              </a:rPr>
              <a:t>A</a:t>
            </a:r>
            <a:endParaRPr lang="en-US" sz="1500" dirty="0"/>
          </a:p>
        </p:txBody>
      </p:sp>
      <p:sp>
        <p:nvSpPr>
          <p:cNvPr id="23" name="Text 21"/>
          <p:cNvSpPr txBox="1"/>
          <p:nvPr/>
        </p:nvSpPr>
        <p:spPr>
          <a:xfrm>
            <a:off x="7626096" y="3017520"/>
            <a:ext cx="1371600" cy="512064"/>
          </a:xfrm>
          <a:prstGeom prst="rect">
            <a:avLst/>
          </a:prstGeom>
          <a:noFill/>
          <a:ln/>
        </p:spPr>
        <p:txBody>
          <a:bodyPr wrap="square" lIns="0" tIns="0" rIns="0" bIns="0" rtlCol="0" anchor="ctr"/>
          <a:lstStyle/>
          <a:p>
            <a:pPr indent="0" marL="0">
              <a:buNone/>
            </a:pPr>
            <a:r>
              <a:rPr lang="en-US" sz="1600" b="1" dirty="0">
                <a:solidFill>
                  <a:srgbClr val="8E0B26"/>
                </a:solidFill>
                <a:latin typeface="Cambria" pitchFamily="34" charset="0"/>
                <a:ea typeface="Cambria" pitchFamily="34" charset="-122"/>
                <a:cs typeface="Cambria" pitchFamily="34" charset="-120"/>
              </a:rPr>
              <a:t>Accuracy</a:t>
            </a:r>
            <a:endParaRPr lang="en-US" sz="1600" dirty="0"/>
          </a:p>
        </p:txBody>
      </p:sp>
      <p:sp>
        <p:nvSpPr>
          <p:cNvPr id="24" name="Text 22"/>
          <p:cNvSpPr txBox="1"/>
          <p:nvPr/>
        </p:nvSpPr>
        <p:spPr>
          <a:xfrm>
            <a:off x="7626096" y="3621024"/>
            <a:ext cx="1371600" cy="2258568"/>
          </a:xfrm>
          <a:prstGeom prst="rect">
            <a:avLst/>
          </a:prstGeom>
          <a:noFill/>
          <a:ln/>
        </p:spPr>
        <p:txBody>
          <a:bodyPr wrap="square" lIns="0" tIns="0" rIns="0" bIns="0" rtlCol="0" anchor="t"/>
          <a:lstStyle/>
          <a:p>
            <a:pPr indent="0" marL="0">
              <a:lnSpc>
                <a:spcPts val="1600"/>
              </a:lnSpc>
              <a:buNone/>
            </a:pPr>
            <a:r>
              <a:rPr lang="en-US" sz="1200" dirty="0">
                <a:solidFill>
                  <a:srgbClr val="5A4241"/>
                </a:solidFill>
                <a:latin typeface="Calibri" pitchFamily="34" charset="0"/>
                <a:ea typeface="Calibri" pitchFamily="34" charset="-122"/>
                <a:cs typeface="Calibri" pitchFamily="34" charset="-120"/>
              </a:rPr>
              <a:t>Exactitud. ¿Da cifras concretas y verificables o solo adjetivos como «gran apoyo» y «excelencia»?</a:t>
            </a:r>
            <a:endParaRPr lang="en-US" sz="1200" dirty="0"/>
          </a:p>
        </p:txBody>
      </p:sp>
      <p:sp>
        <p:nvSpPr>
          <p:cNvPr id="25" name="Shape 23"/>
          <p:cNvSpPr/>
          <p:nvPr/>
        </p:nvSpPr>
        <p:spPr>
          <a:xfrm>
            <a:off x="9564624" y="2148840"/>
            <a:ext cx="1956816" cy="3931920"/>
          </a:xfrm>
          <a:prstGeom prst="roundRect">
            <a:avLst>
              <a:gd name="adj" fmla="val 4673"/>
            </a:avLst>
          </a:prstGeom>
          <a:solidFill>
            <a:srgbClr val="F3E4E3"/>
          </a:solidFill>
          <a:ln/>
        </p:spPr>
      </p:sp>
      <p:sp>
        <p:nvSpPr>
          <p:cNvPr id="26" name="Shape 24"/>
          <p:cNvSpPr/>
          <p:nvPr/>
        </p:nvSpPr>
        <p:spPr>
          <a:xfrm>
            <a:off x="9857232" y="2423160"/>
            <a:ext cx="457200" cy="457200"/>
          </a:xfrm>
          <a:prstGeom prst="ellipse">
            <a:avLst/>
          </a:prstGeom>
          <a:solidFill>
            <a:srgbClr val="F6CFCB"/>
          </a:solidFill>
          <a:ln/>
        </p:spPr>
      </p:sp>
      <p:sp>
        <p:nvSpPr>
          <p:cNvPr id="27" name="Text 25"/>
          <p:cNvSpPr txBox="1"/>
          <p:nvPr/>
        </p:nvSpPr>
        <p:spPr>
          <a:xfrm>
            <a:off x="9857232" y="2423160"/>
            <a:ext cx="457200" cy="457200"/>
          </a:xfrm>
          <a:prstGeom prst="rect">
            <a:avLst/>
          </a:prstGeom>
          <a:noFill/>
          <a:ln/>
        </p:spPr>
        <p:txBody>
          <a:bodyPr wrap="square" lIns="0" tIns="0" rIns="0" bIns="0" rtlCol="0" anchor="ctr"/>
          <a:lstStyle/>
          <a:p>
            <a:pPr algn="ctr" indent="0" marL="0">
              <a:buNone/>
            </a:pPr>
            <a:r>
              <a:rPr lang="en-US" sz="1500" b="1" dirty="0">
                <a:solidFill>
                  <a:srgbClr val="8E0B26"/>
                </a:solidFill>
                <a:latin typeface="Cambria" pitchFamily="34" charset="0"/>
                <a:ea typeface="Cambria" pitchFamily="34" charset="-122"/>
                <a:cs typeface="Cambria" pitchFamily="34" charset="-120"/>
              </a:rPr>
              <a:t>P</a:t>
            </a:r>
            <a:endParaRPr lang="en-US" sz="1500" dirty="0"/>
          </a:p>
        </p:txBody>
      </p:sp>
      <p:sp>
        <p:nvSpPr>
          <p:cNvPr id="28" name="Text 26"/>
          <p:cNvSpPr txBox="1"/>
          <p:nvPr/>
        </p:nvSpPr>
        <p:spPr>
          <a:xfrm>
            <a:off x="9857232" y="3017520"/>
            <a:ext cx="1371600" cy="512064"/>
          </a:xfrm>
          <a:prstGeom prst="rect">
            <a:avLst/>
          </a:prstGeom>
          <a:noFill/>
          <a:ln/>
        </p:spPr>
        <p:txBody>
          <a:bodyPr wrap="square" lIns="0" tIns="0" rIns="0" bIns="0" rtlCol="0" anchor="ctr"/>
          <a:lstStyle/>
          <a:p>
            <a:pPr indent="0" marL="0">
              <a:buNone/>
            </a:pPr>
            <a:r>
              <a:rPr lang="en-US" sz="1600" b="1" dirty="0">
                <a:solidFill>
                  <a:srgbClr val="8E0B26"/>
                </a:solidFill>
                <a:latin typeface="Cambria" pitchFamily="34" charset="0"/>
                <a:ea typeface="Cambria" pitchFamily="34" charset="-122"/>
                <a:cs typeface="Cambria" pitchFamily="34" charset="-120"/>
              </a:rPr>
              <a:t>Purpose</a:t>
            </a:r>
            <a:endParaRPr lang="en-US" sz="1600" dirty="0"/>
          </a:p>
        </p:txBody>
      </p:sp>
      <p:sp>
        <p:nvSpPr>
          <p:cNvPr id="29" name="Text 27"/>
          <p:cNvSpPr txBox="1"/>
          <p:nvPr/>
        </p:nvSpPr>
        <p:spPr>
          <a:xfrm>
            <a:off x="9857232" y="3621024"/>
            <a:ext cx="1371600" cy="2258568"/>
          </a:xfrm>
          <a:prstGeom prst="rect">
            <a:avLst/>
          </a:prstGeom>
          <a:noFill/>
          <a:ln/>
        </p:spPr>
        <p:txBody>
          <a:bodyPr wrap="square" lIns="0" tIns="0" rIns="0" bIns="0" rtlCol="0" anchor="t"/>
          <a:lstStyle/>
          <a:p>
            <a:pPr indent="0" marL="0">
              <a:lnSpc>
                <a:spcPts val="1600"/>
              </a:lnSpc>
              <a:buNone/>
            </a:pPr>
            <a:r>
              <a:rPr lang="en-US" sz="1200" dirty="0">
                <a:solidFill>
                  <a:srgbClr val="5A4241"/>
                </a:solidFill>
                <a:latin typeface="Calibri" pitchFamily="34" charset="0"/>
                <a:ea typeface="Calibri" pitchFamily="34" charset="-122"/>
                <a:cs typeface="Calibri" pitchFamily="34" charset="-120"/>
              </a:rPr>
              <a:t>Propósito. Una página de admisión busca matrículas. Puede ser cierta y a la vez estar escrita para vender.</a:t>
            </a:r>
            <a:endParaRPr lang="en-US" sz="1200" dirty="0"/>
          </a:p>
        </p:txBody>
      </p:sp>
      <p:sp>
        <p:nvSpPr>
          <p:cNvPr id="30" name="Text 28"/>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900" dirty="0">
                <a:solidFill>
                  <a:srgbClr val="5A4241"/>
                </a:solidFill>
                <a:latin typeface="Calibri" pitchFamily="34" charset="0"/>
                <a:ea typeface="Calibri" pitchFamily="34" charset="-122"/>
                <a:cs typeface="Calibri" pitchFamily="34" charset="-120"/>
              </a:rPr>
              <a:t>Universidades y selección peruana · Método CRAAP</a:t>
            </a:r>
            <a:endParaRPr lang="en-US" sz="900" dirty="0"/>
          </a:p>
        </p:txBody>
      </p:sp>
      <p:sp>
        <p:nvSpPr>
          <p:cNvPr id="31" name="Text 29"/>
          <p:cNvSpPr txBox="1"/>
          <p:nvPr/>
        </p:nvSpPr>
        <p:spPr>
          <a:xfrm>
            <a:off x="10972800" y="6382512"/>
            <a:ext cx="548640" cy="274320"/>
          </a:xfrm>
          <a:prstGeom prst="rect">
            <a:avLst/>
          </a:prstGeom>
          <a:noFill/>
          <a:ln/>
        </p:spPr>
        <p:txBody>
          <a:bodyPr wrap="square" lIns="0" tIns="0" rIns="0" bIns="0" rtlCol="0" anchor="ctr"/>
          <a:lstStyle/>
          <a:p>
            <a:pPr algn="r" indent="0" marL="0">
              <a:buNone/>
            </a:pPr>
            <a:r>
              <a:rPr lang="en-US" sz="900" dirty="0">
                <a:solidFill>
                  <a:srgbClr val="5A4241"/>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7F6"/>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E8B54C"/>
                </a:solidFill>
                <a:latin typeface="Calibri" pitchFamily="34" charset="0"/>
                <a:ea typeface="Calibri" pitchFamily="34" charset="-122"/>
                <a:cs typeface="Calibri" pitchFamily="34" charset="-120"/>
              </a:rPr>
              <a:t>MARCO NORMATIVO</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t"/>
          <a:lstStyle/>
          <a:p>
            <a:pPr indent="0" marL="0">
              <a:buNone/>
            </a:pPr>
            <a:r>
              <a:rPr lang="en-US" sz="3400" b="1" dirty="0">
                <a:solidFill>
                  <a:srgbClr val="8E0B26"/>
                </a:solidFill>
                <a:latin typeface="Cambria" pitchFamily="34" charset="0"/>
                <a:ea typeface="Cambria" pitchFamily="34" charset="-122"/>
                <a:cs typeface="Cambria" pitchFamily="34" charset="-120"/>
              </a:rPr>
              <a:t>Lo que manda la ley peruana</a:t>
            </a:r>
            <a:endParaRPr lang="en-US" sz="3400" dirty="0"/>
          </a:p>
        </p:txBody>
      </p:sp>
      <p:sp>
        <p:nvSpPr>
          <p:cNvPr id="4" name="Text 2"/>
          <p:cNvSpPr txBox="1"/>
          <p:nvPr/>
        </p:nvSpPr>
        <p:spPr>
          <a:xfrm>
            <a:off x="640080" y="1481328"/>
            <a:ext cx="10881360" cy="457200"/>
          </a:xfrm>
          <a:prstGeom prst="rect">
            <a:avLst/>
          </a:prstGeom>
          <a:noFill/>
          <a:ln/>
        </p:spPr>
        <p:txBody>
          <a:bodyPr wrap="square" lIns="0" tIns="0" rIns="0" bIns="0" rtlCol="0" anchor="t"/>
          <a:lstStyle/>
          <a:p>
            <a:pPr indent="0" marL="0">
              <a:buNone/>
            </a:pPr>
            <a:r>
              <a:rPr lang="en-US" sz="1400" dirty="0">
                <a:solidFill>
                  <a:srgbClr val="5A4241"/>
                </a:solidFill>
                <a:latin typeface="Calibri" pitchFamily="34" charset="0"/>
                <a:ea typeface="Calibri" pitchFamily="34" charset="-122"/>
                <a:cs typeface="Calibri" pitchFamily="34" charset="-120"/>
              </a:rPr>
              <a:t>En el Perú esto no es una decisión libre de cada casa de estudios: hay una obligación legal detrás.</a:t>
            </a:r>
            <a:endParaRPr lang="en-US" sz="1400" dirty="0"/>
          </a:p>
        </p:txBody>
      </p:sp>
      <p:sp>
        <p:nvSpPr>
          <p:cNvPr id="5" name="Shape 3"/>
          <p:cNvSpPr/>
          <p:nvPr/>
        </p:nvSpPr>
        <p:spPr>
          <a:xfrm>
            <a:off x="640080" y="2103120"/>
            <a:ext cx="2528316" cy="3108960"/>
          </a:xfrm>
          <a:prstGeom prst="roundRect">
            <a:avLst>
              <a:gd name="adj" fmla="val 3617"/>
            </a:avLst>
          </a:prstGeom>
          <a:solidFill>
            <a:srgbClr val="F3E4E3"/>
          </a:solidFill>
          <a:ln/>
        </p:spPr>
      </p:sp>
      <p:sp>
        <p:nvSpPr>
          <p:cNvPr id="6" name="Shape 4"/>
          <p:cNvSpPr/>
          <p:nvPr/>
        </p:nvSpPr>
        <p:spPr>
          <a:xfrm>
            <a:off x="896112" y="2359152"/>
            <a:ext cx="475488" cy="475488"/>
          </a:xfrm>
          <a:prstGeom prst="ellipse">
            <a:avLst/>
          </a:prstGeom>
          <a:solidFill>
            <a:srgbClr val="E8B54C"/>
          </a:solidFill>
          <a:ln/>
        </p:spPr>
      </p:sp>
      <p:sp>
        <p:nvSpPr>
          <p:cNvPr id="7" name="Text 5"/>
          <p:cNvSpPr txBox="1"/>
          <p:nvPr/>
        </p:nvSpPr>
        <p:spPr>
          <a:xfrm>
            <a:off x="896112" y="2359152"/>
            <a:ext cx="475488" cy="475488"/>
          </a:xfrm>
          <a:prstGeom prst="rect">
            <a:avLst/>
          </a:prstGeom>
          <a:noFill/>
          <a:ln/>
        </p:spPr>
        <p:txBody>
          <a:bodyPr wrap="square" lIns="0" tIns="0" rIns="0" bIns="0" rtlCol="0" anchor="ctr"/>
          <a:lstStyle/>
          <a:p>
            <a:pPr algn="ctr" indent="0" marL="0">
              <a:buNone/>
            </a:pPr>
            <a:r>
              <a:rPr lang="en-US" sz="1600" b="1" dirty="0">
                <a:solidFill>
                  <a:srgbClr val="8E0B26"/>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896112" y="2999232"/>
            <a:ext cx="2016252" cy="640080"/>
          </a:xfrm>
          <a:prstGeom prst="rect">
            <a:avLst/>
          </a:prstGeom>
          <a:noFill/>
          <a:ln/>
        </p:spPr>
        <p:txBody>
          <a:bodyPr wrap="square" lIns="0" tIns="0" rIns="0" bIns="0" rtlCol="0" anchor="t"/>
          <a:lstStyle/>
          <a:p>
            <a:pPr indent="0" marL="0">
              <a:buNone/>
            </a:pPr>
            <a:r>
              <a:rPr lang="en-US" sz="1500" b="1" dirty="0">
                <a:solidFill>
                  <a:srgbClr val="8E0B26"/>
                </a:solidFill>
                <a:latin typeface="Cambria" pitchFamily="34" charset="0"/>
                <a:ea typeface="Cambria" pitchFamily="34" charset="-122"/>
                <a:cs typeface="Cambria" pitchFamily="34" charset="-120"/>
              </a:rPr>
              <a:t>Ley 30220 (2014)</a:t>
            </a:r>
            <a:endParaRPr lang="en-US" sz="1500" dirty="0"/>
          </a:p>
        </p:txBody>
      </p:sp>
      <p:sp>
        <p:nvSpPr>
          <p:cNvPr id="9" name="Text 7"/>
          <p:cNvSpPr txBox="1"/>
          <p:nvPr/>
        </p:nvSpPr>
        <p:spPr>
          <a:xfrm>
            <a:off x="896112" y="3529584"/>
            <a:ext cx="2016252" cy="1517904"/>
          </a:xfrm>
          <a:prstGeom prst="rect">
            <a:avLst/>
          </a:prstGeom>
          <a:noFill/>
          <a:ln/>
        </p:spPr>
        <p:txBody>
          <a:bodyPr wrap="square" lIns="0" tIns="0" rIns="0" bIns="0" rtlCol="0" anchor="t"/>
          <a:lstStyle/>
          <a:p>
            <a:pPr indent="0" marL="0">
              <a:lnSpc>
                <a:spcPts val="1600"/>
              </a:lnSpc>
              <a:buNone/>
            </a:pPr>
            <a:r>
              <a:rPr lang="en-US" sz="1150" dirty="0">
                <a:solidFill>
                  <a:srgbClr val="5A4241"/>
                </a:solidFill>
                <a:latin typeface="Calibri" pitchFamily="34" charset="0"/>
                <a:ea typeface="Calibri" pitchFamily="34" charset="-122"/>
                <a:cs typeface="Calibri" pitchFamily="34" charset="-120"/>
              </a:rPr>
              <a:t>La Ley Universitaria establece en su artículo 131 que la universidad promueve la práctica del deporte y la recreación como factores educativos de la formación de la persona.</a:t>
            </a:r>
            <a:endParaRPr lang="en-US" sz="1150" dirty="0"/>
          </a:p>
        </p:txBody>
      </p:sp>
      <p:sp>
        <p:nvSpPr>
          <p:cNvPr id="10" name="Shape 8"/>
          <p:cNvSpPr/>
          <p:nvPr/>
        </p:nvSpPr>
        <p:spPr>
          <a:xfrm>
            <a:off x="3424428" y="2103120"/>
            <a:ext cx="2528316" cy="3108960"/>
          </a:xfrm>
          <a:prstGeom prst="roundRect">
            <a:avLst>
              <a:gd name="adj" fmla="val 3617"/>
            </a:avLst>
          </a:prstGeom>
          <a:solidFill>
            <a:srgbClr val="F3E4E3"/>
          </a:solidFill>
          <a:ln/>
        </p:spPr>
      </p:sp>
      <p:sp>
        <p:nvSpPr>
          <p:cNvPr id="11" name="Shape 9"/>
          <p:cNvSpPr/>
          <p:nvPr/>
        </p:nvSpPr>
        <p:spPr>
          <a:xfrm>
            <a:off x="3680460" y="2359152"/>
            <a:ext cx="475488" cy="475488"/>
          </a:xfrm>
          <a:prstGeom prst="ellipse">
            <a:avLst/>
          </a:prstGeom>
          <a:solidFill>
            <a:srgbClr val="E8B54C"/>
          </a:solidFill>
          <a:ln/>
        </p:spPr>
      </p:sp>
      <p:sp>
        <p:nvSpPr>
          <p:cNvPr id="12" name="Text 10"/>
          <p:cNvSpPr txBox="1"/>
          <p:nvPr/>
        </p:nvSpPr>
        <p:spPr>
          <a:xfrm>
            <a:off x="3680460" y="2359152"/>
            <a:ext cx="475488" cy="475488"/>
          </a:xfrm>
          <a:prstGeom prst="rect">
            <a:avLst/>
          </a:prstGeom>
          <a:noFill/>
          <a:ln/>
        </p:spPr>
        <p:txBody>
          <a:bodyPr wrap="square" lIns="0" tIns="0" rIns="0" bIns="0" rtlCol="0" anchor="ctr"/>
          <a:lstStyle/>
          <a:p>
            <a:pPr algn="ctr" indent="0" marL="0">
              <a:buNone/>
            </a:pPr>
            <a:r>
              <a:rPr lang="en-US" sz="1600" b="1" dirty="0">
                <a:solidFill>
                  <a:srgbClr val="8E0B26"/>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3680460" y="2999232"/>
            <a:ext cx="2016252" cy="640080"/>
          </a:xfrm>
          <a:prstGeom prst="rect">
            <a:avLst/>
          </a:prstGeom>
          <a:noFill/>
          <a:ln/>
        </p:spPr>
        <p:txBody>
          <a:bodyPr wrap="square" lIns="0" tIns="0" rIns="0" bIns="0" rtlCol="0" anchor="t"/>
          <a:lstStyle/>
          <a:p>
            <a:pPr indent="0" marL="0">
              <a:buNone/>
            </a:pPr>
            <a:r>
              <a:rPr lang="en-US" sz="1500" b="1" dirty="0">
                <a:solidFill>
                  <a:srgbClr val="8E0B26"/>
                </a:solidFill>
                <a:latin typeface="Cambria" pitchFamily="34" charset="0"/>
                <a:ea typeface="Cambria" pitchFamily="34" charset="-122"/>
                <a:cs typeface="Cambria" pitchFamily="34" charset="-120"/>
              </a:rPr>
              <a:t>Art. 131: PRODAC</a:t>
            </a:r>
            <a:endParaRPr lang="en-US" sz="1500" dirty="0"/>
          </a:p>
        </p:txBody>
      </p:sp>
      <p:sp>
        <p:nvSpPr>
          <p:cNvPr id="14" name="Text 12"/>
          <p:cNvSpPr txBox="1"/>
          <p:nvPr/>
        </p:nvSpPr>
        <p:spPr>
          <a:xfrm>
            <a:off x="3680460" y="3529584"/>
            <a:ext cx="2016252" cy="1517904"/>
          </a:xfrm>
          <a:prstGeom prst="rect">
            <a:avLst/>
          </a:prstGeom>
          <a:noFill/>
          <a:ln/>
        </p:spPr>
        <p:txBody>
          <a:bodyPr wrap="square" lIns="0" tIns="0" rIns="0" bIns="0" rtlCol="0" anchor="t"/>
          <a:lstStyle/>
          <a:p>
            <a:pPr indent="0" marL="0">
              <a:lnSpc>
                <a:spcPts val="1600"/>
              </a:lnSpc>
              <a:buNone/>
            </a:pPr>
            <a:r>
              <a:rPr lang="en-US" sz="1150" dirty="0">
                <a:solidFill>
                  <a:srgbClr val="5A4241"/>
                </a:solidFill>
                <a:latin typeface="Calibri" pitchFamily="34" charset="0"/>
                <a:ea typeface="Calibri" pitchFamily="34" charset="-122"/>
                <a:cs typeface="Calibri" pitchFamily="34" charset="-120"/>
              </a:rPr>
              <a:t>Obliga a crear Programas Deportivos de Alta Competencia con un mínimo de tres disciplinas olímpicas, en categoría femenina y masculina.</a:t>
            </a:r>
            <a:endParaRPr lang="en-US" sz="1150" dirty="0"/>
          </a:p>
        </p:txBody>
      </p:sp>
      <p:sp>
        <p:nvSpPr>
          <p:cNvPr id="15" name="Shape 13"/>
          <p:cNvSpPr/>
          <p:nvPr/>
        </p:nvSpPr>
        <p:spPr>
          <a:xfrm>
            <a:off x="6208776" y="2103120"/>
            <a:ext cx="2528316" cy="3108960"/>
          </a:xfrm>
          <a:prstGeom prst="roundRect">
            <a:avLst>
              <a:gd name="adj" fmla="val 3617"/>
            </a:avLst>
          </a:prstGeom>
          <a:solidFill>
            <a:srgbClr val="F3E4E3"/>
          </a:solidFill>
          <a:ln/>
        </p:spPr>
      </p:sp>
      <p:sp>
        <p:nvSpPr>
          <p:cNvPr id="16" name="Shape 14"/>
          <p:cNvSpPr/>
          <p:nvPr/>
        </p:nvSpPr>
        <p:spPr>
          <a:xfrm>
            <a:off x="6464808" y="2359152"/>
            <a:ext cx="475488" cy="475488"/>
          </a:xfrm>
          <a:prstGeom prst="ellipse">
            <a:avLst/>
          </a:prstGeom>
          <a:solidFill>
            <a:srgbClr val="E8B54C"/>
          </a:solidFill>
          <a:ln/>
        </p:spPr>
      </p:sp>
      <p:sp>
        <p:nvSpPr>
          <p:cNvPr id="17" name="Text 15"/>
          <p:cNvSpPr txBox="1"/>
          <p:nvPr/>
        </p:nvSpPr>
        <p:spPr>
          <a:xfrm>
            <a:off x="6464808" y="2359152"/>
            <a:ext cx="475488" cy="475488"/>
          </a:xfrm>
          <a:prstGeom prst="rect">
            <a:avLst/>
          </a:prstGeom>
          <a:noFill/>
          <a:ln/>
        </p:spPr>
        <p:txBody>
          <a:bodyPr wrap="square" lIns="0" tIns="0" rIns="0" bIns="0" rtlCol="0" anchor="ctr"/>
          <a:lstStyle/>
          <a:p>
            <a:pPr algn="ctr" indent="0" marL="0">
              <a:buNone/>
            </a:pPr>
            <a:r>
              <a:rPr lang="en-US" sz="1600" b="1" dirty="0">
                <a:solidFill>
                  <a:srgbClr val="8E0B26"/>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6464808" y="2999232"/>
            <a:ext cx="2016252" cy="640080"/>
          </a:xfrm>
          <a:prstGeom prst="rect">
            <a:avLst/>
          </a:prstGeom>
          <a:noFill/>
          <a:ln/>
        </p:spPr>
        <p:txBody>
          <a:bodyPr wrap="square" lIns="0" tIns="0" rIns="0" bIns="0" rtlCol="0" anchor="t"/>
          <a:lstStyle/>
          <a:p>
            <a:pPr indent="0" marL="0">
              <a:buNone/>
            </a:pPr>
            <a:r>
              <a:rPr lang="en-US" sz="1500" b="1" dirty="0">
                <a:solidFill>
                  <a:srgbClr val="8E0B26"/>
                </a:solidFill>
                <a:latin typeface="Cambria" pitchFamily="34" charset="0"/>
                <a:ea typeface="Cambria" pitchFamily="34" charset="-122"/>
                <a:cs typeface="Cambria" pitchFamily="34" charset="-120"/>
              </a:rPr>
              <a:t>Ley 30476 (2016)</a:t>
            </a:r>
            <a:endParaRPr lang="en-US" sz="1500" dirty="0"/>
          </a:p>
        </p:txBody>
      </p:sp>
      <p:sp>
        <p:nvSpPr>
          <p:cNvPr id="19" name="Text 17"/>
          <p:cNvSpPr txBox="1"/>
          <p:nvPr/>
        </p:nvSpPr>
        <p:spPr>
          <a:xfrm>
            <a:off x="6464808" y="3529584"/>
            <a:ext cx="2016252" cy="1517904"/>
          </a:xfrm>
          <a:prstGeom prst="rect">
            <a:avLst/>
          </a:prstGeom>
          <a:noFill/>
          <a:ln/>
        </p:spPr>
        <p:txBody>
          <a:bodyPr wrap="square" lIns="0" tIns="0" rIns="0" bIns="0" rtlCol="0" anchor="t"/>
          <a:lstStyle/>
          <a:p>
            <a:pPr indent="0" marL="0">
              <a:lnSpc>
                <a:spcPts val="1600"/>
              </a:lnSpc>
              <a:buNone/>
            </a:pPr>
            <a:r>
              <a:rPr lang="en-US" sz="1150" dirty="0">
                <a:solidFill>
                  <a:srgbClr val="5A4241"/>
                </a:solidFill>
                <a:latin typeface="Calibri" pitchFamily="34" charset="0"/>
                <a:ea typeface="Calibri" pitchFamily="34" charset="-122"/>
                <a:cs typeface="Calibri" pitchFamily="34" charset="-120"/>
              </a:rPr>
              <a:t>Regula en detalle el PRODAC: tipos de beca, dirección técnica, infraestructura, equipamiento y sistema de tutoría académica obligatorio.</a:t>
            </a:r>
            <a:endParaRPr lang="en-US" sz="1150" dirty="0"/>
          </a:p>
        </p:txBody>
      </p:sp>
      <p:sp>
        <p:nvSpPr>
          <p:cNvPr id="20" name="Shape 18"/>
          <p:cNvSpPr/>
          <p:nvPr/>
        </p:nvSpPr>
        <p:spPr>
          <a:xfrm>
            <a:off x="8993124" y="2103120"/>
            <a:ext cx="2528316" cy="3108960"/>
          </a:xfrm>
          <a:prstGeom prst="roundRect">
            <a:avLst>
              <a:gd name="adj" fmla="val 3617"/>
            </a:avLst>
          </a:prstGeom>
          <a:solidFill>
            <a:srgbClr val="F3E4E3"/>
          </a:solidFill>
          <a:ln/>
        </p:spPr>
      </p:sp>
      <p:sp>
        <p:nvSpPr>
          <p:cNvPr id="21" name="Shape 19"/>
          <p:cNvSpPr/>
          <p:nvPr/>
        </p:nvSpPr>
        <p:spPr>
          <a:xfrm>
            <a:off x="9249156" y="2359152"/>
            <a:ext cx="475488" cy="475488"/>
          </a:xfrm>
          <a:prstGeom prst="ellipse">
            <a:avLst/>
          </a:prstGeom>
          <a:solidFill>
            <a:srgbClr val="E8B54C"/>
          </a:solidFill>
          <a:ln/>
        </p:spPr>
      </p:sp>
      <p:sp>
        <p:nvSpPr>
          <p:cNvPr id="22" name="Text 20"/>
          <p:cNvSpPr txBox="1"/>
          <p:nvPr/>
        </p:nvSpPr>
        <p:spPr>
          <a:xfrm>
            <a:off x="9249156" y="2359152"/>
            <a:ext cx="475488" cy="475488"/>
          </a:xfrm>
          <a:prstGeom prst="rect">
            <a:avLst/>
          </a:prstGeom>
          <a:noFill/>
          <a:ln/>
        </p:spPr>
        <p:txBody>
          <a:bodyPr wrap="square" lIns="0" tIns="0" rIns="0" bIns="0" rtlCol="0" anchor="ctr"/>
          <a:lstStyle/>
          <a:p>
            <a:pPr algn="ctr" indent="0" marL="0">
              <a:buNone/>
            </a:pPr>
            <a:r>
              <a:rPr lang="en-US" sz="1600" b="1" dirty="0">
                <a:solidFill>
                  <a:srgbClr val="8E0B26"/>
                </a:solidFill>
                <a:latin typeface="Cambria" pitchFamily="34" charset="0"/>
                <a:ea typeface="Cambria" pitchFamily="34" charset="-122"/>
                <a:cs typeface="Cambria" pitchFamily="34" charset="-120"/>
              </a:rPr>
              <a:t>4</a:t>
            </a:r>
            <a:endParaRPr lang="en-US" sz="1600" dirty="0"/>
          </a:p>
        </p:txBody>
      </p:sp>
      <p:sp>
        <p:nvSpPr>
          <p:cNvPr id="23" name="Text 21"/>
          <p:cNvSpPr txBox="1"/>
          <p:nvPr/>
        </p:nvSpPr>
        <p:spPr>
          <a:xfrm>
            <a:off x="9249156" y="2999232"/>
            <a:ext cx="2016252" cy="640080"/>
          </a:xfrm>
          <a:prstGeom prst="rect">
            <a:avLst/>
          </a:prstGeom>
          <a:noFill/>
          <a:ln/>
        </p:spPr>
        <p:txBody>
          <a:bodyPr wrap="square" lIns="0" tIns="0" rIns="0" bIns="0" rtlCol="0" anchor="t"/>
          <a:lstStyle/>
          <a:p>
            <a:pPr indent="0" marL="0">
              <a:buNone/>
            </a:pPr>
            <a:r>
              <a:rPr lang="en-US" sz="1500" b="1" dirty="0">
                <a:solidFill>
                  <a:srgbClr val="8E0B26"/>
                </a:solidFill>
                <a:latin typeface="Cambria" pitchFamily="34" charset="0"/>
                <a:ea typeface="Cambria" pitchFamily="34" charset="-122"/>
                <a:cs typeface="Cambria" pitchFamily="34" charset="-120"/>
              </a:rPr>
              <a:t>Consecuencia</a:t>
            </a:r>
            <a:endParaRPr lang="en-US" sz="1500" dirty="0"/>
          </a:p>
        </p:txBody>
      </p:sp>
      <p:sp>
        <p:nvSpPr>
          <p:cNvPr id="24" name="Text 22"/>
          <p:cNvSpPr txBox="1"/>
          <p:nvPr/>
        </p:nvSpPr>
        <p:spPr>
          <a:xfrm>
            <a:off x="9249156" y="3529584"/>
            <a:ext cx="2016252" cy="1517904"/>
          </a:xfrm>
          <a:prstGeom prst="rect">
            <a:avLst/>
          </a:prstGeom>
          <a:noFill/>
          <a:ln/>
        </p:spPr>
        <p:txBody>
          <a:bodyPr wrap="square" lIns="0" tIns="0" rIns="0" bIns="0" rtlCol="0" anchor="t"/>
          <a:lstStyle/>
          <a:p>
            <a:pPr indent="0" marL="0">
              <a:lnSpc>
                <a:spcPts val="1600"/>
              </a:lnSpc>
              <a:buNone/>
            </a:pPr>
            <a:r>
              <a:rPr lang="en-US" sz="1150" dirty="0">
                <a:solidFill>
                  <a:srgbClr val="5A4241"/>
                </a:solidFill>
                <a:latin typeface="Calibri" pitchFamily="34" charset="0"/>
                <a:ea typeface="Calibri" pitchFamily="34" charset="-122"/>
                <a:cs typeface="Calibri" pitchFamily="34" charset="-120"/>
              </a:rPr>
              <a:t>Tener deportistas de alto nivel deja de ser un gasto opcional y pasa a formar parte de lo que la universidad debe acreditar.</a:t>
            </a:r>
            <a:endParaRPr lang="en-US" sz="1150" dirty="0"/>
          </a:p>
        </p:txBody>
      </p:sp>
      <p:sp>
        <p:nvSpPr>
          <p:cNvPr id="25" name="Text 23"/>
          <p:cNvSpPr txBox="1"/>
          <p:nvPr/>
        </p:nvSpPr>
        <p:spPr>
          <a:xfrm>
            <a:off x="640080" y="5394960"/>
            <a:ext cx="10881360" cy="457200"/>
          </a:xfrm>
          <a:prstGeom prst="rect">
            <a:avLst/>
          </a:prstGeom>
          <a:noFill/>
          <a:ln/>
        </p:spPr>
        <p:txBody>
          <a:bodyPr wrap="square" lIns="0" tIns="0" rIns="0" bIns="0" rtlCol="0" anchor="ctr"/>
          <a:lstStyle/>
          <a:p>
            <a:pPr indent="0" marL="0">
              <a:buNone/>
            </a:pPr>
            <a:r>
              <a:rPr lang="en-US" sz="1050" i="1" dirty="0">
                <a:solidFill>
                  <a:srgbClr val="5A4241"/>
                </a:solidFill>
                <a:latin typeface="Calibri" pitchFamily="34" charset="0"/>
                <a:ea typeface="Calibri" pitchFamily="34" charset="-122"/>
                <a:cs typeface="Calibri" pitchFamily="34" charset="-120"/>
              </a:rPr>
              <a:t>Este es el argumento más fuerte de todo el trabajo: no es solo que convenga, es que la ley lo exige y el deportista de selección es quien da contenido real a ese programa.</a:t>
            </a:r>
            <a:endParaRPr lang="en-US" sz="1050" dirty="0"/>
          </a:p>
        </p:txBody>
      </p:sp>
      <p:sp>
        <p:nvSpPr>
          <p:cNvPr id="26" name="Text 24"/>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900" dirty="0">
                <a:solidFill>
                  <a:srgbClr val="5A4241"/>
                </a:solidFill>
                <a:latin typeface="Calibri" pitchFamily="34" charset="0"/>
                <a:ea typeface="Calibri" pitchFamily="34" charset="-122"/>
                <a:cs typeface="Calibri" pitchFamily="34" charset="-120"/>
              </a:rPr>
              <a:t>Universidades y selección peruana · Método CRAAP</a:t>
            </a:r>
            <a:endParaRPr lang="en-US" sz="900" dirty="0"/>
          </a:p>
        </p:txBody>
      </p:sp>
      <p:sp>
        <p:nvSpPr>
          <p:cNvPr id="27" name="Text 25"/>
          <p:cNvSpPr txBox="1"/>
          <p:nvPr/>
        </p:nvSpPr>
        <p:spPr>
          <a:xfrm>
            <a:off x="10972800" y="6382512"/>
            <a:ext cx="548640" cy="274320"/>
          </a:xfrm>
          <a:prstGeom prst="rect">
            <a:avLst/>
          </a:prstGeom>
          <a:noFill/>
          <a:ln/>
        </p:spPr>
        <p:txBody>
          <a:bodyPr wrap="square" lIns="0" tIns="0" rIns="0" bIns="0" rtlCol="0" anchor="ctr"/>
          <a:lstStyle/>
          <a:p>
            <a:pPr algn="r" indent="0" marL="0">
              <a:buNone/>
            </a:pPr>
            <a:r>
              <a:rPr lang="en-US" sz="900" dirty="0">
                <a:solidFill>
                  <a:srgbClr val="5A4241"/>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7F6"/>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E8B54C"/>
                </a:solidFill>
                <a:latin typeface="Calibri" pitchFamily="34" charset="0"/>
                <a:ea typeface="Calibri" pitchFamily="34" charset="-122"/>
                <a:cs typeface="Calibri" pitchFamily="34" charset="-120"/>
              </a:rPr>
              <a:t>LEY 30476</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t"/>
          <a:lstStyle/>
          <a:p>
            <a:pPr indent="0" marL="0">
              <a:buNone/>
            </a:pPr>
            <a:r>
              <a:rPr lang="en-US" sz="3400" b="1" dirty="0">
                <a:solidFill>
                  <a:srgbClr val="8E0B26"/>
                </a:solidFill>
                <a:latin typeface="Cambria" pitchFamily="34" charset="0"/>
                <a:ea typeface="Cambria" pitchFamily="34" charset="-122"/>
                <a:cs typeface="Cambria" pitchFamily="34" charset="-120"/>
              </a:rPr>
              <a:t>Qué exige exactamente el PRODAC</a:t>
            </a:r>
            <a:endParaRPr lang="en-US" sz="3400" dirty="0"/>
          </a:p>
        </p:txBody>
      </p:sp>
      <p:sp>
        <p:nvSpPr>
          <p:cNvPr id="4" name="Shape 2"/>
          <p:cNvSpPr/>
          <p:nvPr/>
        </p:nvSpPr>
        <p:spPr>
          <a:xfrm>
            <a:off x="640080" y="1691640"/>
            <a:ext cx="2514600" cy="4389120"/>
          </a:xfrm>
          <a:prstGeom prst="roundRect">
            <a:avLst>
              <a:gd name="adj" fmla="val 3636"/>
            </a:avLst>
          </a:prstGeom>
          <a:solidFill>
            <a:srgbClr val="F3E4E3"/>
          </a:solidFill>
          <a:ln/>
        </p:spPr>
      </p:sp>
      <p:sp>
        <p:nvSpPr>
          <p:cNvPr id="5" name="Shape 3"/>
          <p:cNvSpPr/>
          <p:nvPr/>
        </p:nvSpPr>
        <p:spPr>
          <a:xfrm>
            <a:off x="932688" y="1965960"/>
            <a:ext cx="457200" cy="457200"/>
          </a:xfrm>
          <a:prstGeom prst="ellipse">
            <a:avLst/>
          </a:prstGeom>
          <a:solidFill>
            <a:srgbClr val="E8B54C"/>
          </a:solidFill>
          <a:ln/>
        </p:spPr>
      </p:sp>
      <p:sp>
        <p:nvSpPr>
          <p:cNvPr id="6" name="Text 4"/>
          <p:cNvSpPr txBox="1"/>
          <p:nvPr/>
        </p:nvSpPr>
        <p:spPr>
          <a:xfrm>
            <a:off x="932688" y="1965960"/>
            <a:ext cx="457200" cy="457200"/>
          </a:xfrm>
          <a:prstGeom prst="rect">
            <a:avLst/>
          </a:prstGeom>
          <a:noFill/>
          <a:ln/>
        </p:spPr>
        <p:txBody>
          <a:bodyPr wrap="square" lIns="0" tIns="0" rIns="0" bIns="0" rtlCol="0" anchor="ctr"/>
          <a:lstStyle/>
          <a:p>
            <a:pPr algn="ctr" indent="0" marL="0">
              <a:buNone/>
            </a:pPr>
            <a:r>
              <a:rPr lang="en-US" sz="1500" b="1" dirty="0">
                <a:solidFill>
                  <a:srgbClr val="8E0B26"/>
                </a:solidFill>
                <a:latin typeface="Cambria" pitchFamily="34" charset="0"/>
                <a:ea typeface="Cambria" pitchFamily="34" charset="-122"/>
                <a:cs typeface="Cambria" pitchFamily="34" charset="-120"/>
              </a:rPr>
              <a:t>01</a:t>
            </a:r>
            <a:endParaRPr lang="en-US" sz="1500" dirty="0"/>
          </a:p>
        </p:txBody>
      </p:sp>
      <p:sp>
        <p:nvSpPr>
          <p:cNvPr id="7" name="Text 5"/>
          <p:cNvSpPr txBox="1"/>
          <p:nvPr/>
        </p:nvSpPr>
        <p:spPr>
          <a:xfrm>
            <a:off x="932688" y="2560320"/>
            <a:ext cx="1929384" cy="749808"/>
          </a:xfrm>
          <a:prstGeom prst="rect">
            <a:avLst/>
          </a:prstGeom>
          <a:noFill/>
          <a:ln/>
        </p:spPr>
        <p:txBody>
          <a:bodyPr wrap="square" lIns="0" tIns="0" rIns="0" bIns="0" rtlCol="0" anchor="ctr"/>
          <a:lstStyle/>
          <a:p>
            <a:pPr indent="0" marL="0">
              <a:buNone/>
            </a:pPr>
            <a:r>
              <a:rPr lang="en-US" sz="1600" b="1" dirty="0">
                <a:solidFill>
                  <a:srgbClr val="8E0B26"/>
                </a:solidFill>
                <a:latin typeface="Cambria" pitchFamily="34" charset="0"/>
                <a:ea typeface="Cambria" pitchFamily="34" charset="-122"/>
                <a:cs typeface="Cambria" pitchFamily="34" charset="-120"/>
              </a:rPr>
              <a:t>Mínimo tres disciplinas</a:t>
            </a:r>
            <a:endParaRPr lang="en-US" sz="1600" dirty="0"/>
          </a:p>
        </p:txBody>
      </p:sp>
      <p:sp>
        <p:nvSpPr>
          <p:cNvPr id="8" name="Text 6"/>
          <p:cNvSpPr txBox="1"/>
          <p:nvPr/>
        </p:nvSpPr>
        <p:spPr>
          <a:xfrm>
            <a:off x="932688" y="3401568"/>
            <a:ext cx="1929384" cy="2478024"/>
          </a:xfrm>
          <a:prstGeom prst="rect">
            <a:avLst/>
          </a:prstGeom>
          <a:noFill/>
          <a:ln/>
        </p:spPr>
        <p:txBody>
          <a:bodyPr wrap="square" lIns="0" tIns="0" rIns="0" bIns="0" rtlCol="0" anchor="t"/>
          <a:lstStyle/>
          <a:p>
            <a:pPr indent="0" marL="0">
              <a:lnSpc>
                <a:spcPts val="1600"/>
              </a:lnSpc>
              <a:buNone/>
            </a:pPr>
            <a:r>
              <a:rPr lang="en-US" sz="1200" dirty="0">
                <a:solidFill>
                  <a:srgbClr val="5A4241"/>
                </a:solidFill>
                <a:latin typeface="Calibri" pitchFamily="34" charset="0"/>
                <a:ea typeface="Calibri" pitchFamily="34" charset="-122"/>
                <a:cs typeface="Calibri" pitchFamily="34" charset="-120"/>
              </a:rPr>
              <a:t>La universidad debe mantener el programa en al menos tres disciplinas deportivas, en sus distintas categorías, para mujeres y para hombres.</a:t>
            </a:r>
            <a:endParaRPr lang="en-US" sz="1200" dirty="0"/>
          </a:p>
        </p:txBody>
      </p:sp>
      <p:sp>
        <p:nvSpPr>
          <p:cNvPr id="9" name="Shape 7"/>
          <p:cNvSpPr/>
          <p:nvPr/>
        </p:nvSpPr>
        <p:spPr>
          <a:xfrm>
            <a:off x="3429000" y="1691640"/>
            <a:ext cx="2514600" cy="4389120"/>
          </a:xfrm>
          <a:prstGeom prst="roundRect">
            <a:avLst>
              <a:gd name="adj" fmla="val 3636"/>
            </a:avLst>
          </a:prstGeom>
          <a:solidFill>
            <a:srgbClr val="F3E4E3"/>
          </a:solidFill>
          <a:ln/>
        </p:spPr>
      </p:sp>
      <p:sp>
        <p:nvSpPr>
          <p:cNvPr id="10" name="Shape 8"/>
          <p:cNvSpPr/>
          <p:nvPr/>
        </p:nvSpPr>
        <p:spPr>
          <a:xfrm>
            <a:off x="3721608" y="1965960"/>
            <a:ext cx="457200" cy="457200"/>
          </a:xfrm>
          <a:prstGeom prst="ellipse">
            <a:avLst/>
          </a:prstGeom>
          <a:solidFill>
            <a:srgbClr val="F6CFCB"/>
          </a:solidFill>
          <a:ln/>
        </p:spPr>
      </p:sp>
      <p:sp>
        <p:nvSpPr>
          <p:cNvPr id="11" name="Text 9"/>
          <p:cNvSpPr txBox="1"/>
          <p:nvPr/>
        </p:nvSpPr>
        <p:spPr>
          <a:xfrm>
            <a:off x="3721608" y="1965960"/>
            <a:ext cx="457200" cy="457200"/>
          </a:xfrm>
          <a:prstGeom prst="rect">
            <a:avLst/>
          </a:prstGeom>
          <a:noFill/>
          <a:ln/>
        </p:spPr>
        <p:txBody>
          <a:bodyPr wrap="square" lIns="0" tIns="0" rIns="0" bIns="0" rtlCol="0" anchor="ctr"/>
          <a:lstStyle/>
          <a:p>
            <a:pPr algn="ctr" indent="0" marL="0">
              <a:buNone/>
            </a:pPr>
            <a:r>
              <a:rPr lang="en-US" sz="1500" b="1" dirty="0">
                <a:solidFill>
                  <a:srgbClr val="8E0B26"/>
                </a:solidFill>
                <a:latin typeface="Cambria" pitchFamily="34" charset="0"/>
                <a:ea typeface="Cambria" pitchFamily="34" charset="-122"/>
                <a:cs typeface="Cambria" pitchFamily="34" charset="-120"/>
              </a:rPr>
              <a:t>02</a:t>
            </a:r>
            <a:endParaRPr lang="en-US" sz="1500" dirty="0"/>
          </a:p>
        </p:txBody>
      </p:sp>
      <p:sp>
        <p:nvSpPr>
          <p:cNvPr id="12" name="Text 10"/>
          <p:cNvSpPr txBox="1"/>
          <p:nvPr/>
        </p:nvSpPr>
        <p:spPr>
          <a:xfrm>
            <a:off x="3721608" y="2560320"/>
            <a:ext cx="1929384" cy="749808"/>
          </a:xfrm>
          <a:prstGeom prst="rect">
            <a:avLst/>
          </a:prstGeom>
          <a:noFill/>
          <a:ln/>
        </p:spPr>
        <p:txBody>
          <a:bodyPr wrap="square" lIns="0" tIns="0" rIns="0" bIns="0" rtlCol="0" anchor="ctr"/>
          <a:lstStyle/>
          <a:p>
            <a:pPr indent="0" marL="0">
              <a:buNone/>
            </a:pPr>
            <a:r>
              <a:rPr lang="en-US" sz="1600" b="1" dirty="0">
                <a:solidFill>
                  <a:srgbClr val="8E0B26"/>
                </a:solidFill>
                <a:latin typeface="Cambria" pitchFamily="34" charset="0"/>
                <a:ea typeface="Cambria" pitchFamily="34" charset="-122"/>
                <a:cs typeface="Cambria" pitchFamily="34" charset="-120"/>
              </a:rPr>
              <a:t>Tres tipos de beca</a:t>
            </a:r>
            <a:endParaRPr lang="en-US" sz="1600" dirty="0"/>
          </a:p>
        </p:txBody>
      </p:sp>
      <p:sp>
        <p:nvSpPr>
          <p:cNvPr id="13" name="Text 11"/>
          <p:cNvSpPr txBox="1"/>
          <p:nvPr/>
        </p:nvSpPr>
        <p:spPr>
          <a:xfrm>
            <a:off x="3721608" y="3401568"/>
            <a:ext cx="1929384" cy="2478024"/>
          </a:xfrm>
          <a:prstGeom prst="rect">
            <a:avLst/>
          </a:prstGeom>
          <a:noFill/>
          <a:ln/>
        </p:spPr>
        <p:txBody>
          <a:bodyPr wrap="square" lIns="0" tIns="0" rIns="0" bIns="0" rtlCol="0" anchor="t"/>
          <a:lstStyle/>
          <a:p>
            <a:pPr indent="0" marL="0">
              <a:lnSpc>
                <a:spcPts val="1600"/>
              </a:lnSpc>
              <a:buNone/>
            </a:pPr>
            <a:r>
              <a:rPr lang="en-US" sz="1200" dirty="0">
                <a:solidFill>
                  <a:srgbClr val="5A4241"/>
                </a:solidFill>
                <a:latin typeface="Calibri" pitchFamily="34" charset="0"/>
                <a:ea typeface="Calibri" pitchFamily="34" charset="-122"/>
                <a:cs typeface="Calibri" pitchFamily="34" charset="-120"/>
              </a:rPr>
              <a:t>Beca parcial (cubre el 50 % de matrícula y pensión), beca total y beca total especial. Cada universidad debe incluir un mínimo de estudiantes becados por disciplina.</a:t>
            </a:r>
            <a:endParaRPr lang="en-US" sz="1200" dirty="0"/>
          </a:p>
        </p:txBody>
      </p:sp>
      <p:sp>
        <p:nvSpPr>
          <p:cNvPr id="14" name="Shape 12"/>
          <p:cNvSpPr/>
          <p:nvPr/>
        </p:nvSpPr>
        <p:spPr>
          <a:xfrm>
            <a:off x="6217920" y="1691640"/>
            <a:ext cx="2514600" cy="4389120"/>
          </a:xfrm>
          <a:prstGeom prst="roundRect">
            <a:avLst>
              <a:gd name="adj" fmla="val 3636"/>
            </a:avLst>
          </a:prstGeom>
          <a:solidFill>
            <a:srgbClr val="F3E4E3"/>
          </a:solidFill>
          <a:ln/>
        </p:spPr>
      </p:sp>
      <p:sp>
        <p:nvSpPr>
          <p:cNvPr id="15" name="Shape 13"/>
          <p:cNvSpPr/>
          <p:nvPr/>
        </p:nvSpPr>
        <p:spPr>
          <a:xfrm>
            <a:off x="6510528" y="1965960"/>
            <a:ext cx="457200" cy="457200"/>
          </a:xfrm>
          <a:prstGeom prst="ellipse">
            <a:avLst/>
          </a:prstGeom>
          <a:solidFill>
            <a:srgbClr val="F6CFCB"/>
          </a:solidFill>
          <a:ln/>
        </p:spPr>
      </p:sp>
      <p:sp>
        <p:nvSpPr>
          <p:cNvPr id="16" name="Text 14"/>
          <p:cNvSpPr txBox="1"/>
          <p:nvPr/>
        </p:nvSpPr>
        <p:spPr>
          <a:xfrm>
            <a:off x="6510528" y="1965960"/>
            <a:ext cx="457200" cy="457200"/>
          </a:xfrm>
          <a:prstGeom prst="rect">
            <a:avLst/>
          </a:prstGeom>
          <a:noFill/>
          <a:ln/>
        </p:spPr>
        <p:txBody>
          <a:bodyPr wrap="square" lIns="0" tIns="0" rIns="0" bIns="0" rtlCol="0" anchor="ctr"/>
          <a:lstStyle/>
          <a:p>
            <a:pPr algn="ctr" indent="0" marL="0">
              <a:buNone/>
            </a:pPr>
            <a:r>
              <a:rPr lang="en-US" sz="1500" b="1" dirty="0">
                <a:solidFill>
                  <a:srgbClr val="8E0B26"/>
                </a:solidFill>
                <a:latin typeface="Cambria" pitchFamily="34" charset="0"/>
                <a:ea typeface="Cambria" pitchFamily="34" charset="-122"/>
                <a:cs typeface="Cambria" pitchFamily="34" charset="-120"/>
              </a:rPr>
              <a:t>03</a:t>
            </a:r>
            <a:endParaRPr lang="en-US" sz="1500" dirty="0"/>
          </a:p>
        </p:txBody>
      </p:sp>
      <p:sp>
        <p:nvSpPr>
          <p:cNvPr id="17" name="Text 15"/>
          <p:cNvSpPr txBox="1"/>
          <p:nvPr/>
        </p:nvSpPr>
        <p:spPr>
          <a:xfrm>
            <a:off x="6510528" y="2560320"/>
            <a:ext cx="1929384" cy="749808"/>
          </a:xfrm>
          <a:prstGeom prst="rect">
            <a:avLst/>
          </a:prstGeom>
          <a:noFill/>
          <a:ln/>
        </p:spPr>
        <p:txBody>
          <a:bodyPr wrap="square" lIns="0" tIns="0" rIns="0" bIns="0" rtlCol="0" anchor="ctr"/>
          <a:lstStyle/>
          <a:p>
            <a:pPr indent="0" marL="0">
              <a:buNone/>
            </a:pPr>
            <a:r>
              <a:rPr lang="en-US" sz="1600" b="1" dirty="0">
                <a:solidFill>
                  <a:srgbClr val="8E0B26"/>
                </a:solidFill>
                <a:latin typeface="Cambria" pitchFamily="34" charset="0"/>
                <a:ea typeface="Cambria" pitchFamily="34" charset="-122"/>
                <a:cs typeface="Cambria" pitchFamily="34" charset="-120"/>
              </a:rPr>
              <a:t>Tutoría obligatoria</a:t>
            </a:r>
            <a:endParaRPr lang="en-US" sz="1600" dirty="0"/>
          </a:p>
        </p:txBody>
      </p:sp>
      <p:sp>
        <p:nvSpPr>
          <p:cNvPr id="18" name="Text 16"/>
          <p:cNvSpPr txBox="1"/>
          <p:nvPr/>
        </p:nvSpPr>
        <p:spPr>
          <a:xfrm>
            <a:off x="6510528" y="3401568"/>
            <a:ext cx="1929384" cy="2478024"/>
          </a:xfrm>
          <a:prstGeom prst="rect">
            <a:avLst/>
          </a:prstGeom>
          <a:noFill/>
          <a:ln/>
        </p:spPr>
        <p:txBody>
          <a:bodyPr wrap="square" lIns="0" tIns="0" rIns="0" bIns="0" rtlCol="0" anchor="t"/>
          <a:lstStyle/>
          <a:p>
            <a:pPr indent="0" marL="0">
              <a:lnSpc>
                <a:spcPts val="1600"/>
              </a:lnSpc>
              <a:buNone/>
            </a:pPr>
            <a:r>
              <a:rPr lang="en-US" sz="1200" dirty="0">
                <a:solidFill>
                  <a:srgbClr val="5A4241"/>
                </a:solidFill>
                <a:latin typeface="Calibri" pitchFamily="34" charset="0"/>
                <a:ea typeface="Calibri" pitchFamily="34" charset="-122"/>
                <a:cs typeface="Calibri" pitchFamily="34" charset="-120"/>
              </a:rPr>
              <a:t>Todo becado va acompañado de un sistema de tutoría que garantice su rendimiento académico. La beca sin tutoría no cumple la norma.</a:t>
            </a:r>
            <a:endParaRPr lang="en-US" sz="1200" dirty="0"/>
          </a:p>
        </p:txBody>
      </p:sp>
      <p:sp>
        <p:nvSpPr>
          <p:cNvPr id="19" name="Shape 17"/>
          <p:cNvSpPr/>
          <p:nvPr/>
        </p:nvSpPr>
        <p:spPr>
          <a:xfrm>
            <a:off x="9006840" y="1691640"/>
            <a:ext cx="2514600" cy="4389120"/>
          </a:xfrm>
          <a:prstGeom prst="roundRect">
            <a:avLst>
              <a:gd name="adj" fmla="val 3636"/>
            </a:avLst>
          </a:prstGeom>
          <a:solidFill>
            <a:srgbClr val="F3E4E3"/>
          </a:solidFill>
          <a:ln/>
        </p:spPr>
      </p:sp>
      <p:sp>
        <p:nvSpPr>
          <p:cNvPr id="20" name="Shape 18"/>
          <p:cNvSpPr/>
          <p:nvPr/>
        </p:nvSpPr>
        <p:spPr>
          <a:xfrm>
            <a:off x="9299448" y="1965960"/>
            <a:ext cx="457200" cy="457200"/>
          </a:xfrm>
          <a:prstGeom prst="ellipse">
            <a:avLst/>
          </a:prstGeom>
          <a:solidFill>
            <a:srgbClr val="F6CFCB"/>
          </a:solidFill>
          <a:ln/>
        </p:spPr>
      </p:sp>
      <p:sp>
        <p:nvSpPr>
          <p:cNvPr id="21" name="Text 19"/>
          <p:cNvSpPr txBox="1"/>
          <p:nvPr/>
        </p:nvSpPr>
        <p:spPr>
          <a:xfrm>
            <a:off x="9299448" y="1965960"/>
            <a:ext cx="457200" cy="457200"/>
          </a:xfrm>
          <a:prstGeom prst="rect">
            <a:avLst/>
          </a:prstGeom>
          <a:noFill/>
          <a:ln/>
        </p:spPr>
        <p:txBody>
          <a:bodyPr wrap="square" lIns="0" tIns="0" rIns="0" bIns="0" rtlCol="0" anchor="ctr"/>
          <a:lstStyle/>
          <a:p>
            <a:pPr algn="ctr" indent="0" marL="0">
              <a:buNone/>
            </a:pPr>
            <a:r>
              <a:rPr lang="en-US" sz="1500" b="1" dirty="0">
                <a:solidFill>
                  <a:srgbClr val="8E0B26"/>
                </a:solidFill>
                <a:latin typeface="Cambria" pitchFamily="34" charset="0"/>
                <a:ea typeface="Cambria" pitchFamily="34" charset="-122"/>
                <a:cs typeface="Cambria" pitchFamily="34" charset="-120"/>
              </a:rPr>
              <a:t>04</a:t>
            </a:r>
            <a:endParaRPr lang="en-US" sz="1500" dirty="0"/>
          </a:p>
        </p:txBody>
      </p:sp>
      <p:sp>
        <p:nvSpPr>
          <p:cNvPr id="22" name="Text 20"/>
          <p:cNvSpPr txBox="1"/>
          <p:nvPr/>
        </p:nvSpPr>
        <p:spPr>
          <a:xfrm>
            <a:off x="9299448" y="2560320"/>
            <a:ext cx="1929384" cy="749808"/>
          </a:xfrm>
          <a:prstGeom prst="rect">
            <a:avLst/>
          </a:prstGeom>
          <a:noFill/>
          <a:ln/>
        </p:spPr>
        <p:txBody>
          <a:bodyPr wrap="square" lIns="0" tIns="0" rIns="0" bIns="0" rtlCol="0" anchor="ctr"/>
          <a:lstStyle/>
          <a:p>
            <a:pPr indent="0" marL="0">
              <a:buNone/>
            </a:pPr>
            <a:r>
              <a:rPr lang="en-US" sz="1600" b="1" dirty="0">
                <a:solidFill>
                  <a:srgbClr val="8E0B26"/>
                </a:solidFill>
                <a:latin typeface="Cambria" pitchFamily="34" charset="0"/>
                <a:ea typeface="Cambria" pitchFamily="34" charset="-122"/>
                <a:cs typeface="Cambria" pitchFamily="34" charset="-120"/>
              </a:rPr>
              <a:t>Derechos del estudiante</a:t>
            </a:r>
            <a:endParaRPr lang="en-US" sz="1600" dirty="0"/>
          </a:p>
        </p:txBody>
      </p:sp>
      <p:sp>
        <p:nvSpPr>
          <p:cNvPr id="23" name="Text 21"/>
          <p:cNvSpPr txBox="1"/>
          <p:nvPr/>
        </p:nvSpPr>
        <p:spPr>
          <a:xfrm>
            <a:off x="9299448" y="3401568"/>
            <a:ext cx="1929384" cy="2478024"/>
          </a:xfrm>
          <a:prstGeom prst="rect">
            <a:avLst/>
          </a:prstGeom>
          <a:noFill/>
          <a:ln/>
        </p:spPr>
        <p:txBody>
          <a:bodyPr wrap="square" lIns="0" tIns="0" rIns="0" bIns="0" rtlCol="0" anchor="t"/>
          <a:lstStyle/>
          <a:p>
            <a:pPr indent="0" marL="0">
              <a:lnSpc>
                <a:spcPts val="1600"/>
              </a:lnSpc>
              <a:buNone/>
            </a:pPr>
            <a:r>
              <a:rPr lang="en-US" sz="1200" dirty="0">
                <a:solidFill>
                  <a:srgbClr val="5A4241"/>
                </a:solidFill>
                <a:latin typeface="Calibri" pitchFamily="34" charset="0"/>
                <a:ea typeface="Calibri" pitchFamily="34" charset="-122"/>
                <a:cs typeface="Calibri" pitchFamily="34" charset="-120"/>
              </a:rPr>
              <a:t>Matricularse en menos créditos sin perder la condición de alumno regular, justificar inasistencias por entrenamiento o competencia y reprogramar evaluaciones.</a:t>
            </a:r>
            <a:endParaRPr lang="en-US" sz="1200" dirty="0"/>
          </a:p>
        </p:txBody>
      </p:sp>
      <p:sp>
        <p:nvSpPr>
          <p:cNvPr id="24" name="Text 22"/>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900" dirty="0">
                <a:solidFill>
                  <a:srgbClr val="5A4241"/>
                </a:solidFill>
                <a:latin typeface="Calibri" pitchFamily="34" charset="0"/>
                <a:ea typeface="Calibri" pitchFamily="34" charset="-122"/>
                <a:cs typeface="Calibri" pitchFamily="34" charset="-120"/>
              </a:rPr>
              <a:t>Universidades y selección peruana · Método CRAAP</a:t>
            </a:r>
            <a:endParaRPr lang="en-US" sz="900" dirty="0"/>
          </a:p>
        </p:txBody>
      </p:sp>
      <p:sp>
        <p:nvSpPr>
          <p:cNvPr id="25" name="Text 23"/>
          <p:cNvSpPr txBox="1"/>
          <p:nvPr/>
        </p:nvSpPr>
        <p:spPr>
          <a:xfrm>
            <a:off x="10972800" y="6382512"/>
            <a:ext cx="548640" cy="274320"/>
          </a:xfrm>
          <a:prstGeom prst="rect">
            <a:avLst/>
          </a:prstGeom>
          <a:noFill/>
          <a:ln/>
        </p:spPr>
        <p:txBody>
          <a:bodyPr wrap="square" lIns="0" tIns="0" rIns="0" bIns="0" rtlCol="0" anchor="ctr"/>
          <a:lstStyle/>
          <a:p>
            <a:pPr algn="r" indent="0" marL="0">
              <a:buNone/>
            </a:pPr>
            <a:r>
              <a:rPr lang="en-US" sz="900" dirty="0">
                <a:solidFill>
                  <a:srgbClr val="5A4241"/>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8E0B26"/>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E8B54C"/>
                </a:solidFill>
                <a:latin typeface="Calibri" pitchFamily="34" charset="0"/>
                <a:ea typeface="Calibri" pitchFamily="34" charset="-122"/>
                <a:cs typeface="Calibri" pitchFamily="34" charset="-120"/>
              </a:rPr>
              <a:t>EL SÍ</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t"/>
          <a:lstStyle/>
          <a:p>
            <a:pPr indent="0" marL="0">
              <a:buNone/>
            </a:pPr>
            <a:r>
              <a:rPr lang="en-US" sz="3400" b="1" dirty="0">
                <a:solidFill>
                  <a:srgbClr val="FDF7F6"/>
                </a:solidFill>
                <a:latin typeface="Cambria" pitchFamily="34" charset="0"/>
                <a:ea typeface="Cambria" pitchFamily="34" charset="-122"/>
                <a:cs typeface="Cambria" pitchFamily="34" charset="-120"/>
              </a:rPr>
              <a:t>Qué gana la universidad</a:t>
            </a:r>
            <a:endParaRPr lang="en-US" sz="3400" dirty="0"/>
          </a:p>
        </p:txBody>
      </p:sp>
      <p:sp>
        <p:nvSpPr>
          <p:cNvPr id="4" name="Shape 2"/>
          <p:cNvSpPr/>
          <p:nvPr/>
        </p:nvSpPr>
        <p:spPr>
          <a:xfrm>
            <a:off x="640080" y="1691640"/>
            <a:ext cx="3444240" cy="2103120"/>
          </a:xfrm>
          <a:prstGeom prst="roundRect">
            <a:avLst>
              <a:gd name="adj" fmla="val 4348"/>
            </a:avLst>
          </a:prstGeom>
          <a:solidFill>
            <a:srgbClr val="A8203C"/>
          </a:solidFill>
          <a:ln/>
        </p:spPr>
      </p:sp>
      <p:sp>
        <p:nvSpPr>
          <p:cNvPr id="5" name="Shape 3"/>
          <p:cNvSpPr/>
          <p:nvPr/>
        </p:nvSpPr>
        <p:spPr>
          <a:xfrm>
            <a:off x="932688" y="1929384"/>
            <a:ext cx="402336" cy="402336"/>
          </a:xfrm>
          <a:prstGeom prst="ellipse">
            <a:avLst/>
          </a:prstGeom>
          <a:solidFill>
            <a:srgbClr val="E8B54C"/>
          </a:solidFill>
          <a:ln/>
        </p:spPr>
      </p:sp>
      <p:sp>
        <p:nvSpPr>
          <p:cNvPr id="6" name="Text 4"/>
          <p:cNvSpPr txBox="1"/>
          <p:nvPr/>
        </p:nvSpPr>
        <p:spPr>
          <a:xfrm>
            <a:off x="932688" y="1929384"/>
            <a:ext cx="402336" cy="402336"/>
          </a:xfrm>
          <a:prstGeom prst="rect">
            <a:avLst/>
          </a:prstGeom>
          <a:noFill/>
          <a:ln/>
        </p:spPr>
        <p:txBody>
          <a:bodyPr wrap="square" lIns="0" tIns="0" rIns="0" bIns="0" rtlCol="0" anchor="ctr"/>
          <a:lstStyle/>
          <a:p>
            <a:pPr algn="ctr" indent="0" marL="0">
              <a:buNone/>
            </a:pPr>
            <a:r>
              <a:rPr lang="en-US" sz="1300" b="1" dirty="0">
                <a:solidFill>
                  <a:srgbClr val="8E0B26"/>
                </a:solidFill>
                <a:latin typeface="Cambria" pitchFamily="34" charset="0"/>
                <a:ea typeface="Cambria" pitchFamily="34" charset="-122"/>
                <a:cs typeface="Cambria" pitchFamily="34" charset="-120"/>
              </a:rPr>
              <a:t>01</a:t>
            </a:r>
            <a:endParaRPr lang="en-US" sz="1300" dirty="0"/>
          </a:p>
        </p:txBody>
      </p:sp>
      <p:sp>
        <p:nvSpPr>
          <p:cNvPr id="7" name="Text 5"/>
          <p:cNvSpPr txBox="1"/>
          <p:nvPr/>
        </p:nvSpPr>
        <p:spPr>
          <a:xfrm>
            <a:off x="1499616" y="1929384"/>
            <a:ext cx="2292096" cy="749808"/>
          </a:xfrm>
          <a:prstGeom prst="rect">
            <a:avLst/>
          </a:prstGeom>
          <a:noFill/>
          <a:ln/>
        </p:spPr>
        <p:txBody>
          <a:bodyPr wrap="square" lIns="0" tIns="0" rIns="0" bIns="0" rtlCol="0" anchor="ctr"/>
          <a:lstStyle/>
          <a:p>
            <a:pPr indent="0" marL="0">
              <a:buNone/>
            </a:pPr>
            <a:r>
              <a:rPr lang="en-US" sz="1500" b="1" dirty="0">
                <a:solidFill>
                  <a:srgbClr val="FDF7F6"/>
                </a:solidFill>
                <a:latin typeface="Cambria" pitchFamily="34" charset="0"/>
                <a:ea typeface="Cambria" pitchFamily="34" charset="-122"/>
                <a:cs typeface="Cambria" pitchFamily="34" charset="-120"/>
              </a:rPr>
              <a:t>Visibilidad de marca</a:t>
            </a:r>
            <a:endParaRPr lang="en-US" sz="1500" dirty="0"/>
          </a:p>
        </p:txBody>
      </p:sp>
      <p:sp>
        <p:nvSpPr>
          <p:cNvPr id="8" name="Text 6"/>
          <p:cNvSpPr txBox="1"/>
          <p:nvPr/>
        </p:nvSpPr>
        <p:spPr>
          <a:xfrm>
            <a:off x="932688" y="2825496"/>
            <a:ext cx="2859024" cy="768096"/>
          </a:xfrm>
          <a:prstGeom prst="rect">
            <a:avLst/>
          </a:prstGeom>
          <a:noFill/>
          <a:ln/>
        </p:spPr>
        <p:txBody>
          <a:bodyPr wrap="square" lIns="0" tIns="0" rIns="0" bIns="0" rtlCol="0" anchor="t"/>
          <a:lstStyle/>
          <a:p>
            <a:pPr indent="0" marL="0">
              <a:lnSpc>
                <a:spcPts val="1600"/>
              </a:lnSpc>
              <a:buNone/>
            </a:pPr>
            <a:r>
              <a:rPr lang="en-US" sz="1150" dirty="0">
                <a:solidFill>
                  <a:srgbClr val="F6CFCB"/>
                </a:solidFill>
                <a:latin typeface="Calibri" pitchFamily="34" charset="0"/>
                <a:ea typeface="Calibri" pitchFamily="34" charset="-122"/>
                <a:cs typeface="Calibri" pitchFamily="34" charset="-120"/>
              </a:rPr>
              <a:t>Cada transmisión, nota de prensa o medalla asocia el nombre de la institución a un logro nacional. Es publicidad con una credibilidad que un aviso pagado no compra.</a:t>
            </a:r>
            <a:endParaRPr lang="en-US" sz="1150" dirty="0"/>
          </a:p>
        </p:txBody>
      </p:sp>
      <p:sp>
        <p:nvSpPr>
          <p:cNvPr id="9" name="Shape 7"/>
          <p:cNvSpPr/>
          <p:nvPr/>
        </p:nvSpPr>
        <p:spPr>
          <a:xfrm>
            <a:off x="4358640" y="1691640"/>
            <a:ext cx="3444240" cy="2103120"/>
          </a:xfrm>
          <a:prstGeom prst="roundRect">
            <a:avLst>
              <a:gd name="adj" fmla="val 4348"/>
            </a:avLst>
          </a:prstGeom>
          <a:solidFill>
            <a:srgbClr val="A8203C"/>
          </a:solidFill>
          <a:ln/>
        </p:spPr>
      </p:sp>
      <p:sp>
        <p:nvSpPr>
          <p:cNvPr id="10" name="Shape 8"/>
          <p:cNvSpPr/>
          <p:nvPr/>
        </p:nvSpPr>
        <p:spPr>
          <a:xfrm>
            <a:off x="4651248" y="1929384"/>
            <a:ext cx="402336" cy="402336"/>
          </a:xfrm>
          <a:prstGeom prst="ellipse">
            <a:avLst/>
          </a:prstGeom>
          <a:solidFill>
            <a:srgbClr val="F6CFCB"/>
          </a:solidFill>
          <a:ln/>
        </p:spPr>
      </p:sp>
      <p:sp>
        <p:nvSpPr>
          <p:cNvPr id="11" name="Text 9"/>
          <p:cNvSpPr txBox="1"/>
          <p:nvPr/>
        </p:nvSpPr>
        <p:spPr>
          <a:xfrm>
            <a:off x="4651248" y="1929384"/>
            <a:ext cx="402336" cy="402336"/>
          </a:xfrm>
          <a:prstGeom prst="rect">
            <a:avLst/>
          </a:prstGeom>
          <a:noFill/>
          <a:ln/>
        </p:spPr>
        <p:txBody>
          <a:bodyPr wrap="square" lIns="0" tIns="0" rIns="0" bIns="0" rtlCol="0" anchor="ctr"/>
          <a:lstStyle/>
          <a:p>
            <a:pPr algn="ctr" indent="0" marL="0">
              <a:buNone/>
            </a:pPr>
            <a:r>
              <a:rPr lang="en-US" sz="1300" b="1" dirty="0">
                <a:solidFill>
                  <a:srgbClr val="8E0B26"/>
                </a:solidFill>
                <a:latin typeface="Cambria" pitchFamily="34" charset="0"/>
                <a:ea typeface="Cambria" pitchFamily="34" charset="-122"/>
                <a:cs typeface="Cambria" pitchFamily="34" charset="-120"/>
              </a:rPr>
              <a:t>02</a:t>
            </a:r>
            <a:endParaRPr lang="en-US" sz="1300" dirty="0"/>
          </a:p>
        </p:txBody>
      </p:sp>
      <p:sp>
        <p:nvSpPr>
          <p:cNvPr id="12" name="Text 10"/>
          <p:cNvSpPr txBox="1"/>
          <p:nvPr/>
        </p:nvSpPr>
        <p:spPr>
          <a:xfrm>
            <a:off x="5218176" y="1929384"/>
            <a:ext cx="2292096" cy="749808"/>
          </a:xfrm>
          <a:prstGeom prst="rect">
            <a:avLst/>
          </a:prstGeom>
          <a:noFill/>
          <a:ln/>
        </p:spPr>
        <p:txBody>
          <a:bodyPr wrap="square" lIns="0" tIns="0" rIns="0" bIns="0" rtlCol="0" anchor="ctr"/>
          <a:lstStyle/>
          <a:p>
            <a:pPr indent="0" marL="0">
              <a:buNone/>
            </a:pPr>
            <a:r>
              <a:rPr lang="en-US" sz="1500" b="1" dirty="0">
                <a:solidFill>
                  <a:srgbClr val="FDF7F6"/>
                </a:solidFill>
                <a:latin typeface="Cambria" pitchFamily="34" charset="0"/>
                <a:ea typeface="Cambria" pitchFamily="34" charset="-122"/>
                <a:cs typeface="Cambria" pitchFamily="34" charset="-120"/>
              </a:rPr>
              <a:t>Cumplimiento normativo</a:t>
            </a:r>
            <a:endParaRPr lang="en-US" sz="1500" dirty="0"/>
          </a:p>
        </p:txBody>
      </p:sp>
      <p:sp>
        <p:nvSpPr>
          <p:cNvPr id="13" name="Text 11"/>
          <p:cNvSpPr txBox="1"/>
          <p:nvPr/>
        </p:nvSpPr>
        <p:spPr>
          <a:xfrm>
            <a:off x="4651248" y="2825496"/>
            <a:ext cx="2859024" cy="768096"/>
          </a:xfrm>
          <a:prstGeom prst="rect">
            <a:avLst/>
          </a:prstGeom>
          <a:noFill/>
          <a:ln/>
        </p:spPr>
        <p:txBody>
          <a:bodyPr wrap="square" lIns="0" tIns="0" rIns="0" bIns="0" rtlCol="0" anchor="t"/>
          <a:lstStyle/>
          <a:p>
            <a:pPr indent="0" marL="0">
              <a:lnSpc>
                <a:spcPts val="1600"/>
              </a:lnSpc>
              <a:buNone/>
            </a:pPr>
            <a:r>
              <a:rPr lang="en-US" sz="1150" dirty="0">
                <a:solidFill>
                  <a:srgbClr val="F6CFCB"/>
                </a:solidFill>
                <a:latin typeface="Calibri" pitchFamily="34" charset="0"/>
                <a:ea typeface="Calibri" pitchFamily="34" charset="-122"/>
                <a:cs typeface="Calibri" pitchFamily="34" charset="-120"/>
              </a:rPr>
              <a:t>Los deportistas de selección son el sustento real del PRODAC que la Ley 30220 y la Ley 30476 exigen acreditar. Sin ellos, el programa existe solo en el papel.</a:t>
            </a:r>
            <a:endParaRPr lang="en-US" sz="1150" dirty="0"/>
          </a:p>
        </p:txBody>
      </p:sp>
      <p:sp>
        <p:nvSpPr>
          <p:cNvPr id="14" name="Shape 12"/>
          <p:cNvSpPr/>
          <p:nvPr/>
        </p:nvSpPr>
        <p:spPr>
          <a:xfrm>
            <a:off x="8077200" y="1691640"/>
            <a:ext cx="3444240" cy="2103120"/>
          </a:xfrm>
          <a:prstGeom prst="roundRect">
            <a:avLst>
              <a:gd name="adj" fmla="val 4348"/>
            </a:avLst>
          </a:prstGeom>
          <a:solidFill>
            <a:srgbClr val="A8203C"/>
          </a:solidFill>
          <a:ln/>
        </p:spPr>
      </p:sp>
      <p:sp>
        <p:nvSpPr>
          <p:cNvPr id="15" name="Shape 13"/>
          <p:cNvSpPr/>
          <p:nvPr/>
        </p:nvSpPr>
        <p:spPr>
          <a:xfrm>
            <a:off x="8369808" y="1929384"/>
            <a:ext cx="402336" cy="402336"/>
          </a:xfrm>
          <a:prstGeom prst="ellipse">
            <a:avLst/>
          </a:prstGeom>
          <a:solidFill>
            <a:srgbClr val="F6CFCB"/>
          </a:solidFill>
          <a:ln/>
        </p:spPr>
      </p:sp>
      <p:sp>
        <p:nvSpPr>
          <p:cNvPr id="16" name="Text 14"/>
          <p:cNvSpPr txBox="1"/>
          <p:nvPr/>
        </p:nvSpPr>
        <p:spPr>
          <a:xfrm>
            <a:off x="8369808" y="1929384"/>
            <a:ext cx="402336" cy="402336"/>
          </a:xfrm>
          <a:prstGeom prst="rect">
            <a:avLst/>
          </a:prstGeom>
          <a:noFill/>
          <a:ln/>
        </p:spPr>
        <p:txBody>
          <a:bodyPr wrap="square" lIns="0" tIns="0" rIns="0" bIns="0" rtlCol="0" anchor="ctr"/>
          <a:lstStyle/>
          <a:p>
            <a:pPr algn="ctr" indent="0" marL="0">
              <a:buNone/>
            </a:pPr>
            <a:r>
              <a:rPr lang="en-US" sz="1300" b="1" dirty="0">
                <a:solidFill>
                  <a:srgbClr val="8E0B26"/>
                </a:solidFill>
                <a:latin typeface="Cambria" pitchFamily="34" charset="0"/>
                <a:ea typeface="Cambria" pitchFamily="34" charset="-122"/>
                <a:cs typeface="Cambria" pitchFamily="34" charset="-120"/>
              </a:rPr>
              <a:t>03</a:t>
            </a:r>
            <a:endParaRPr lang="en-US" sz="1300" dirty="0"/>
          </a:p>
        </p:txBody>
      </p:sp>
      <p:sp>
        <p:nvSpPr>
          <p:cNvPr id="17" name="Text 15"/>
          <p:cNvSpPr txBox="1"/>
          <p:nvPr/>
        </p:nvSpPr>
        <p:spPr>
          <a:xfrm>
            <a:off x="8936736" y="1929384"/>
            <a:ext cx="2292096" cy="749808"/>
          </a:xfrm>
          <a:prstGeom prst="rect">
            <a:avLst/>
          </a:prstGeom>
          <a:noFill/>
          <a:ln/>
        </p:spPr>
        <p:txBody>
          <a:bodyPr wrap="square" lIns="0" tIns="0" rIns="0" bIns="0" rtlCol="0" anchor="ctr"/>
          <a:lstStyle/>
          <a:p>
            <a:pPr indent="0" marL="0">
              <a:buNone/>
            </a:pPr>
            <a:r>
              <a:rPr lang="en-US" sz="1500" b="1" dirty="0">
                <a:solidFill>
                  <a:srgbClr val="FDF7F6"/>
                </a:solidFill>
                <a:latin typeface="Cambria" pitchFamily="34" charset="0"/>
                <a:ea typeface="Cambria" pitchFamily="34" charset="-122"/>
                <a:cs typeface="Cambria" pitchFamily="34" charset="-120"/>
              </a:rPr>
              <a:t>Captación de postulantes</a:t>
            </a:r>
            <a:endParaRPr lang="en-US" sz="1500" dirty="0"/>
          </a:p>
        </p:txBody>
      </p:sp>
      <p:sp>
        <p:nvSpPr>
          <p:cNvPr id="18" name="Text 16"/>
          <p:cNvSpPr txBox="1"/>
          <p:nvPr/>
        </p:nvSpPr>
        <p:spPr>
          <a:xfrm>
            <a:off x="8369808" y="2825496"/>
            <a:ext cx="2859024" cy="768096"/>
          </a:xfrm>
          <a:prstGeom prst="rect">
            <a:avLst/>
          </a:prstGeom>
          <a:noFill/>
          <a:ln/>
        </p:spPr>
        <p:txBody>
          <a:bodyPr wrap="square" lIns="0" tIns="0" rIns="0" bIns="0" rtlCol="0" anchor="t"/>
          <a:lstStyle/>
          <a:p>
            <a:pPr indent="0" marL="0">
              <a:lnSpc>
                <a:spcPts val="1600"/>
              </a:lnSpc>
              <a:buNone/>
            </a:pPr>
            <a:r>
              <a:rPr lang="en-US" sz="1150" dirty="0">
                <a:solidFill>
                  <a:srgbClr val="F6CFCB"/>
                </a:solidFill>
                <a:latin typeface="Calibri" pitchFamily="34" charset="0"/>
                <a:ea typeface="Calibri" pitchFamily="34" charset="-122"/>
                <a:cs typeface="Calibri" pitchFamily="34" charset="-120"/>
              </a:rPr>
              <a:t>Las universidades usan el deporte como argumento de admisión. Un deportista conocido en el campus atrae a otros y diferencia la oferta frente a la competencia.</a:t>
            </a:r>
            <a:endParaRPr lang="en-US" sz="1150" dirty="0"/>
          </a:p>
        </p:txBody>
      </p:sp>
      <p:sp>
        <p:nvSpPr>
          <p:cNvPr id="19" name="Shape 17"/>
          <p:cNvSpPr/>
          <p:nvPr/>
        </p:nvSpPr>
        <p:spPr>
          <a:xfrm>
            <a:off x="640080" y="4069080"/>
            <a:ext cx="3444240" cy="2103120"/>
          </a:xfrm>
          <a:prstGeom prst="roundRect">
            <a:avLst>
              <a:gd name="adj" fmla="val 4348"/>
            </a:avLst>
          </a:prstGeom>
          <a:solidFill>
            <a:srgbClr val="A8203C"/>
          </a:solidFill>
          <a:ln/>
        </p:spPr>
      </p:sp>
      <p:sp>
        <p:nvSpPr>
          <p:cNvPr id="20" name="Shape 18"/>
          <p:cNvSpPr/>
          <p:nvPr/>
        </p:nvSpPr>
        <p:spPr>
          <a:xfrm>
            <a:off x="932688" y="4306824"/>
            <a:ext cx="402336" cy="402336"/>
          </a:xfrm>
          <a:prstGeom prst="ellipse">
            <a:avLst/>
          </a:prstGeom>
          <a:solidFill>
            <a:srgbClr val="F6CFCB"/>
          </a:solidFill>
          <a:ln/>
        </p:spPr>
      </p:sp>
      <p:sp>
        <p:nvSpPr>
          <p:cNvPr id="21" name="Text 19"/>
          <p:cNvSpPr txBox="1"/>
          <p:nvPr/>
        </p:nvSpPr>
        <p:spPr>
          <a:xfrm>
            <a:off x="932688" y="4306824"/>
            <a:ext cx="402336" cy="402336"/>
          </a:xfrm>
          <a:prstGeom prst="rect">
            <a:avLst/>
          </a:prstGeom>
          <a:noFill/>
          <a:ln/>
        </p:spPr>
        <p:txBody>
          <a:bodyPr wrap="square" lIns="0" tIns="0" rIns="0" bIns="0" rtlCol="0" anchor="ctr"/>
          <a:lstStyle/>
          <a:p>
            <a:pPr algn="ctr" indent="0" marL="0">
              <a:buNone/>
            </a:pPr>
            <a:r>
              <a:rPr lang="en-US" sz="1300" b="1" dirty="0">
                <a:solidFill>
                  <a:srgbClr val="8E0B26"/>
                </a:solidFill>
                <a:latin typeface="Cambria" pitchFamily="34" charset="0"/>
                <a:ea typeface="Cambria" pitchFamily="34" charset="-122"/>
                <a:cs typeface="Cambria" pitchFamily="34" charset="-120"/>
              </a:rPr>
              <a:t>04</a:t>
            </a:r>
            <a:endParaRPr lang="en-US" sz="1300" dirty="0"/>
          </a:p>
        </p:txBody>
      </p:sp>
      <p:sp>
        <p:nvSpPr>
          <p:cNvPr id="22" name="Text 20"/>
          <p:cNvSpPr txBox="1"/>
          <p:nvPr/>
        </p:nvSpPr>
        <p:spPr>
          <a:xfrm>
            <a:off x="1499616" y="4306824"/>
            <a:ext cx="2292096" cy="512064"/>
          </a:xfrm>
          <a:prstGeom prst="rect">
            <a:avLst/>
          </a:prstGeom>
          <a:noFill/>
          <a:ln/>
        </p:spPr>
        <p:txBody>
          <a:bodyPr wrap="square" lIns="0" tIns="0" rIns="0" bIns="0" rtlCol="0" anchor="ctr"/>
          <a:lstStyle/>
          <a:p>
            <a:pPr indent="0" marL="0">
              <a:buNone/>
            </a:pPr>
            <a:r>
              <a:rPr lang="en-US" sz="1500" b="1" dirty="0">
                <a:solidFill>
                  <a:srgbClr val="FDF7F6"/>
                </a:solidFill>
                <a:latin typeface="Cambria" pitchFamily="34" charset="0"/>
                <a:ea typeface="Cambria" pitchFamily="34" charset="-122"/>
                <a:cs typeface="Cambria" pitchFamily="34" charset="-120"/>
              </a:rPr>
              <a:t>Vida universitaria</a:t>
            </a:r>
            <a:endParaRPr lang="en-US" sz="1500" dirty="0"/>
          </a:p>
        </p:txBody>
      </p:sp>
      <p:sp>
        <p:nvSpPr>
          <p:cNvPr id="23" name="Text 21"/>
          <p:cNvSpPr txBox="1"/>
          <p:nvPr/>
        </p:nvSpPr>
        <p:spPr>
          <a:xfrm>
            <a:off x="932688" y="4965192"/>
            <a:ext cx="2859024" cy="1005840"/>
          </a:xfrm>
          <a:prstGeom prst="rect">
            <a:avLst/>
          </a:prstGeom>
          <a:noFill/>
          <a:ln/>
        </p:spPr>
        <p:txBody>
          <a:bodyPr wrap="square" lIns="0" tIns="0" rIns="0" bIns="0" rtlCol="0" anchor="t"/>
          <a:lstStyle/>
          <a:p>
            <a:pPr indent="0" marL="0">
              <a:lnSpc>
                <a:spcPts val="1600"/>
              </a:lnSpc>
              <a:buNone/>
            </a:pPr>
            <a:r>
              <a:rPr lang="en-US" sz="1150" dirty="0">
                <a:solidFill>
                  <a:srgbClr val="F6CFCB"/>
                </a:solidFill>
                <a:latin typeface="Calibri" pitchFamily="34" charset="0"/>
                <a:ea typeface="Calibri" pitchFamily="34" charset="-122"/>
                <a:cs typeface="Calibri" pitchFamily="34" charset="-120"/>
              </a:rPr>
              <a:t>Selecciones activas, torneos y competencias internas mejoran el clima institucional y el sentido de pertenencia de toda la comunidad, no solo de los becados.</a:t>
            </a:r>
            <a:endParaRPr lang="en-US" sz="1150" dirty="0"/>
          </a:p>
        </p:txBody>
      </p:sp>
      <p:sp>
        <p:nvSpPr>
          <p:cNvPr id="24" name="Shape 22"/>
          <p:cNvSpPr/>
          <p:nvPr/>
        </p:nvSpPr>
        <p:spPr>
          <a:xfrm>
            <a:off x="4358640" y="4069080"/>
            <a:ext cx="3444240" cy="2103120"/>
          </a:xfrm>
          <a:prstGeom prst="roundRect">
            <a:avLst>
              <a:gd name="adj" fmla="val 4348"/>
            </a:avLst>
          </a:prstGeom>
          <a:solidFill>
            <a:srgbClr val="A8203C"/>
          </a:solidFill>
          <a:ln/>
        </p:spPr>
      </p:sp>
      <p:sp>
        <p:nvSpPr>
          <p:cNvPr id="25" name="Shape 23"/>
          <p:cNvSpPr/>
          <p:nvPr/>
        </p:nvSpPr>
        <p:spPr>
          <a:xfrm>
            <a:off x="4651248" y="4306824"/>
            <a:ext cx="402336" cy="402336"/>
          </a:xfrm>
          <a:prstGeom prst="ellipse">
            <a:avLst/>
          </a:prstGeom>
          <a:solidFill>
            <a:srgbClr val="F6CFCB"/>
          </a:solidFill>
          <a:ln/>
        </p:spPr>
      </p:sp>
      <p:sp>
        <p:nvSpPr>
          <p:cNvPr id="26" name="Text 24"/>
          <p:cNvSpPr txBox="1"/>
          <p:nvPr/>
        </p:nvSpPr>
        <p:spPr>
          <a:xfrm>
            <a:off x="4651248" y="4306824"/>
            <a:ext cx="402336" cy="402336"/>
          </a:xfrm>
          <a:prstGeom prst="rect">
            <a:avLst/>
          </a:prstGeom>
          <a:noFill/>
          <a:ln/>
        </p:spPr>
        <p:txBody>
          <a:bodyPr wrap="square" lIns="0" tIns="0" rIns="0" bIns="0" rtlCol="0" anchor="ctr"/>
          <a:lstStyle/>
          <a:p>
            <a:pPr algn="ctr" indent="0" marL="0">
              <a:buNone/>
            </a:pPr>
            <a:r>
              <a:rPr lang="en-US" sz="1300" b="1" dirty="0">
                <a:solidFill>
                  <a:srgbClr val="8E0B26"/>
                </a:solidFill>
                <a:latin typeface="Cambria" pitchFamily="34" charset="0"/>
                <a:ea typeface="Cambria" pitchFamily="34" charset="-122"/>
                <a:cs typeface="Cambria" pitchFamily="34" charset="-120"/>
              </a:rPr>
              <a:t>05</a:t>
            </a:r>
            <a:endParaRPr lang="en-US" sz="1300" dirty="0"/>
          </a:p>
        </p:txBody>
      </p:sp>
      <p:sp>
        <p:nvSpPr>
          <p:cNvPr id="27" name="Text 25"/>
          <p:cNvSpPr txBox="1"/>
          <p:nvPr/>
        </p:nvSpPr>
        <p:spPr>
          <a:xfrm>
            <a:off x="5218176" y="4306824"/>
            <a:ext cx="2292096" cy="512064"/>
          </a:xfrm>
          <a:prstGeom prst="rect">
            <a:avLst/>
          </a:prstGeom>
          <a:noFill/>
          <a:ln/>
        </p:spPr>
        <p:txBody>
          <a:bodyPr wrap="square" lIns="0" tIns="0" rIns="0" bIns="0" rtlCol="0" anchor="ctr"/>
          <a:lstStyle/>
          <a:p>
            <a:pPr indent="0" marL="0">
              <a:buNone/>
            </a:pPr>
            <a:r>
              <a:rPr lang="en-US" sz="1500" b="1" dirty="0">
                <a:solidFill>
                  <a:srgbClr val="FDF7F6"/>
                </a:solidFill>
                <a:latin typeface="Cambria" pitchFamily="34" charset="0"/>
                <a:ea typeface="Cambria" pitchFamily="34" charset="-122"/>
                <a:cs typeface="Cambria" pitchFamily="34" charset="-120"/>
              </a:rPr>
              <a:t>Red de convenios</a:t>
            </a:r>
            <a:endParaRPr lang="en-US" sz="1500" dirty="0"/>
          </a:p>
        </p:txBody>
      </p:sp>
      <p:sp>
        <p:nvSpPr>
          <p:cNvPr id="28" name="Text 26"/>
          <p:cNvSpPr txBox="1"/>
          <p:nvPr/>
        </p:nvSpPr>
        <p:spPr>
          <a:xfrm>
            <a:off x="4651248" y="4965192"/>
            <a:ext cx="2859024" cy="1005840"/>
          </a:xfrm>
          <a:prstGeom prst="rect">
            <a:avLst/>
          </a:prstGeom>
          <a:noFill/>
          <a:ln/>
        </p:spPr>
        <p:txBody>
          <a:bodyPr wrap="square" lIns="0" tIns="0" rIns="0" bIns="0" rtlCol="0" anchor="t"/>
          <a:lstStyle/>
          <a:p>
            <a:pPr indent="0" marL="0">
              <a:lnSpc>
                <a:spcPts val="1600"/>
              </a:lnSpc>
              <a:buNone/>
            </a:pPr>
            <a:r>
              <a:rPr lang="en-US" sz="1150" dirty="0">
                <a:solidFill>
                  <a:srgbClr val="F6CFCB"/>
                </a:solidFill>
                <a:latin typeface="Calibri" pitchFamily="34" charset="0"/>
                <a:ea typeface="Calibri" pitchFamily="34" charset="-122"/>
                <a:cs typeface="Calibri" pitchFamily="34" charset="-120"/>
              </a:rPr>
              <a:t>Da acceso a federaciones, al IPD y a competencias internacionales, y abre convenios de intercambio y de investigación en ciencias del deporte.</a:t>
            </a:r>
            <a:endParaRPr lang="en-US" sz="1150" dirty="0"/>
          </a:p>
        </p:txBody>
      </p:sp>
      <p:sp>
        <p:nvSpPr>
          <p:cNvPr id="29" name="Shape 27"/>
          <p:cNvSpPr/>
          <p:nvPr/>
        </p:nvSpPr>
        <p:spPr>
          <a:xfrm>
            <a:off x="8077200" y="4069080"/>
            <a:ext cx="3444240" cy="2103120"/>
          </a:xfrm>
          <a:prstGeom prst="roundRect">
            <a:avLst>
              <a:gd name="adj" fmla="val 4348"/>
            </a:avLst>
          </a:prstGeom>
          <a:solidFill>
            <a:srgbClr val="A8203C"/>
          </a:solidFill>
          <a:ln/>
        </p:spPr>
      </p:sp>
      <p:sp>
        <p:nvSpPr>
          <p:cNvPr id="30" name="Shape 28"/>
          <p:cNvSpPr/>
          <p:nvPr/>
        </p:nvSpPr>
        <p:spPr>
          <a:xfrm>
            <a:off x="8369808" y="4306824"/>
            <a:ext cx="402336" cy="402336"/>
          </a:xfrm>
          <a:prstGeom prst="ellipse">
            <a:avLst/>
          </a:prstGeom>
          <a:solidFill>
            <a:srgbClr val="F6CFCB"/>
          </a:solidFill>
          <a:ln/>
        </p:spPr>
      </p:sp>
      <p:sp>
        <p:nvSpPr>
          <p:cNvPr id="31" name="Text 29"/>
          <p:cNvSpPr txBox="1"/>
          <p:nvPr/>
        </p:nvSpPr>
        <p:spPr>
          <a:xfrm>
            <a:off x="8369808" y="4306824"/>
            <a:ext cx="402336" cy="402336"/>
          </a:xfrm>
          <a:prstGeom prst="rect">
            <a:avLst/>
          </a:prstGeom>
          <a:noFill/>
          <a:ln/>
        </p:spPr>
        <p:txBody>
          <a:bodyPr wrap="square" lIns="0" tIns="0" rIns="0" bIns="0" rtlCol="0" anchor="ctr"/>
          <a:lstStyle/>
          <a:p>
            <a:pPr algn="ctr" indent="0" marL="0">
              <a:buNone/>
            </a:pPr>
            <a:r>
              <a:rPr lang="en-US" sz="1300" b="1" dirty="0">
                <a:solidFill>
                  <a:srgbClr val="8E0B26"/>
                </a:solidFill>
                <a:latin typeface="Cambria" pitchFamily="34" charset="0"/>
                <a:ea typeface="Cambria" pitchFamily="34" charset="-122"/>
                <a:cs typeface="Cambria" pitchFamily="34" charset="-120"/>
              </a:rPr>
              <a:t>06</a:t>
            </a:r>
            <a:endParaRPr lang="en-US" sz="1300" dirty="0"/>
          </a:p>
        </p:txBody>
      </p:sp>
      <p:sp>
        <p:nvSpPr>
          <p:cNvPr id="32" name="Text 30"/>
          <p:cNvSpPr txBox="1"/>
          <p:nvPr/>
        </p:nvSpPr>
        <p:spPr>
          <a:xfrm>
            <a:off x="8936736" y="4306824"/>
            <a:ext cx="2292096" cy="512064"/>
          </a:xfrm>
          <a:prstGeom prst="rect">
            <a:avLst/>
          </a:prstGeom>
          <a:noFill/>
          <a:ln/>
        </p:spPr>
        <p:txBody>
          <a:bodyPr wrap="square" lIns="0" tIns="0" rIns="0" bIns="0" rtlCol="0" anchor="ctr"/>
          <a:lstStyle/>
          <a:p>
            <a:pPr indent="0" marL="0">
              <a:buNone/>
            </a:pPr>
            <a:r>
              <a:rPr lang="en-US" sz="1500" b="1" dirty="0">
                <a:solidFill>
                  <a:srgbClr val="FDF7F6"/>
                </a:solidFill>
                <a:latin typeface="Cambria" pitchFamily="34" charset="0"/>
                <a:ea typeface="Cambria" pitchFamily="34" charset="-122"/>
                <a:cs typeface="Cambria" pitchFamily="34" charset="-120"/>
              </a:rPr>
              <a:t>Retención y egreso</a:t>
            </a:r>
            <a:endParaRPr lang="en-US" sz="1500" dirty="0"/>
          </a:p>
        </p:txBody>
      </p:sp>
      <p:sp>
        <p:nvSpPr>
          <p:cNvPr id="33" name="Text 31"/>
          <p:cNvSpPr txBox="1"/>
          <p:nvPr/>
        </p:nvSpPr>
        <p:spPr>
          <a:xfrm>
            <a:off x="8369808" y="4965192"/>
            <a:ext cx="2859024" cy="1005840"/>
          </a:xfrm>
          <a:prstGeom prst="rect">
            <a:avLst/>
          </a:prstGeom>
          <a:noFill/>
          <a:ln/>
        </p:spPr>
        <p:txBody>
          <a:bodyPr wrap="square" lIns="0" tIns="0" rIns="0" bIns="0" rtlCol="0" anchor="t"/>
          <a:lstStyle/>
          <a:p>
            <a:pPr indent="0" marL="0">
              <a:lnSpc>
                <a:spcPts val="1600"/>
              </a:lnSpc>
              <a:buNone/>
            </a:pPr>
            <a:r>
              <a:rPr lang="en-US" sz="1150" dirty="0">
                <a:solidFill>
                  <a:srgbClr val="F6CFCB"/>
                </a:solidFill>
                <a:latin typeface="Calibri" pitchFamily="34" charset="0"/>
                <a:ea typeface="Calibri" pitchFamily="34" charset="-122"/>
                <a:cs typeface="Calibri" pitchFamily="34" charset="-120"/>
              </a:rPr>
              <a:t>Un buen sistema de tutoría no solo protege al deportista: suele terminar aplicándose al resto de estudiantes con carga académica atípica.</a:t>
            </a:r>
            <a:endParaRPr lang="en-US" sz="1150" dirty="0"/>
          </a:p>
        </p:txBody>
      </p:sp>
      <p:sp>
        <p:nvSpPr>
          <p:cNvPr id="34" name="Text 32"/>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900" dirty="0">
                <a:solidFill>
                  <a:srgbClr val="E7AFAD"/>
                </a:solidFill>
                <a:latin typeface="Calibri" pitchFamily="34" charset="0"/>
                <a:ea typeface="Calibri" pitchFamily="34" charset="-122"/>
                <a:cs typeface="Calibri" pitchFamily="34" charset="-120"/>
              </a:rPr>
              <a:t>Universidades y selección peruana · Método CRAAP</a:t>
            </a:r>
            <a:endParaRPr lang="en-US" sz="900" dirty="0"/>
          </a:p>
        </p:txBody>
      </p:sp>
      <p:sp>
        <p:nvSpPr>
          <p:cNvPr id="35" name="Text 33"/>
          <p:cNvSpPr txBox="1"/>
          <p:nvPr/>
        </p:nvSpPr>
        <p:spPr>
          <a:xfrm>
            <a:off x="10972800" y="6382512"/>
            <a:ext cx="548640" cy="274320"/>
          </a:xfrm>
          <a:prstGeom prst="rect">
            <a:avLst/>
          </a:prstGeom>
          <a:noFill/>
          <a:ln/>
        </p:spPr>
        <p:txBody>
          <a:bodyPr wrap="square" lIns="0" tIns="0" rIns="0" bIns="0" rtlCol="0" anchor="ctr"/>
          <a:lstStyle/>
          <a:p>
            <a:pPr algn="r" indent="0" marL="0">
              <a:buNone/>
            </a:pPr>
            <a:r>
              <a:rPr lang="en-US" sz="900" dirty="0">
                <a:solidFill>
                  <a:srgbClr val="E7AFAD"/>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8E0B26"/>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E8B54C"/>
                </a:solidFill>
                <a:latin typeface="Calibri" pitchFamily="34" charset="0"/>
                <a:ea typeface="Calibri" pitchFamily="34" charset="-122"/>
                <a:cs typeface="Calibri" pitchFamily="34" charset="-120"/>
              </a:rPr>
              <a:t>EVIDENCIA DISPONIBLE</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t"/>
          <a:lstStyle/>
          <a:p>
            <a:pPr indent="0" marL="0">
              <a:buNone/>
            </a:pPr>
            <a:r>
              <a:rPr lang="en-US" sz="3400" b="1" dirty="0">
                <a:solidFill>
                  <a:srgbClr val="FDF7F6"/>
                </a:solidFill>
                <a:latin typeface="Cambria" pitchFamily="34" charset="0"/>
                <a:ea typeface="Cambria" pitchFamily="34" charset="-122"/>
                <a:cs typeface="Cambria" pitchFamily="34" charset="-120"/>
              </a:rPr>
              <a:t>Los números que se pueden verificar</a:t>
            </a:r>
            <a:endParaRPr lang="en-US" sz="3400" dirty="0"/>
          </a:p>
        </p:txBody>
      </p:sp>
      <p:sp>
        <p:nvSpPr>
          <p:cNvPr id="4" name="Text 2"/>
          <p:cNvSpPr txBox="1"/>
          <p:nvPr/>
        </p:nvSpPr>
        <p:spPr>
          <a:xfrm>
            <a:off x="640080" y="1481328"/>
            <a:ext cx="10881360" cy="457200"/>
          </a:xfrm>
          <a:prstGeom prst="rect">
            <a:avLst/>
          </a:prstGeom>
          <a:noFill/>
          <a:ln/>
        </p:spPr>
        <p:txBody>
          <a:bodyPr wrap="square" lIns="0" tIns="0" rIns="0" bIns="0" rtlCol="0" anchor="t"/>
          <a:lstStyle/>
          <a:p>
            <a:pPr indent="0" marL="0">
              <a:buNone/>
            </a:pPr>
            <a:r>
              <a:rPr lang="en-US" sz="1400" dirty="0">
                <a:solidFill>
                  <a:srgbClr val="F6CFCB"/>
                </a:solidFill>
                <a:latin typeface="Calibri" pitchFamily="34" charset="0"/>
                <a:ea typeface="Calibri" pitchFamily="34" charset="-122"/>
                <a:cs typeface="Calibri" pitchFamily="34" charset="-120"/>
              </a:rPr>
              <a:t>Las tres cifras provienen de páginas institucionales de las propias universidades. Por eso hay que leerlas con el criterio de propósito puesto.</a:t>
            </a:r>
            <a:endParaRPr lang="en-US" sz="1400" dirty="0"/>
          </a:p>
        </p:txBody>
      </p:sp>
      <p:sp>
        <p:nvSpPr>
          <p:cNvPr id="5" name="Shape 3"/>
          <p:cNvSpPr/>
          <p:nvPr/>
        </p:nvSpPr>
        <p:spPr>
          <a:xfrm>
            <a:off x="640080" y="2103120"/>
            <a:ext cx="3444240" cy="2834640"/>
          </a:xfrm>
          <a:prstGeom prst="roundRect">
            <a:avLst>
              <a:gd name="adj" fmla="val 3226"/>
            </a:avLst>
          </a:prstGeom>
          <a:solidFill>
            <a:srgbClr val="A8203C"/>
          </a:solidFill>
          <a:ln/>
        </p:spPr>
      </p:sp>
      <p:sp>
        <p:nvSpPr>
          <p:cNvPr id="6" name="Text 4"/>
          <p:cNvSpPr txBox="1"/>
          <p:nvPr/>
        </p:nvSpPr>
        <p:spPr>
          <a:xfrm>
            <a:off x="868680" y="2331720"/>
            <a:ext cx="2987040" cy="1051560"/>
          </a:xfrm>
          <a:prstGeom prst="rect">
            <a:avLst/>
          </a:prstGeom>
          <a:noFill/>
          <a:ln/>
        </p:spPr>
        <p:txBody>
          <a:bodyPr wrap="square" lIns="0" tIns="0" rIns="0" bIns="0" rtlCol="0" anchor="ctr"/>
          <a:lstStyle/>
          <a:p>
            <a:pPr indent="0" marL="0">
              <a:buNone/>
            </a:pPr>
            <a:r>
              <a:rPr lang="en-US" sz="5200" b="1" dirty="0">
                <a:solidFill>
                  <a:srgbClr val="E8B54C"/>
                </a:solidFill>
                <a:latin typeface="Cambria" pitchFamily="34" charset="0"/>
                <a:ea typeface="Cambria" pitchFamily="34" charset="-122"/>
                <a:cs typeface="Cambria" pitchFamily="34" charset="-120"/>
              </a:rPr>
              <a:t>+200</a:t>
            </a:r>
            <a:endParaRPr lang="en-US" sz="5200" dirty="0"/>
          </a:p>
        </p:txBody>
      </p:sp>
      <p:sp>
        <p:nvSpPr>
          <p:cNvPr id="7" name="Text 5"/>
          <p:cNvSpPr txBox="1"/>
          <p:nvPr/>
        </p:nvSpPr>
        <p:spPr>
          <a:xfrm>
            <a:off x="868680" y="3429000"/>
            <a:ext cx="2987040" cy="1325880"/>
          </a:xfrm>
          <a:prstGeom prst="rect">
            <a:avLst/>
          </a:prstGeom>
          <a:noFill/>
          <a:ln/>
        </p:spPr>
        <p:txBody>
          <a:bodyPr wrap="square" lIns="0" tIns="0" rIns="0" bIns="0" rtlCol="0" anchor="t"/>
          <a:lstStyle/>
          <a:p>
            <a:pPr indent="0" marL="0">
              <a:lnSpc>
                <a:spcPts val="1800"/>
              </a:lnSpc>
              <a:buNone/>
            </a:pPr>
            <a:r>
              <a:rPr lang="en-US" sz="1250" dirty="0">
                <a:solidFill>
                  <a:srgbClr val="FDF7F6"/>
                </a:solidFill>
                <a:latin typeface="Calibri" pitchFamily="34" charset="0"/>
                <a:ea typeface="Calibri" pitchFamily="34" charset="-122"/>
                <a:cs typeface="Calibri" pitchFamily="34" charset="-120"/>
              </a:rPr>
              <a:t>Deportistas calificados que representan al Perú y estudian en la Universidad Peruana de Ciencias Aplicadas, según su propia página de Deportes UPC.</a:t>
            </a:r>
            <a:endParaRPr lang="en-US" sz="1250" dirty="0"/>
          </a:p>
        </p:txBody>
      </p:sp>
      <p:sp>
        <p:nvSpPr>
          <p:cNvPr id="8" name="Shape 6"/>
          <p:cNvSpPr/>
          <p:nvPr/>
        </p:nvSpPr>
        <p:spPr>
          <a:xfrm>
            <a:off x="4358640" y="2103120"/>
            <a:ext cx="3444240" cy="2834640"/>
          </a:xfrm>
          <a:prstGeom prst="roundRect">
            <a:avLst>
              <a:gd name="adj" fmla="val 3226"/>
            </a:avLst>
          </a:prstGeom>
          <a:solidFill>
            <a:srgbClr val="A8203C"/>
          </a:solidFill>
          <a:ln/>
        </p:spPr>
      </p:sp>
      <p:sp>
        <p:nvSpPr>
          <p:cNvPr id="9" name="Text 7"/>
          <p:cNvSpPr txBox="1"/>
          <p:nvPr/>
        </p:nvSpPr>
        <p:spPr>
          <a:xfrm>
            <a:off x="4587240" y="2331720"/>
            <a:ext cx="2987040" cy="1051560"/>
          </a:xfrm>
          <a:prstGeom prst="rect">
            <a:avLst/>
          </a:prstGeom>
          <a:noFill/>
          <a:ln/>
        </p:spPr>
        <p:txBody>
          <a:bodyPr wrap="square" lIns="0" tIns="0" rIns="0" bIns="0" rtlCol="0" anchor="ctr"/>
          <a:lstStyle/>
          <a:p>
            <a:pPr indent="0" marL="0">
              <a:buNone/>
            </a:pPr>
            <a:r>
              <a:rPr lang="en-US" sz="5200" b="1" dirty="0">
                <a:solidFill>
                  <a:srgbClr val="E8B54C"/>
                </a:solidFill>
                <a:latin typeface="Cambria" pitchFamily="34" charset="0"/>
                <a:ea typeface="Cambria" pitchFamily="34" charset="-122"/>
                <a:cs typeface="Cambria" pitchFamily="34" charset="-120"/>
              </a:rPr>
              <a:t>50 %</a:t>
            </a:r>
            <a:endParaRPr lang="en-US" sz="5200" dirty="0"/>
          </a:p>
        </p:txBody>
      </p:sp>
      <p:sp>
        <p:nvSpPr>
          <p:cNvPr id="10" name="Text 8"/>
          <p:cNvSpPr txBox="1"/>
          <p:nvPr/>
        </p:nvSpPr>
        <p:spPr>
          <a:xfrm>
            <a:off x="4587240" y="3429000"/>
            <a:ext cx="2987040" cy="1325880"/>
          </a:xfrm>
          <a:prstGeom prst="rect">
            <a:avLst/>
          </a:prstGeom>
          <a:noFill/>
          <a:ln/>
        </p:spPr>
        <p:txBody>
          <a:bodyPr wrap="square" lIns="0" tIns="0" rIns="0" bIns="0" rtlCol="0" anchor="t"/>
          <a:lstStyle/>
          <a:p>
            <a:pPr indent="0" marL="0">
              <a:lnSpc>
                <a:spcPts val="1800"/>
              </a:lnSpc>
              <a:buNone/>
            </a:pPr>
            <a:r>
              <a:rPr lang="en-US" sz="1250" dirty="0">
                <a:solidFill>
                  <a:srgbClr val="FDF7F6"/>
                </a:solidFill>
                <a:latin typeface="Calibri" pitchFamily="34" charset="0"/>
                <a:ea typeface="Calibri" pitchFamily="34" charset="-122"/>
                <a:cs typeface="Calibri" pitchFamily="34" charset="-120"/>
              </a:rPr>
              <a:t>Cobertura mínima de matrícula y pensión que la Ley 30476 fija para la beca parcial del PRODAC. La beca total cubre el íntegro.</a:t>
            </a:r>
            <a:endParaRPr lang="en-US" sz="1250" dirty="0"/>
          </a:p>
        </p:txBody>
      </p:sp>
      <p:sp>
        <p:nvSpPr>
          <p:cNvPr id="11" name="Shape 9"/>
          <p:cNvSpPr/>
          <p:nvPr/>
        </p:nvSpPr>
        <p:spPr>
          <a:xfrm>
            <a:off x="8077200" y="2103120"/>
            <a:ext cx="3444240" cy="2834640"/>
          </a:xfrm>
          <a:prstGeom prst="roundRect">
            <a:avLst>
              <a:gd name="adj" fmla="val 3226"/>
            </a:avLst>
          </a:prstGeom>
          <a:solidFill>
            <a:srgbClr val="A8203C"/>
          </a:solidFill>
          <a:ln/>
        </p:spPr>
      </p:sp>
      <p:sp>
        <p:nvSpPr>
          <p:cNvPr id="12" name="Text 10"/>
          <p:cNvSpPr txBox="1"/>
          <p:nvPr/>
        </p:nvSpPr>
        <p:spPr>
          <a:xfrm>
            <a:off x="8305800" y="2331720"/>
            <a:ext cx="2987040" cy="1051560"/>
          </a:xfrm>
          <a:prstGeom prst="rect">
            <a:avLst/>
          </a:prstGeom>
          <a:noFill/>
          <a:ln/>
        </p:spPr>
        <p:txBody>
          <a:bodyPr wrap="square" lIns="0" tIns="0" rIns="0" bIns="0" rtlCol="0" anchor="ctr"/>
          <a:lstStyle/>
          <a:p>
            <a:pPr indent="0" marL="0">
              <a:buNone/>
            </a:pPr>
            <a:r>
              <a:rPr lang="en-US" sz="5200" b="1" dirty="0">
                <a:solidFill>
                  <a:srgbClr val="E8B54C"/>
                </a:solidFill>
                <a:latin typeface="Cambria" pitchFamily="34" charset="0"/>
                <a:ea typeface="Cambria" pitchFamily="34" charset="-122"/>
                <a:cs typeface="Cambria" pitchFamily="34" charset="-120"/>
              </a:rPr>
              <a:t>100 %</a:t>
            </a:r>
            <a:endParaRPr lang="en-US" sz="5200" dirty="0"/>
          </a:p>
        </p:txBody>
      </p:sp>
      <p:sp>
        <p:nvSpPr>
          <p:cNvPr id="13" name="Text 11"/>
          <p:cNvSpPr txBox="1"/>
          <p:nvPr/>
        </p:nvSpPr>
        <p:spPr>
          <a:xfrm>
            <a:off x="8305800" y="3429000"/>
            <a:ext cx="2987040" cy="1325880"/>
          </a:xfrm>
          <a:prstGeom prst="rect">
            <a:avLst/>
          </a:prstGeom>
          <a:noFill/>
          <a:ln/>
        </p:spPr>
        <p:txBody>
          <a:bodyPr wrap="square" lIns="0" tIns="0" rIns="0" bIns="0" rtlCol="0" anchor="t"/>
          <a:lstStyle/>
          <a:p>
            <a:pPr indent="0" marL="0">
              <a:lnSpc>
                <a:spcPts val="1800"/>
              </a:lnSpc>
              <a:buNone/>
            </a:pPr>
            <a:r>
              <a:rPr lang="en-US" sz="1250" dirty="0">
                <a:solidFill>
                  <a:srgbClr val="FDF7F6"/>
                </a:solidFill>
                <a:latin typeface="Calibri" pitchFamily="34" charset="0"/>
                <a:ea typeface="Calibri" pitchFamily="34" charset="-122"/>
                <a:cs typeface="Calibri" pitchFamily="34" charset="-120"/>
              </a:rPr>
              <a:t>Beca que varias universidades ofrecen al Deportista Calificado de Alto Nivel (DECAN), la categoría en la que suelen entrar los seleccionados nacionales.</a:t>
            </a:r>
            <a:endParaRPr lang="en-US" sz="1250" dirty="0"/>
          </a:p>
        </p:txBody>
      </p:sp>
      <p:sp>
        <p:nvSpPr>
          <p:cNvPr id="14" name="Text 12"/>
          <p:cNvSpPr txBox="1"/>
          <p:nvPr/>
        </p:nvSpPr>
        <p:spPr>
          <a:xfrm>
            <a:off x="640080" y="5166360"/>
            <a:ext cx="10881360" cy="548640"/>
          </a:xfrm>
          <a:prstGeom prst="rect">
            <a:avLst/>
          </a:prstGeom>
          <a:noFill/>
          <a:ln/>
        </p:spPr>
        <p:txBody>
          <a:bodyPr wrap="square" lIns="0" tIns="0" rIns="0" bIns="0" rtlCol="0" anchor="t"/>
          <a:lstStyle/>
          <a:p>
            <a:pPr indent="0" marL="0">
              <a:buNone/>
            </a:pPr>
            <a:r>
              <a:rPr lang="en-US" sz="1050" i="1" dirty="0">
                <a:solidFill>
                  <a:srgbClr val="E7AFAD"/>
                </a:solidFill>
                <a:latin typeface="Calibri" pitchFamily="34" charset="0"/>
                <a:ea typeface="Calibri" pitchFamily="34" charset="-122"/>
                <a:cs typeface="Calibri" pitchFamily="34" charset="-120"/>
              </a:rPr>
              <a:t>Ninguna universidad publica cuánto le retorna esa inversión en matrículas nuevas o en valor de marca. Ese vacío es, en sí mismo, un hallazgo del trabajo.</a:t>
            </a:r>
            <a:endParaRPr lang="en-US" sz="1050" dirty="0"/>
          </a:p>
        </p:txBody>
      </p:sp>
      <p:sp>
        <p:nvSpPr>
          <p:cNvPr id="15" name="Text 13"/>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900" dirty="0">
                <a:solidFill>
                  <a:srgbClr val="E7AFAD"/>
                </a:solidFill>
                <a:latin typeface="Calibri" pitchFamily="34" charset="0"/>
                <a:ea typeface="Calibri" pitchFamily="34" charset="-122"/>
                <a:cs typeface="Calibri" pitchFamily="34" charset="-120"/>
              </a:rPr>
              <a:t>Universidades y selección peruana · Método CRAAP</a:t>
            </a:r>
            <a:endParaRPr lang="en-US" sz="900" dirty="0"/>
          </a:p>
        </p:txBody>
      </p:sp>
      <p:sp>
        <p:nvSpPr>
          <p:cNvPr id="16" name="Text 14"/>
          <p:cNvSpPr txBox="1"/>
          <p:nvPr/>
        </p:nvSpPr>
        <p:spPr>
          <a:xfrm>
            <a:off x="10972800" y="6382512"/>
            <a:ext cx="548640" cy="274320"/>
          </a:xfrm>
          <a:prstGeom prst="rect">
            <a:avLst/>
          </a:prstGeom>
          <a:noFill/>
          <a:ln/>
        </p:spPr>
        <p:txBody>
          <a:bodyPr wrap="square" lIns="0" tIns="0" rIns="0" bIns="0" rtlCol="0" anchor="ctr"/>
          <a:lstStyle/>
          <a:p>
            <a:pPr algn="r" indent="0" marL="0">
              <a:buNone/>
            </a:pPr>
            <a:r>
              <a:rPr lang="en-US" sz="900" dirty="0">
                <a:solidFill>
                  <a:srgbClr val="E7AFAD"/>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7F6"/>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E8B54C"/>
                </a:solidFill>
                <a:latin typeface="Calibri" pitchFamily="34" charset="0"/>
                <a:ea typeface="Calibri" pitchFamily="34" charset="-122"/>
                <a:cs typeface="Calibri" pitchFamily="34" charset="-120"/>
              </a:rPr>
              <a:t>EL OTRO LADO</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t"/>
          <a:lstStyle/>
          <a:p>
            <a:pPr indent="0" marL="0">
              <a:buNone/>
            </a:pPr>
            <a:r>
              <a:rPr lang="en-US" sz="3400" b="1" dirty="0">
                <a:solidFill>
                  <a:srgbClr val="8E0B26"/>
                </a:solidFill>
                <a:latin typeface="Cambria" pitchFamily="34" charset="0"/>
                <a:ea typeface="Cambria" pitchFamily="34" charset="-122"/>
                <a:cs typeface="Cambria" pitchFamily="34" charset="-120"/>
              </a:rPr>
              <a:t>Costos, riesgos y el «no» que también existe</a:t>
            </a:r>
            <a:endParaRPr lang="en-US" sz="3400" dirty="0"/>
          </a:p>
        </p:txBody>
      </p:sp>
      <p:sp>
        <p:nvSpPr>
          <p:cNvPr id="4" name="Shape 2"/>
          <p:cNvSpPr/>
          <p:nvPr/>
        </p:nvSpPr>
        <p:spPr>
          <a:xfrm>
            <a:off x="640080" y="1645920"/>
            <a:ext cx="5257800" cy="4160520"/>
          </a:xfrm>
          <a:prstGeom prst="roundRect">
            <a:avLst>
              <a:gd name="adj" fmla="val 2198"/>
            </a:avLst>
          </a:prstGeom>
          <a:solidFill>
            <a:srgbClr val="F3E4E3"/>
          </a:solidFill>
          <a:ln/>
        </p:spPr>
      </p:sp>
      <p:sp>
        <p:nvSpPr>
          <p:cNvPr id="5" name="Shape 3"/>
          <p:cNvSpPr/>
          <p:nvPr/>
        </p:nvSpPr>
        <p:spPr>
          <a:xfrm>
            <a:off x="1005840" y="1920240"/>
            <a:ext cx="457200" cy="457200"/>
          </a:xfrm>
          <a:prstGeom prst="ellipse">
            <a:avLst/>
          </a:prstGeom>
          <a:solidFill>
            <a:srgbClr val="F6CFCB"/>
          </a:solidFill>
          <a:ln/>
        </p:spPr>
      </p:sp>
      <p:sp>
        <p:nvSpPr>
          <p:cNvPr id="6" name="Text 4"/>
          <p:cNvSpPr txBox="1"/>
          <p:nvPr/>
        </p:nvSpPr>
        <p:spPr>
          <a:xfrm>
            <a:off x="1005840" y="1920240"/>
            <a:ext cx="457200" cy="457200"/>
          </a:xfrm>
          <a:prstGeom prst="rect">
            <a:avLst/>
          </a:prstGeom>
          <a:noFill/>
          <a:ln/>
        </p:spPr>
        <p:txBody>
          <a:bodyPr wrap="square" lIns="0" tIns="0" rIns="0" bIns="0" rtlCol="0" anchor="ctr"/>
          <a:lstStyle/>
          <a:p>
            <a:pPr algn="ctr" indent="0" marL="0">
              <a:buNone/>
            </a:pPr>
            <a:r>
              <a:rPr lang="en-US" sz="1500" b="1" dirty="0">
                <a:solidFill>
                  <a:srgbClr val="8E0B26"/>
                </a:solidFill>
                <a:latin typeface="Cambria" pitchFamily="34" charset="0"/>
                <a:ea typeface="Cambria" pitchFamily="34" charset="-122"/>
                <a:cs typeface="Cambria" pitchFamily="34" charset="-120"/>
              </a:rPr>
              <a:t>$</a:t>
            </a:r>
            <a:endParaRPr lang="en-US" sz="1500" dirty="0"/>
          </a:p>
        </p:txBody>
      </p:sp>
      <p:sp>
        <p:nvSpPr>
          <p:cNvPr id="7" name="Text 5"/>
          <p:cNvSpPr txBox="1"/>
          <p:nvPr/>
        </p:nvSpPr>
        <p:spPr>
          <a:xfrm>
            <a:off x="1600200" y="1947672"/>
            <a:ext cx="3931920" cy="457200"/>
          </a:xfrm>
          <a:prstGeom prst="rect">
            <a:avLst/>
          </a:prstGeom>
          <a:noFill/>
          <a:ln/>
        </p:spPr>
        <p:txBody>
          <a:bodyPr wrap="square" lIns="0" tIns="0" rIns="0" bIns="0" rtlCol="0" anchor="ctr"/>
          <a:lstStyle/>
          <a:p>
            <a:pPr indent="0" marL="0">
              <a:buNone/>
            </a:pPr>
            <a:r>
              <a:rPr lang="en-US" sz="1900" b="1" dirty="0">
                <a:solidFill>
                  <a:srgbClr val="8E0B26"/>
                </a:solidFill>
                <a:latin typeface="Cambria" pitchFamily="34" charset="0"/>
                <a:ea typeface="Cambria" pitchFamily="34" charset="-122"/>
                <a:cs typeface="Cambria" pitchFamily="34" charset="-120"/>
              </a:rPr>
              <a:t>Lo que cuesta</a:t>
            </a:r>
            <a:endParaRPr lang="en-US" sz="1900" dirty="0"/>
          </a:p>
        </p:txBody>
      </p:sp>
      <p:sp>
        <p:nvSpPr>
          <p:cNvPr id="8" name="Text 6"/>
          <p:cNvSpPr txBox="1"/>
          <p:nvPr/>
        </p:nvSpPr>
        <p:spPr>
          <a:xfrm>
            <a:off x="1005840" y="2651760"/>
            <a:ext cx="4526280" cy="660563"/>
          </a:xfrm>
          <a:prstGeom prst="rect">
            <a:avLst/>
          </a:prstGeom>
          <a:noFill/>
          <a:ln/>
        </p:spPr>
        <p:txBody>
          <a:bodyPr wrap="square" lIns="0" tIns="0" rIns="0" bIns="0" rtlCol="0" anchor="t"/>
          <a:lstStyle/>
          <a:p>
            <a:pPr marL="177800" indent="-177800">
              <a:lnSpc>
                <a:spcPts val="1600"/>
              </a:lnSpc>
              <a:buSzPct val="100000"/>
              <a:buChar char="●"/>
            </a:pPr>
            <a:r>
              <a:rPr lang="en-US" sz="1150" dirty="0">
                <a:solidFill>
                  <a:srgbClr val="5A4241"/>
                </a:solidFill>
                <a:latin typeface="Calibri" pitchFamily="34" charset="0"/>
                <a:ea typeface="Calibri" pitchFamily="34" charset="-122"/>
                <a:cs typeface="Calibri" pitchFamily="34" charset="-120"/>
              </a:rPr>
              <a:t>Becas totales y parciales que la universidad financia con recursos propios, sin subsidio estatal directo.</a:t>
            </a:r>
            <a:endParaRPr lang="en-US" sz="1150" dirty="0"/>
          </a:p>
        </p:txBody>
      </p:sp>
      <p:sp>
        <p:nvSpPr>
          <p:cNvPr id="9" name="Text 7"/>
          <p:cNvSpPr txBox="1"/>
          <p:nvPr/>
        </p:nvSpPr>
        <p:spPr>
          <a:xfrm>
            <a:off x="1005840" y="3458627"/>
            <a:ext cx="4526280" cy="660563"/>
          </a:xfrm>
          <a:prstGeom prst="rect">
            <a:avLst/>
          </a:prstGeom>
          <a:noFill/>
          <a:ln/>
        </p:spPr>
        <p:txBody>
          <a:bodyPr wrap="square" lIns="0" tIns="0" rIns="0" bIns="0" rtlCol="0" anchor="t"/>
          <a:lstStyle/>
          <a:p>
            <a:pPr marL="177800" indent="-177800">
              <a:lnSpc>
                <a:spcPts val="1600"/>
              </a:lnSpc>
              <a:buSzPct val="100000"/>
              <a:buChar char="●"/>
            </a:pPr>
            <a:r>
              <a:rPr lang="en-US" sz="1150" dirty="0">
                <a:solidFill>
                  <a:srgbClr val="5A4241"/>
                </a:solidFill>
                <a:latin typeface="Calibri" pitchFamily="34" charset="0"/>
                <a:ea typeface="Calibri" pitchFamily="34" charset="-122"/>
                <a:cs typeface="Calibri" pitchFamily="34" charset="-120"/>
              </a:rPr>
              <a:t>Infraestructura, equipamiento, dirección técnica y personal de apoyo acordes al nivel de alta competencia.</a:t>
            </a:r>
            <a:endParaRPr lang="en-US" sz="1150" dirty="0"/>
          </a:p>
        </p:txBody>
      </p:sp>
      <p:sp>
        <p:nvSpPr>
          <p:cNvPr id="10" name="Text 8"/>
          <p:cNvSpPr txBox="1"/>
          <p:nvPr/>
        </p:nvSpPr>
        <p:spPr>
          <a:xfrm>
            <a:off x="1005840" y="4265493"/>
            <a:ext cx="4526280" cy="458663"/>
          </a:xfrm>
          <a:prstGeom prst="rect">
            <a:avLst/>
          </a:prstGeom>
          <a:noFill/>
          <a:ln/>
        </p:spPr>
        <p:txBody>
          <a:bodyPr wrap="square" lIns="0" tIns="0" rIns="0" bIns="0" rtlCol="0" anchor="t"/>
          <a:lstStyle/>
          <a:p>
            <a:pPr marL="177800" indent="-177800">
              <a:lnSpc>
                <a:spcPts val="1600"/>
              </a:lnSpc>
              <a:buSzPct val="100000"/>
              <a:buChar char="●"/>
            </a:pPr>
            <a:r>
              <a:rPr lang="en-US" sz="1150" dirty="0">
                <a:solidFill>
                  <a:srgbClr val="5A4241"/>
                </a:solidFill>
                <a:latin typeface="Calibri" pitchFamily="34" charset="0"/>
                <a:ea typeface="Calibri" pitchFamily="34" charset="-122"/>
                <a:cs typeface="Calibri" pitchFamily="34" charset="-120"/>
              </a:rPr>
              <a:t>Horas de tutoría y de reprogramación de evaluaciones, que recaen sobre los docentes.</a:t>
            </a:r>
            <a:endParaRPr lang="en-US" sz="1150" dirty="0"/>
          </a:p>
        </p:txBody>
      </p:sp>
      <p:sp>
        <p:nvSpPr>
          <p:cNvPr id="11" name="Text 9"/>
          <p:cNvSpPr txBox="1"/>
          <p:nvPr/>
        </p:nvSpPr>
        <p:spPr>
          <a:xfrm>
            <a:off x="1005840" y="4870460"/>
            <a:ext cx="4526280" cy="660563"/>
          </a:xfrm>
          <a:prstGeom prst="rect">
            <a:avLst/>
          </a:prstGeom>
          <a:noFill/>
          <a:ln/>
        </p:spPr>
        <p:txBody>
          <a:bodyPr wrap="square" lIns="0" tIns="0" rIns="0" bIns="0" rtlCol="0" anchor="t"/>
          <a:lstStyle/>
          <a:p>
            <a:pPr marL="177800" indent="-177800">
              <a:lnSpc>
                <a:spcPts val="1600"/>
              </a:lnSpc>
              <a:buSzPct val="100000"/>
              <a:buChar char="●"/>
            </a:pPr>
            <a:r>
              <a:rPr lang="en-US" sz="1150" dirty="0">
                <a:solidFill>
                  <a:srgbClr val="5A4241"/>
                </a:solidFill>
                <a:latin typeface="Calibri" pitchFamily="34" charset="0"/>
                <a:ea typeface="Calibri" pitchFamily="34" charset="-122"/>
                <a:cs typeface="Calibri" pitchFamily="34" charset="-120"/>
              </a:rPr>
              <a:t>Gestión administrativa de viajes, concentraciones y ausencias prolongadas durante el ciclo lectivo.</a:t>
            </a:r>
            <a:endParaRPr lang="en-US" sz="1150" dirty="0"/>
          </a:p>
        </p:txBody>
      </p:sp>
      <p:sp>
        <p:nvSpPr>
          <p:cNvPr id="12" name="Shape 10"/>
          <p:cNvSpPr/>
          <p:nvPr/>
        </p:nvSpPr>
        <p:spPr>
          <a:xfrm>
            <a:off x="6263640" y="1645920"/>
            <a:ext cx="5257800" cy="4160520"/>
          </a:xfrm>
          <a:prstGeom prst="roundRect">
            <a:avLst>
              <a:gd name="adj" fmla="val 2198"/>
            </a:avLst>
          </a:prstGeom>
          <a:solidFill>
            <a:srgbClr val="8E0B26"/>
          </a:solidFill>
          <a:ln/>
        </p:spPr>
      </p:sp>
      <p:sp>
        <p:nvSpPr>
          <p:cNvPr id="13" name="Shape 11"/>
          <p:cNvSpPr/>
          <p:nvPr/>
        </p:nvSpPr>
        <p:spPr>
          <a:xfrm>
            <a:off x="6629400" y="1920240"/>
            <a:ext cx="457200" cy="457200"/>
          </a:xfrm>
          <a:prstGeom prst="ellipse">
            <a:avLst/>
          </a:prstGeom>
          <a:solidFill>
            <a:srgbClr val="E8B54C"/>
          </a:solidFill>
          <a:ln/>
        </p:spPr>
      </p:sp>
      <p:sp>
        <p:nvSpPr>
          <p:cNvPr id="14" name="Text 12"/>
          <p:cNvSpPr txBox="1"/>
          <p:nvPr/>
        </p:nvSpPr>
        <p:spPr>
          <a:xfrm>
            <a:off x="6629400" y="1920240"/>
            <a:ext cx="457200" cy="457200"/>
          </a:xfrm>
          <a:prstGeom prst="rect">
            <a:avLst/>
          </a:prstGeom>
          <a:noFill/>
          <a:ln/>
        </p:spPr>
        <p:txBody>
          <a:bodyPr wrap="square" lIns="0" tIns="0" rIns="0" bIns="0" rtlCol="0" anchor="ctr"/>
          <a:lstStyle/>
          <a:p>
            <a:pPr algn="ctr" indent="0" marL="0">
              <a:buNone/>
            </a:pPr>
            <a:r>
              <a:rPr lang="en-US" sz="1500" b="1" dirty="0">
                <a:solidFill>
                  <a:srgbClr val="8E0B26"/>
                </a:solidFill>
                <a:latin typeface="Cambria" pitchFamily="34" charset="0"/>
                <a:ea typeface="Cambria" pitchFamily="34" charset="-122"/>
                <a:cs typeface="Cambria" pitchFamily="34" charset="-120"/>
              </a:rPr>
              <a:t>!</a:t>
            </a:r>
            <a:endParaRPr lang="en-US" sz="1500" dirty="0"/>
          </a:p>
        </p:txBody>
      </p:sp>
      <p:sp>
        <p:nvSpPr>
          <p:cNvPr id="15" name="Text 13"/>
          <p:cNvSpPr txBox="1"/>
          <p:nvPr/>
        </p:nvSpPr>
        <p:spPr>
          <a:xfrm>
            <a:off x="7223760" y="1947672"/>
            <a:ext cx="3931920" cy="457200"/>
          </a:xfrm>
          <a:prstGeom prst="rect">
            <a:avLst/>
          </a:prstGeom>
          <a:noFill/>
          <a:ln/>
        </p:spPr>
        <p:txBody>
          <a:bodyPr wrap="square" lIns="0" tIns="0" rIns="0" bIns="0" rtlCol="0" anchor="ctr"/>
          <a:lstStyle/>
          <a:p>
            <a:pPr indent="0" marL="0">
              <a:buNone/>
            </a:pPr>
            <a:r>
              <a:rPr lang="en-US" sz="1900" b="1" dirty="0">
                <a:solidFill>
                  <a:srgbClr val="FDF7F6"/>
                </a:solidFill>
                <a:latin typeface="Cambria" pitchFamily="34" charset="0"/>
                <a:ea typeface="Cambria" pitchFamily="34" charset="-122"/>
                <a:cs typeface="Cambria" pitchFamily="34" charset="-120"/>
              </a:rPr>
              <a:t>Cuándo no compensa</a:t>
            </a:r>
            <a:endParaRPr lang="en-US" sz="1900" dirty="0"/>
          </a:p>
        </p:txBody>
      </p:sp>
      <p:sp>
        <p:nvSpPr>
          <p:cNvPr id="16" name="Text 14"/>
          <p:cNvSpPr txBox="1"/>
          <p:nvPr/>
        </p:nvSpPr>
        <p:spPr>
          <a:xfrm>
            <a:off x="6629400" y="2651760"/>
            <a:ext cx="4526280" cy="607893"/>
          </a:xfrm>
          <a:prstGeom prst="rect">
            <a:avLst/>
          </a:prstGeom>
          <a:noFill/>
          <a:ln/>
        </p:spPr>
        <p:txBody>
          <a:bodyPr wrap="square" lIns="0" tIns="0" rIns="0" bIns="0" rtlCol="0" anchor="t"/>
          <a:lstStyle/>
          <a:p>
            <a:pPr marL="177800" indent="-177800">
              <a:lnSpc>
                <a:spcPts val="1400"/>
              </a:lnSpc>
              <a:buSzPct val="100000"/>
              <a:buChar char="●"/>
            </a:pPr>
            <a:r>
              <a:rPr lang="en-US" sz="1050" dirty="0">
                <a:solidFill>
                  <a:srgbClr val="F6CFCB"/>
                </a:solidFill>
                <a:latin typeface="Calibri" pitchFamily="34" charset="0"/>
                <a:ea typeface="Calibri" pitchFamily="34" charset="-122"/>
                <a:cs typeface="Calibri" pitchFamily="34" charset="-120"/>
              </a:rPr>
              <a:t>Cuando el deportista no llega a competir o a destacar: el gasto se ejecuta igual y el retorno de imagen no aparece.</a:t>
            </a:r>
            <a:endParaRPr lang="en-US" sz="1050" dirty="0"/>
          </a:p>
        </p:txBody>
      </p:sp>
      <p:sp>
        <p:nvSpPr>
          <p:cNvPr id="17" name="Text 15"/>
          <p:cNvSpPr txBox="1"/>
          <p:nvPr/>
        </p:nvSpPr>
        <p:spPr>
          <a:xfrm>
            <a:off x="6629400" y="3405957"/>
            <a:ext cx="4526280" cy="607893"/>
          </a:xfrm>
          <a:prstGeom prst="rect">
            <a:avLst/>
          </a:prstGeom>
          <a:noFill/>
          <a:ln/>
        </p:spPr>
        <p:txBody>
          <a:bodyPr wrap="square" lIns="0" tIns="0" rIns="0" bIns="0" rtlCol="0" anchor="t"/>
          <a:lstStyle/>
          <a:p>
            <a:pPr marL="177800" indent="-177800">
              <a:lnSpc>
                <a:spcPts val="1400"/>
              </a:lnSpc>
              <a:buSzPct val="100000"/>
              <a:buChar char="●"/>
            </a:pPr>
            <a:r>
              <a:rPr lang="en-US" sz="1050" dirty="0">
                <a:solidFill>
                  <a:srgbClr val="F6CFCB"/>
                </a:solidFill>
                <a:latin typeface="Calibri" pitchFamily="34" charset="0"/>
                <a:ea typeface="Calibri" pitchFamily="34" charset="-122"/>
                <a:cs typeface="Calibri" pitchFamily="34" charset="-120"/>
              </a:rPr>
              <a:t>Cuando la universidad beca pero no acompaña: el estudiante abandona o alarga su carrera y el resultado es una mala historia, no una buena.</a:t>
            </a:r>
            <a:endParaRPr lang="en-US" sz="1050" dirty="0"/>
          </a:p>
        </p:txBody>
      </p:sp>
      <p:sp>
        <p:nvSpPr>
          <p:cNvPr id="18" name="Text 16"/>
          <p:cNvSpPr txBox="1"/>
          <p:nvPr/>
        </p:nvSpPr>
        <p:spPr>
          <a:xfrm>
            <a:off x="6629400" y="4160154"/>
            <a:ext cx="4526280" cy="607893"/>
          </a:xfrm>
          <a:prstGeom prst="rect">
            <a:avLst/>
          </a:prstGeom>
          <a:noFill/>
          <a:ln/>
        </p:spPr>
        <p:txBody>
          <a:bodyPr wrap="square" lIns="0" tIns="0" rIns="0" bIns="0" rtlCol="0" anchor="t"/>
          <a:lstStyle/>
          <a:p>
            <a:pPr marL="177800" indent="-177800">
              <a:lnSpc>
                <a:spcPts val="1400"/>
              </a:lnSpc>
              <a:buSzPct val="100000"/>
              <a:buChar char="●"/>
            </a:pPr>
            <a:r>
              <a:rPr lang="en-US" sz="1050" dirty="0">
                <a:solidFill>
                  <a:srgbClr val="F6CFCB"/>
                </a:solidFill>
                <a:latin typeface="Calibri" pitchFamily="34" charset="0"/>
                <a:ea typeface="Calibri" pitchFamily="34" charset="-122"/>
                <a:cs typeface="Calibri" pitchFamily="34" charset="-120"/>
              </a:rPr>
              <a:t>Cuando la visibilidad depende de un solo nombre: si ese deportista se retira o cambia de casa de estudios, el programa se queda sin relato.</a:t>
            </a:r>
            <a:endParaRPr lang="en-US" sz="1050" dirty="0"/>
          </a:p>
        </p:txBody>
      </p:sp>
      <p:sp>
        <p:nvSpPr>
          <p:cNvPr id="19" name="Text 17"/>
          <p:cNvSpPr txBox="1"/>
          <p:nvPr/>
        </p:nvSpPr>
        <p:spPr>
          <a:xfrm>
            <a:off x="6629400" y="4914351"/>
            <a:ext cx="4526280" cy="607893"/>
          </a:xfrm>
          <a:prstGeom prst="rect">
            <a:avLst/>
          </a:prstGeom>
          <a:noFill/>
          <a:ln/>
        </p:spPr>
        <p:txBody>
          <a:bodyPr wrap="square" lIns="0" tIns="0" rIns="0" bIns="0" rtlCol="0" anchor="t"/>
          <a:lstStyle/>
          <a:p>
            <a:pPr marL="177800" indent="-177800">
              <a:lnSpc>
                <a:spcPts val="1400"/>
              </a:lnSpc>
              <a:buSzPct val="100000"/>
              <a:buChar char="●"/>
            </a:pPr>
            <a:r>
              <a:rPr lang="en-US" sz="1050" dirty="0">
                <a:solidFill>
                  <a:srgbClr val="F6CFCB"/>
                </a:solidFill>
                <a:latin typeface="Calibri" pitchFamily="34" charset="0"/>
                <a:ea typeface="Calibri" pitchFamily="34" charset="-122"/>
                <a:cs typeface="Calibri" pitchFamily="34" charset="-120"/>
              </a:rPr>
              <a:t>Cuando el programa se arma solo para la foto: incumple la finalidad formativa del artículo 131 y no sostiene el licenciamiento.</a:t>
            </a:r>
            <a:endParaRPr lang="en-US" sz="1050" dirty="0"/>
          </a:p>
        </p:txBody>
      </p:sp>
      <p:sp>
        <p:nvSpPr>
          <p:cNvPr id="20" name="Text 18"/>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900" dirty="0">
                <a:solidFill>
                  <a:srgbClr val="5A4241"/>
                </a:solidFill>
                <a:latin typeface="Calibri" pitchFamily="34" charset="0"/>
                <a:ea typeface="Calibri" pitchFamily="34" charset="-122"/>
                <a:cs typeface="Calibri" pitchFamily="34" charset="-120"/>
              </a:rPr>
              <a:t>Universidades y selección peruana · Método CRAAP</a:t>
            </a:r>
            <a:endParaRPr lang="en-US" sz="900" dirty="0"/>
          </a:p>
        </p:txBody>
      </p:sp>
      <p:sp>
        <p:nvSpPr>
          <p:cNvPr id="21" name="Text 19"/>
          <p:cNvSpPr txBox="1"/>
          <p:nvPr/>
        </p:nvSpPr>
        <p:spPr>
          <a:xfrm>
            <a:off x="10972800" y="6382512"/>
            <a:ext cx="548640" cy="274320"/>
          </a:xfrm>
          <a:prstGeom prst="rect">
            <a:avLst/>
          </a:prstGeom>
          <a:noFill/>
          <a:ln/>
        </p:spPr>
        <p:txBody>
          <a:bodyPr wrap="square" lIns="0" tIns="0" rIns="0" bIns="0" rtlCol="0" anchor="ctr"/>
          <a:lstStyle/>
          <a:p>
            <a:pPr algn="r" indent="0" marL="0">
              <a:buNone/>
            </a:pPr>
            <a:r>
              <a:rPr lang="en-US" sz="900" dirty="0">
                <a:solidFill>
                  <a:srgbClr val="5A4241"/>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7F6"/>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E8B54C"/>
                </a:solidFill>
                <a:latin typeface="Calibri" pitchFamily="34" charset="0"/>
                <a:ea typeface="Calibri" pitchFamily="34" charset="-122"/>
                <a:cs typeface="Calibri" pitchFamily="34" charset="-120"/>
              </a:rPr>
              <a:t>CORPUS DOCUMENTAL</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t"/>
          <a:lstStyle/>
          <a:p>
            <a:pPr indent="0" marL="0">
              <a:buNone/>
            </a:pPr>
            <a:r>
              <a:rPr lang="en-US" sz="3400" b="1" dirty="0">
                <a:solidFill>
                  <a:srgbClr val="8E0B26"/>
                </a:solidFill>
                <a:latin typeface="Cambria" pitchFamily="34" charset="0"/>
                <a:ea typeface="Cambria" pitchFamily="34" charset="-122"/>
                <a:cs typeface="Cambria" pitchFamily="34" charset="-120"/>
              </a:rPr>
              <a:t>Las cuatro fuentes que se evaluaron</a:t>
            </a:r>
            <a:endParaRPr lang="en-US" sz="3400" dirty="0"/>
          </a:p>
        </p:txBody>
      </p:sp>
      <p:sp>
        <p:nvSpPr>
          <p:cNvPr id="4" name="Text 2"/>
          <p:cNvSpPr txBox="1"/>
          <p:nvPr/>
        </p:nvSpPr>
        <p:spPr>
          <a:xfrm>
            <a:off x="640080" y="1463040"/>
            <a:ext cx="10515600" cy="502920"/>
          </a:xfrm>
          <a:prstGeom prst="rect">
            <a:avLst/>
          </a:prstGeom>
          <a:noFill/>
          <a:ln/>
        </p:spPr>
        <p:txBody>
          <a:bodyPr wrap="square" lIns="0" tIns="0" rIns="0" bIns="0" rtlCol="0" anchor="t"/>
          <a:lstStyle/>
          <a:p>
            <a:pPr indent="0" marL="0">
              <a:lnSpc>
                <a:spcPts val="2000"/>
              </a:lnSpc>
              <a:buNone/>
            </a:pPr>
            <a:r>
              <a:rPr lang="en-US" sz="1400" dirty="0">
                <a:solidFill>
                  <a:srgbClr val="5A4241"/>
                </a:solidFill>
                <a:latin typeface="Calibri" pitchFamily="34" charset="0"/>
                <a:ea typeface="Calibri" pitchFamily="34" charset="-122"/>
                <a:cs typeface="Calibri" pitchFamily="34" charset="-120"/>
              </a:rPr>
              <a:t>Dos normas legales publicadas por el Congreso y dos páginas institucionales de universidades privadas. La comparación entre unas y otras es parte del ejercicio.</a:t>
            </a:r>
            <a:endParaRPr lang="en-US" sz="1400" dirty="0"/>
          </a:p>
        </p:txBody>
      </p:sp>
      <p:sp>
        <p:nvSpPr>
          <p:cNvPr id="5" name="Shape 3"/>
          <p:cNvSpPr/>
          <p:nvPr/>
        </p:nvSpPr>
        <p:spPr>
          <a:xfrm>
            <a:off x="640080" y="2148840"/>
            <a:ext cx="2514600" cy="3931920"/>
          </a:xfrm>
          <a:prstGeom prst="roundRect">
            <a:avLst>
              <a:gd name="adj" fmla="val 3636"/>
            </a:avLst>
          </a:prstGeom>
          <a:solidFill>
            <a:srgbClr val="F3E4E3"/>
          </a:solidFill>
          <a:ln/>
        </p:spPr>
      </p:sp>
      <p:sp>
        <p:nvSpPr>
          <p:cNvPr id="6" name="Shape 4"/>
          <p:cNvSpPr/>
          <p:nvPr/>
        </p:nvSpPr>
        <p:spPr>
          <a:xfrm>
            <a:off x="932688" y="2423160"/>
            <a:ext cx="457200" cy="457200"/>
          </a:xfrm>
          <a:prstGeom prst="ellipse">
            <a:avLst/>
          </a:prstGeom>
          <a:solidFill>
            <a:srgbClr val="E8B54C"/>
          </a:solidFill>
          <a:ln/>
        </p:spPr>
      </p:sp>
      <p:sp>
        <p:nvSpPr>
          <p:cNvPr id="7" name="Text 5"/>
          <p:cNvSpPr txBox="1"/>
          <p:nvPr/>
        </p:nvSpPr>
        <p:spPr>
          <a:xfrm>
            <a:off x="932688" y="2423160"/>
            <a:ext cx="457200" cy="457200"/>
          </a:xfrm>
          <a:prstGeom prst="rect">
            <a:avLst/>
          </a:prstGeom>
          <a:noFill/>
          <a:ln/>
        </p:spPr>
        <p:txBody>
          <a:bodyPr wrap="square" lIns="0" tIns="0" rIns="0" bIns="0" rtlCol="0" anchor="ctr"/>
          <a:lstStyle/>
          <a:p>
            <a:pPr algn="ctr" indent="0" marL="0">
              <a:buNone/>
            </a:pPr>
            <a:r>
              <a:rPr lang="en-US" sz="1500" b="1" dirty="0">
                <a:solidFill>
                  <a:srgbClr val="8E0B26"/>
                </a:solidFill>
                <a:latin typeface="Cambria" pitchFamily="34" charset="0"/>
                <a:ea typeface="Cambria" pitchFamily="34" charset="-122"/>
                <a:cs typeface="Cambria" pitchFamily="34" charset="-120"/>
              </a:rPr>
              <a:t>F1</a:t>
            </a:r>
            <a:endParaRPr lang="en-US" sz="1500" dirty="0"/>
          </a:p>
        </p:txBody>
      </p:sp>
      <p:sp>
        <p:nvSpPr>
          <p:cNvPr id="8" name="Text 6"/>
          <p:cNvSpPr txBox="1"/>
          <p:nvPr/>
        </p:nvSpPr>
        <p:spPr>
          <a:xfrm>
            <a:off x="932688" y="3017520"/>
            <a:ext cx="1929384" cy="749808"/>
          </a:xfrm>
          <a:prstGeom prst="rect">
            <a:avLst/>
          </a:prstGeom>
          <a:noFill/>
          <a:ln/>
        </p:spPr>
        <p:txBody>
          <a:bodyPr wrap="square" lIns="0" tIns="0" rIns="0" bIns="0" rtlCol="0" anchor="ctr"/>
          <a:lstStyle/>
          <a:p>
            <a:pPr indent="0" marL="0">
              <a:buNone/>
            </a:pPr>
            <a:r>
              <a:rPr lang="en-US" sz="1600" b="1" dirty="0">
                <a:solidFill>
                  <a:srgbClr val="8E0B26"/>
                </a:solidFill>
                <a:latin typeface="Cambria" pitchFamily="34" charset="0"/>
                <a:ea typeface="Cambria" pitchFamily="34" charset="-122"/>
                <a:cs typeface="Cambria" pitchFamily="34" charset="-120"/>
              </a:rPr>
              <a:t>Ley 30220 (2014)</a:t>
            </a:r>
            <a:endParaRPr lang="en-US" sz="1600" dirty="0"/>
          </a:p>
        </p:txBody>
      </p:sp>
      <p:sp>
        <p:nvSpPr>
          <p:cNvPr id="9" name="Text 7"/>
          <p:cNvSpPr txBox="1"/>
          <p:nvPr/>
        </p:nvSpPr>
        <p:spPr>
          <a:xfrm>
            <a:off x="932688" y="3858768"/>
            <a:ext cx="1929384" cy="2020824"/>
          </a:xfrm>
          <a:prstGeom prst="rect">
            <a:avLst/>
          </a:prstGeom>
          <a:noFill/>
          <a:ln/>
        </p:spPr>
        <p:txBody>
          <a:bodyPr wrap="square" lIns="0" tIns="0" rIns="0" bIns="0" rtlCol="0" anchor="t"/>
          <a:lstStyle/>
          <a:p>
            <a:pPr indent="0" marL="0">
              <a:lnSpc>
                <a:spcPts val="1600"/>
              </a:lnSpc>
              <a:buNone/>
            </a:pPr>
            <a:r>
              <a:rPr lang="en-US" sz="1200" dirty="0">
                <a:solidFill>
                  <a:srgbClr val="5A4241"/>
                </a:solidFill>
                <a:latin typeface="Calibri" pitchFamily="34" charset="0"/>
                <a:ea typeface="Calibri" pitchFamily="34" charset="-122"/>
                <a:cs typeface="Calibri" pitchFamily="34" charset="-120"/>
              </a:rPr>
              <a:t>Ley Universitaria. El artículo 131 es la base normativa de todo el trabajo.</a:t>
            </a:r>
            <a:endParaRPr lang="en-US" sz="1200" dirty="0"/>
          </a:p>
        </p:txBody>
      </p:sp>
      <p:sp>
        <p:nvSpPr>
          <p:cNvPr id="10" name="Shape 8"/>
          <p:cNvSpPr/>
          <p:nvPr/>
        </p:nvSpPr>
        <p:spPr>
          <a:xfrm>
            <a:off x="3429000" y="2148840"/>
            <a:ext cx="2514600" cy="3931920"/>
          </a:xfrm>
          <a:prstGeom prst="roundRect">
            <a:avLst>
              <a:gd name="adj" fmla="val 3636"/>
            </a:avLst>
          </a:prstGeom>
          <a:solidFill>
            <a:srgbClr val="F3E4E3"/>
          </a:solidFill>
          <a:ln/>
        </p:spPr>
      </p:sp>
      <p:sp>
        <p:nvSpPr>
          <p:cNvPr id="11" name="Shape 9"/>
          <p:cNvSpPr/>
          <p:nvPr/>
        </p:nvSpPr>
        <p:spPr>
          <a:xfrm>
            <a:off x="3721608" y="2423160"/>
            <a:ext cx="457200" cy="457200"/>
          </a:xfrm>
          <a:prstGeom prst="ellipse">
            <a:avLst/>
          </a:prstGeom>
          <a:solidFill>
            <a:srgbClr val="E8B54C"/>
          </a:solidFill>
          <a:ln/>
        </p:spPr>
      </p:sp>
      <p:sp>
        <p:nvSpPr>
          <p:cNvPr id="12" name="Text 10"/>
          <p:cNvSpPr txBox="1"/>
          <p:nvPr/>
        </p:nvSpPr>
        <p:spPr>
          <a:xfrm>
            <a:off x="3721608" y="2423160"/>
            <a:ext cx="457200" cy="457200"/>
          </a:xfrm>
          <a:prstGeom prst="rect">
            <a:avLst/>
          </a:prstGeom>
          <a:noFill/>
          <a:ln/>
        </p:spPr>
        <p:txBody>
          <a:bodyPr wrap="square" lIns="0" tIns="0" rIns="0" bIns="0" rtlCol="0" anchor="ctr"/>
          <a:lstStyle/>
          <a:p>
            <a:pPr algn="ctr" indent="0" marL="0">
              <a:buNone/>
            </a:pPr>
            <a:r>
              <a:rPr lang="en-US" sz="1500" b="1" dirty="0">
                <a:solidFill>
                  <a:srgbClr val="8E0B26"/>
                </a:solidFill>
                <a:latin typeface="Cambria" pitchFamily="34" charset="0"/>
                <a:ea typeface="Cambria" pitchFamily="34" charset="-122"/>
                <a:cs typeface="Cambria" pitchFamily="34" charset="-120"/>
              </a:rPr>
              <a:t>F2</a:t>
            </a:r>
            <a:endParaRPr lang="en-US" sz="1500" dirty="0"/>
          </a:p>
        </p:txBody>
      </p:sp>
      <p:sp>
        <p:nvSpPr>
          <p:cNvPr id="13" name="Text 11"/>
          <p:cNvSpPr txBox="1"/>
          <p:nvPr/>
        </p:nvSpPr>
        <p:spPr>
          <a:xfrm>
            <a:off x="3721608" y="3017520"/>
            <a:ext cx="1929384" cy="749808"/>
          </a:xfrm>
          <a:prstGeom prst="rect">
            <a:avLst/>
          </a:prstGeom>
          <a:noFill/>
          <a:ln/>
        </p:spPr>
        <p:txBody>
          <a:bodyPr wrap="square" lIns="0" tIns="0" rIns="0" bIns="0" rtlCol="0" anchor="ctr"/>
          <a:lstStyle/>
          <a:p>
            <a:pPr indent="0" marL="0">
              <a:buNone/>
            </a:pPr>
            <a:r>
              <a:rPr lang="en-US" sz="1600" b="1" dirty="0">
                <a:solidFill>
                  <a:srgbClr val="8E0B26"/>
                </a:solidFill>
                <a:latin typeface="Cambria" pitchFamily="34" charset="0"/>
                <a:ea typeface="Cambria" pitchFamily="34" charset="-122"/>
                <a:cs typeface="Cambria" pitchFamily="34" charset="-120"/>
              </a:rPr>
              <a:t>Ley 30476 (2016)</a:t>
            </a:r>
            <a:endParaRPr lang="en-US" sz="1600" dirty="0"/>
          </a:p>
        </p:txBody>
      </p:sp>
      <p:sp>
        <p:nvSpPr>
          <p:cNvPr id="14" name="Text 12"/>
          <p:cNvSpPr txBox="1"/>
          <p:nvPr/>
        </p:nvSpPr>
        <p:spPr>
          <a:xfrm>
            <a:off x="3721608" y="3858768"/>
            <a:ext cx="1929384" cy="2020824"/>
          </a:xfrm>
          <a:prstGeom prst="rect">
            <a:avLst/>
          </a:prstGeom>
          <a:noFill/>
          <a:ln/>
        </p:spPr>
        <p:txBody>
          <a:bodyPr wrap="square" lIns="0" tIns="0" rIns="0" bIns="0" rtlCol="0" anchor="t"/>
          <a:lstStyle/>
          <a:p>
            <a:pPr indent="0" marL="0">
              <a:lnSpc>
                <a:spcPts val="1600"/>
              </a:lnSpc>
              <a:buNone/>
            </a:pPr>
            <a:r>
              <a:rPr lang="en-US" sz="1200" dirty="0">
                <a:solidFill>
                  <a:srgbClr val="5A4241"/>
                </a:solidFill>
                <a:latin typeface="Calibri" pitchFamily="34" charset="0"/>
                <a:ea typeface="Calibri" pitchFamily="34" charset="-122"/>
                <a:cs typeface="Calibri" pitchFamily="34" charset="-120"/>
              </a:rPr>
              <a:t>Regula el PRODAC en detalle: becas, tutoría, disciplinas mínimas y derechos del estudiante.</a:t>
            </a:r>
            <a:endParaRPr lang="en-US" sz="1200" dirty="0"/>
          </a:p>
        </p:txBody>
      </p:sp>
      <p:sp>
        <p:nvSpPr>
          <p:cNvPr id="15" name="Shape 13"/>
          <p:cNvSpPr/>
          <p:nvPr/>
        </p:nvSpPr>
        <p:spPr>
          <a:xfrm>
            <a:off x="6217920" y="2148840"/>
            <a:ext cx="2514600" cy="3931920"/>
          </a:xfrm>
          <a:prstGeom prst="roundRect">
            <a:avLst>
              <a:gd name="adj" fmla="val 3636"/>
            </a:avLst>
          </a:prstGeom>
          <a:solidFill>
            <a:srgbClr val="F3E4E3"/>
          </a:solidFill>
          <a:ln/>
        </p:spPr>
      </p:sp>
      <p:sp>
        <p:nvSpPr>
          <p:cNvPr id="16" name="Shape 14"/>
          <p:cNvSpPr/>
          <p:nvPr/>
        </p:nvSpPr>
        <p:spPr>
          <a:xfrm>
            <a:off x="6510528" y="2423160"/>
            <a:ext cx="457200" cy="457200"/>
          </a:xfrm>
          <a:prstGeom prst="ellipse">
            <a:avLst/>
          </a:prstGeom>
          <a:solidFill>
            <a:srgbClr val="F6CFCB"/>
          </a:solidFill>
          <a:ln/>
        </p:spPr>
      </p:sp>
      <p:sp>
        <p:nvSpPr>
          <p:cNvPr id="17" name="Text 15"/>
          <p:cNvSpPr txBox="1"/>
          <p:nvPr/>
        </p:nvSpPr>
        <p:spPr>
          <a:xfrm>
            <a:off x="6510528" y="2423160"/>
            <a:ext cx="457200" cy="457200"/>
          </a:xfrm>
          <a:prstGeom prst="rect">
            <a:avLst/>
          </a:prstGeom>
          <a:noFill/>
          <a:ln/>
        </p:spPr>
        <p:txBody>
          <a:bodyPr wrap="square" lIns="0" tIns="0" rIns="0" bIns="0" rtlCol="0" anchor="ctr"/>
          <a:lstStyle/>
          <a:p>
            <a:pPr algn="ctr" indent="0" marL="0">
              <a:buNone/>
            </a:pPr>
            <a:r>
              <a:rPr lang="en-US" sz="1500" b="1" dirty="0">
                <a:solidFill>
                  <a:srgbClr val="8E0B26"/>
                </a:solidFill>
                <a:latin typeface="Cambria" pitchFamily="34" charset="0"/>
                <a:ea typeface="Cambria" pitchFamily="34" charset="-122"/>
                <a:cs typeface="Cambria" pitchFamily="34" charset="-120"/>
              </a:rPr>
              <a:t>F3</a:t>
            </a:r>
            <a:endParaRPr lang="en-US" sz="1500" dirty="0"/>
          </a:p>
        </p:txBody>
      </p:sp>
      <p:sp>
        <p:nvSpPr>
          <p:cNvPr id="18" name="Text 16"/>
          <p:cNvSpPr txBox="1"/>
          <p:nvPr/>
        </p:nvSpPr>
        <p:spPr>
          <a:xfrm>
            <a:off x="6510528" y="3017520"/>
            <a:ext cx="1929384" cy="512064"/>
          </a:xfrm>
          <a:prstGeom prst="rect">
            <a:avLst/>
          </a:prstGeom>
          <a:noFill/>
          <a:ln/>
        </p:spPr>
        <p:txBody>
          <a:bodyPr wrap="square" lIns="0" tIns="0" rIns="0" bIns="0" rtlCol="0" anchor="ctr"/>
          <a:lstStyle/>
          <a:p>
            <a:pPr indent="0" marL="0">
              <a:buNone/>
            </a:pPr>
            <a:r>
              <a:rPr lang="en-US" sz="1600" b="1" dirty="0">
                <a:solidFill>
                  <a:srgbClr val="8E0B26"/>
                </a:solidFill>
                <a:latin typeface="Cambria" pitchFamily="34" charset="0"/>
                <a:ea typeface="Cambria" pitchFamily="34" charset="-122"/>
                <a:cs typeface="Cambria" pitchFamily="34" charset="-120"/>
              </a:rPr>
              <a:t>Deportes UPC</a:t>
            </a:r>
            <a:endParaRPr lang="en-US" sz="1600" dirty="0"/>
          </a:p>
        </p:txBody>
      </p:sp>
      <p:sp>
        <p:nvSpPr>
          <p:cNvPr id="19" name="Text 17"/>
          <p:cNvSpPr txBox="1"/>
          <p:nvPr/>
        </p:nvSpPr>
        <p:spPr>
          <a:xfrm>
            <a:off x="6510528" y="3621024"/>
            <a:ext cx="1929384" cy="2258568"/>
          </a:xfrm>
          <a:prstGeom prst="rect">
            <a:avLst/>
          </a:prstGeom>
          <a:noFill/>
          <a:ln/>
        </p:spPr>
        <p:txBody>
          <a:bodyPr wrap="square" lIns="0" tIns="0" rIns="0" bIns="0" rtlCol="0" anchor="t"/>
          <a:lstStyle/>
          <a:p>
            <a:pPr indent="0" marL="0">
              <a:lnSpc>
                <a:spcPts val="1600"/>
              </a:lnSpc>
              <a:buNone/>
            </a:pPr>
            <a:r>
              <a:rPr lang="en-US" sz="1200" dirty="0">
                <a:solidFill>
                  <a:srgbClr val="5A4241"/>
                </a:solidFill>
                <a:latin typeface="Calibri" pitchFamily="34" charset="0"/>
                <a:ea typeface="Calibri" pitchFamily="34" charset="-122"/>
                <a:cs typeface="Calibri" pitchFamily="34" charset="-120"/>
              </a:rPr>
              <a:t>Página institucional con la cifra de deportistas calificados y la descripción de su programa de apoyo.</a:t>
            </a:r>
            <a:endParaRPr lang="en-US" sz="1200" dirty="0"/>
          </a:p>
        </p:txBody>
      </p:sp>
      <p:sp>
        <p:nvSpPr>
          <p:cNvPr id="20" name="Shape 18"/>
          <p:cNvSpPr/>
          <p:nvPr/>
        </p:nvSpPr>
        <p:spPr>
          <a:xfrm>
            <a:off x="9006840" y="2148840"/>
            <a:ext cx="2514600" cy="3931920"/>
          </a:xfrm>
          <a:prstGeom prst="roundRect">
            <a:avLst>
              <a:gd name="adj" fmla="val 3636"/>
            </a:avLst>
          </a:prstGeom>
          <a:solidFill>
            <a:srgbClr val="F3E4E3"/>
          </a:solidFill>
          <a:ln/>
        </p:spPr>
      </p:sp>
      <p:sp>
        <p:nvSpPr>
          <p:cNvPr id="21" name="Shape 19"/>
          <p:cNvSpPr/>
          <p:nvPr/>
        </p:nvSpPr>
        <p:spPr>
          <a:xfrm>
            <a:off x="9299448" y="2423160"/>
            <a:ext cx="457200" cy="457200"/>
          </a:xfrm>
          <a:prstGeom prst="ellipse">
            <a:avLst/>
          </a:prstGeom>
          <a:solidFill>
            <a:srgbClr val="F6CFCB"/>
          </a:solidFill>
          <a:ln/>
        </p:spPr>
      </p:sp>
      <p:sp>
        <p:nvSpPr>
          <p:cNvPr id="22" name="Text 20"/>
          <p:cNvSpPr txBox="1"/>
          <p:nvPr/>
        </p:nvSpPr>
        <p:spPr>
          <a:xfrm>
            <a:off x="9299448" y="2423160"/>
            <a:ext cx="457200" cy="457200"/>
          </a:xfrm>
          <a:prstGeom prst="rect">
            <a:avLst/>
          </a:prstGeom>
          <a:noFill/>
          <a:ln/>
        </p:spPr>
        <p:txBody>
          <a:bodyPr wrap="square" lIns="0" tIns="0" rIns="0" bIns="0" rtlCol="0" anchor="ctr"/>
          <a:lstStyle/>
          <a:p>
            <a:pPr algn="ctr" indent="0" marL="0">
              <a:buNone/>
            </a:pPr>
            <a:r>
              <a:rPr lang="en-US" sz="1500" b="1" dirty="0">
                <a:solidFill>
                  <a:srgbClr val="8E0B26"/>
                </a:solidFill>
                <a:latin typeface="Cambria" pitchFamily="34" charset="0"/>
                <a:ea typeface="Cambria" pitchFamily="34" charset="-122"/>
                <a:cs typeface="Cambria" pitchFamily="34" charset="-120"/>
              </a:rPr>
              <a:t>F4</a:t>
            </a:r>
            <a:endParaRPr lang="en-US" sz="1500" dirty="0"/>
          </a:p>
        </p:txBody>
      </p:sp>
      <p:sp>
        <p:nvSpPr>
          <p:cNvPr id="23" name="Text 21"/>
          <p:cNvSpPr txBox="1"/>
          <p:nvPr/>
        </p:nvSpPr>
        <p:spPr>
          <a:xfrm>
            <a:off x="9299448" y="3017520"/>
            <a:ext cx="1929384" cy="512064"/>
          </a:xfrm>
          <a:prstGeom prst="rect">
            <a:avLst/>
          </a:prstGeom>
          <a:noFill/>
          <a:ln/>
        </p:spPr>
        <p:txBody>
          <a:bodyPr wrap="square" lIns="0" tIns="0" rIns="0" bIns="0" rtlCol="0" anchor="ctr"/>
          <a:lstStyle/>
          <a:p>
            <a:pPr indent="0" marL="0">
              <a:buNone/>
            </a:pPr>
            <a:r>
              <a:rPr lang="en-US" sz="1600" b="1" dirty="0">
                <a:solidFill>
                  <a:srgbClr val="8E0B26"/>
                </a:solidFill>
                <a:latin typeface="Cambria" pitchFamily="34" charset="0"/>
                <a:ea typeface="Cambria" pitchFamily="34" charset="-122"/>
                <a:cs typeface="Cambria" pitchFamily="34" charset="-120"/>
              </a:rPr>
              <a:t>BECAD – PUCP</a:t>
            </a:r>
            <a:endParaRPr lang="en-US" sz="1600" dirty="0"/>
          </a:p>
        </p:txBody>
      </p:sp>
      <p:sp>
        <p:nvSpPr>
          <p:cNvPr id="24" name="Text 22"/>
          <p:cNvSpPr txBox="1"/>
          <p:nvPr/>
        </p:nvSpPr>
        <p:spPr>
          <a:xfrm>
            <a:off x="9299448" y="3621024"/>
            <a:ext cx="1929384" cy="2258568"/>
          </a:xfrm>
          <a:prstGeom prst="rect">
            <a:avLst/>
          </a:prstGeom>
          <a:noFill/>
          <a:ln/>
        </p:spPr>
        <p:txBody>
          <a:bodyPr wrap="square" lIns="0" tIns="0" rIns="0" bIns="0" rtlCol="0" anchor="t"/>
          <a:lstStyle/>
          <a:p>
            <a:pPr indent="0" marL="0">
              <a:lnSpc>
                <a:spcPts val="1600"/>
              </a:lnSpc>
              <a:buNone/>
            </a:pPr>
            <a:r>
              <a:rPr lang="en-US" sz="1200" dirty="0">
                <a:solidFill>
                  <a:srgbClr val="5A4241"/>
                </a:solidFill>
                <a:latin typeface="Calibri" pitchFamily="34" charset="0"/>
                <a:ea typeface="Calibri" pitchFamily="34" charset="-122"/>
                <a:cs typeface="Calibri" pitchFamily="34" charset="-120"/>
              </a:rPr>
              <a:t>Página de la Beca para Deportistas Destacados. Describe requisitos y coberturas.</a:t>
            </a:r>
            <a:endParaRPr lang="en-US" sz="1200" dirty="0"/>
          </a:p>
        </p:txBody>
      </p:sp>
      <p:sp>
        <p:nvSpPr>
          <p:cNvPr id="25" name="Text 23"/>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900" dirty="0">
                <a:solidFill>
                  <a:srgbClr val="5A4241"/>
                </a:solidFill>
                <a:latin typeface="Calibri" pitchFamily="34" charset="0"/>
                <a:ea typeface="Calibri" pitchFamily="34" charset="-122"/>
                <a:cs typeface="Calibri" pitchFamily="34" charset="-120"/>
              </a:rPr>
              <a:t>Universidades y selección peruana · Método CRAAP</a:t>
            </a:r>
            <a:endParaRPr lang="en-US" sz="900" dirty="0"/>
          </a:p>
        </p:txBody>
      </p:sp>
      <p:sp>
        <p:nvSpPr>
          <p:cNvPr id="26" name="Text 24"/>
          <p:cNvSpPr txBox="1"/>
          <p:nvPr/>
        </p:nvSpPr>
        <p:spPr>
          <a:xfrm>
            <a:off x="10972800" y="6382512"/>
            <a:ext cx="548640" cy="274320"/>
          </a:xfrm>
          <a:prstGeom prst="rect">
            <a:avLst/>
          </a:prstGeom>
          <a:noFill/>
          <a:ln/>
        </p:spPr>
        <p:txBody>
          <a:bodyPr wrap="square" lIns="0" tIns="0" rIns="0" bIns="0" rtlCol="0" anchor="ctr"/>
          <a:lstStyle/>
          <a:p>
            <a:pPr algn="r" indent="0" marL="0">
              <a:buNone/>
            </a:pPr>
            <a:r>
              <a:rPr lang="en-US" sz="900" dirty="0">
                <a:solidFill>
                  <a:srgbClr val="5A4241"/>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7F6"/>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E8B54C"/>
                </a:solidFill>
                <a:latin typeface="Calibri" pitchFamily="34" charset="0"/>
                <a:ea typeface="Calibri" pitchFamily="34" charset="-122"/>
                <a:cs typeface="Calibri" pitchFamily="34" charset="-120"/>
              </a:rPr>
              <a:t>EVALUACIÓN CRAAP</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t"/>
          <a:lstStyle/>
          <a:p>
            <a:pPr indent="0" marL="0">
              <a:buNone/>
            </a:pPr>
            <a:r>
              <a:rPr lang="en-US" sz="3400" b="1" dirty="0">
                <a:solidFill>
                  <a:srgbClr val="8E0B26"/>
                </a:solidFill>
                <a:latin typeface="Cambria" pitchFamily="34" charset="0"/>
                <a:ea typeface="Cambria" pitchFamily="34" charset="-122"/>
                <a:cs typeface="Cambria" pitchFamily="34" charset="-120"/>
              </a:rPr>
              <a:t>F1 · Ley N.° 30220, Ley Universitaria (2014)</a:t>
            </a:r>
            <a:endParaRPr lang="en-US" sz="3400" dirty="0"/>
          </a:p>
        </p:txBody>
      </p:sp>
      <p:sp>
        <p:nvSpPr>
          <p:cNvPr id="4" name="Text 2"/>
          <p:cNvSpPr txBox="1"/>
          <p:nvPr/>
        </p:nvSpPr>
        <p:spPr>
          <a:xfrm>
            <a:off x="640080" y="1481328"/>
            <a:ext cx="7680960" cy="594360"/>
          </a:xfrm>
          <a:prstGeom prst="rect">
            <a:avLst/>
          </a:prstGeom>
          <a:noFill/>
          <a:ln/>
        </p:spPr>
        <p:txBody>
          <a:bodyPr wrap="square" lIns="0" tIns="0" rIns="0" bIns="0" rtlCol="0" anchor="t"/>
          <a:lstStyle/>
          <a:p>
            <a:pPr indent="0" marL="0">
              <a:lnSpc>
                <a:spcPts val="1600"/>
              </a:lnSpc>
              <a:buNone/>
            </a:pPr>
            <a:r>
              <a:rPr lang="en-US" sz="1150" i="1" dirty="0">
                <a:solidFill>
                  <a:srgbClr val="5A4241"/>
                </a:solidFill>
                <a:latin typeface="Calibri" pitchFamily="34" charset="0"/>
                <a:ea typeface="Calibri" pitchFamily="34" charset="-122"/>
                <a:cs typeface="Calibri" pitchFamily="34" charset="-120"/>
              </a:rPr>
              <a:t>Congreso de la República del Perú · Publicada en el Diario Oficial El Peruano · Artículo 131, sobre deporte universitario · Informe / norma gubernamental</a:t>
            </a:r>
            <a:endParaRPr lang="en-US" sz="1150" dirty="0"/>
          </a:p>
        </p:txBody>
      </p:sp>
      <p:sp>
        <p:nvSpPr>
          <p:cNvPr id="5" name="Shape 3"/>
          <p:cNvSpPr/>
          <p:nvPr/>
        </p:nvSpPr>
        <p:spPr>
          <a:xfrm>
            <a:off x="8869680" y="1463040"/>
            <a:ext cx="2651760" cy="1965960"/>
          </a:xfrm>
          <a:prstGeom prst="roundRect">
            <a:avLst>
              <a:gd name="adj" fmla="val 4651"/>
            </a:avLst>
          </a:prstGeom>
          <a:solidFill>
            <a:srgbClr val="8E0B26"/>
          </a:solidFill>
          <a:ln/>
        </p:spPr>
      </p:sp>
      <p:sp>
        <p:nvSpPr>
          <p:cNvPr id="6" name="Text 4"/>
          <p:cNvSpPr txBox="1"/>
          <p:nvPr/>
        </p:nvSpPr>
        <p:spPr>
          <a:xfrm>
            <a:off x="8869680" y="1645920"/>
            <a:ext cx="2651760" cy="914400"/>
          </a:xfrm>
          <a:prstGeom prst="rect">
            <a:avLst/>
          </a:prstGeom>
          <a:noFill/>
          <a:ln/>
        </p:spPr>
        <p:txBody>
          <a:bodyPr wrap="square" lIns="0" tIns="0" rIns="0" bIns="0" rtlCol="0" anchor="ctr"/>
          <a:lstStyle/>
          <a:p>
            <a:pPr algn="ctr" indent="0" marL="0">
              <a:buNone/>
            </a:pPr>
            <a:r>
              <a:rPr lang="en-US" sz="4000" b="1" dirty="0">
                <a:solidFill>
                  <a:srgbClr val="E8B54C"/>
                </a:solidFill>
                <a:latin typeface="Cambria" pitchFamily="34" charset="0"/>
                <a:ea typeface="Cambria" pitchFamily="34" charset="-122"/>
                <a:cs typeface="Cambria" pitchFamily="34" charset="-120"/>
              </a:rPr>
              <a:t>5/5</a:t>
            </a:r>
            <a:endParaRPr lang="en-US" sz="4000" dirty="0"/>
          </a:p>
        </p:txBody>
      </p:sp>
      <p:sp>
        <p:nvSpPr>
          <p:cNvPr id="7" name="Text 5"/>
          <p:cNvSpPr txBox="1"/>
          <p:nvPr/>
        </p:nvSpPr>
        <p:spPr>
          <a:xfrm>
            <a:off x="9052560" y="2606040"/>
            <a:ext cx="2286000" cy="685800"/>
          </a:xfrm>
          <a:prstGeom prst="rect">
            <a:avLst/>
          </a:prstGeom>
          <a:noFill/>
          <a:ln/>
        </p:spPr>
        <p:txBody>
          <a:bodyPr wrap="square" lIns="0" tIns="0" rIns="0" bIns="0" rtlCol="0" anchor="t"/>
          <a:lstStyle/>
          <a:p>
            <a:pPr algn="ctr" indent="0" marL="0">
              <a:lnSpc>
                <a:spcPts val="1500"/>
              </a:lnSpc>
              <a:buNone/>
            </a:pPr>
            <a:r>
              <a:rPr lang="en-US" sz="1150" dirty="0">
                <a:solidFill>
                  <a:srgbClr val="FDF7F6"/>
                </a:solidFill>
                <a:latin typeface="Calibri" pitchFamily="34" charset="0"/>
                <a:ea typeface="Calibri" pitchFamily="34" charset="-122"/>
                <a:cs typeface="Calibri" pitchFamily="34" charset="-120"/>
              </a:rPr>
              <a:t>Fuente normativa principal. Citable directamente.</a:t>
            </a:r>
            <a:endParaRPr lang="en-US" sz="1150" dirty="0"/>
          </a:p>
        </p:txBody>
      </p:sp>
      <p:sp>
        <p:nvSpPr>
          <p:cNvPr id="8" name="Shape 6"/>
          <p:cNvSpPr/>
          <p:nvPr/>
        </p:nvSpPr>
        <p:spPr>
          <a:xfrm>
            <a:off x="640080" y="2331720"/>
            <a:ext cx="7680960" cy="658368"/>
          </a:xfrm>
          <a:prstGeom prst="roundRect">
            <a:avLst>
              <a:gd name="adj" fmla="val 11111"/>
            </a:avLst>
          </a:prstGeom>
          <a:solidFill>
            <a:srgbClr val="F3E4E3"/>
          </a:solidFill>
          <a:ln/>
        </p:spPr>
      </p:sp>
      <p:sp>
        <p:nvSpPr>
          <p:cNvPr id="9" name="Shape 7"/>
          <p:cNvSpPr/>
          <p:nvPr/>
        </p:nvSpPr>
        <p:spPr>
          <a:xfrm>
            <a:off x="786384" y="2478024"/>
            <a:ext cx="365760" cy="365760"/>
          </a:xfrm>
          <a:prstGeom prst="ellipse">
            <a:avLst/>
          </a:prstGeom>
          <a:solidFill>
            <a:srgbClr val="F6CFCB"/>
          </a:solidFill>
          <a:ln/>
        </p:spPr>
      </p:sp>
      <p:sp>
        <p:nvSpPr>
          <p:cNvPr id="10" name="Text 8"/>
          <p:cNvSpPr txBox="1"/>
          <p:nvPr/>
        </p:nvSpPr>
        <p:spPr>
          <a:xfrm>
            <a:off x="786384" y="2478024"/>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C</a:t>
            </a:r>
            <a:endParaRPr lang="en-US" sz="1400" dirty="0"/>
          </a:p>
        </p:txBody>
      </p:sp>
      <p:sp>
        <p:nvSpPr>
          <p:cNvPr id="11" name="Text 9"/>
          <p:cNvSpPr txBox="1"/>
          <p:nvPr/>
        </p:nvSpPr>
        <p:spPr>
          <a:xfrm>
            <a:off x="1261872" y="2368296"/>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Vigencia</a:t>
            </a:r>
            <a:endParaRPr lang="en-US" sz="1100" dirty="0"/>
          </a:p>
        </p:txBody>
      </p:sp>
      <p:sp>
        <p:nvSpPr>
          <p:cNvPr id="12" name="Text 10"/>
          <p:cNvSpPr txBox="1"/>
          <p:nvPr/>
        </p:nvSpPr>
        <p:spPr>
          <a:xfrm>
            <a:off x="2423160" y="2350008"/>
            <a:ext cx="57150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2014, con modificaciones posteriores. Sigue vigente y es la norma marco del sistema universitario peruano.</a:t>
            </a:r>
            <a:endParaRPr lang="en-US" sz="1100" dirty="0"/>
          </a:p>
        </p:txBody>
      </p:sp>
      <p:sp>
        <p:nvSpPr>
          <p:cNvPr id="13" name="Shape 11"/>
          <p:cNvSpPr/>
          <p:nvPr/>
        </p:nvSpPr>
        <p:spPr>
          <a:xfrm>
            <a:off x="640080" y="3081528"/>
            <a:ext cx="7680960" cy="658368"/>
          </a:xfrm>
          <a:prstGeom prst="roundRect">
            <a:avLst>
              <a:gd name="adj" fmla="val 11111"/>
            </a:avLst>
          </a:prstGeom>
          <a:solidFill>
            <a:srgbClr val="F3E4E3"/>
          </a:solidFill>
          <a:ln/>
        </p:spPr>
      </p:sp>
      <p:sp>
        <p:nvSpPr>
          <p:cNvPr id="14" name="Shape 12"/>
          <p:cNvSpPr/>
          <p:nvPr/>
        </p:nvSpPr>
        <p:spPr>
          <a:xfrm>
            <a:off x="786384" y="3227832"/>
            <a:ext cx="365760" cy="365760"/>
          </a:xfrm>
          <a:prstGeom prst="ellipse">
            <a:avLst/>
          </a:prstGeom>
          <a:solidFill>
            <a:srgbClr val="F6CFCB"/>
          </a:solidFill>
          <a:ln/>
        </p:spPr>
      </p:sp>
      <p:sp>
        <p:nvSpPr>
          <p:cNvPr id="15" name="Text 13"/>
          <p:cNvSpPr txBox="1"/>
          <p:nvPr/>
        </p:nvSpPr>
        <p:spPr>
          <a:xfrm>
            <a:off x="786384" y="3227832"/>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R</a:t>
            </a:r>
            <a:endParaRPr lang="en-US" sz="1400" dirty="0"/>
          </a:p>
        </p:txBody>
      </p:sp>
      <p:sp>
        <p:nvSpPr>
          <p:cNvPr id="16" name="Text 14"/>
          <p:cNvSpPr txBox="1"/>
          <p:nvPr/>
        </p:nvSpPr>
        <p:spPr>
          <a:xfrm>
            <a:off x="1261872" y="3118104"/>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Pertinencia</a:t>
            </a:r>
            <a:endParaRPr lang="en-US" sz="1100" dirty="0"/>
          </a:p>
        </p:txBody>
      </p:sp>
      <p:sp>
        <p:nvSpPr>
          <p:cNvPr id="17" name="Text 15"/>
          <p:cNvSpPr txBox="1"/>
          <p:nvPr/>
        </p:nvSpPr>
        <p:spPr>
          <a:xfrm>
            <a:off x="2423160" y="3099816"/>
            <a:ext cx="57150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El artículo 131 responde de lleno a la sub-pregunta sobre qué obliga la ley a hacer a las universidades.</a:t>
            </a:r>
            <a:endParaRPr lang="en-US" sz="1100" dirty="0"/>
          </a:p>
        </p:txBody>
      </p:sp>
      <p:sp>
        <p:nvSpPr>
          <p:cNvPr id="18" name="Shape 16"/>
          <p:cNvSpPr/>
          <p:nvPr/>
        </p:nvSpPr>
        <p:spPr>
          <a:xfrm>
            <a:off x="640080" y="3831336"/>
            <a:ext cx="10881360" cy="658368"/>
          </a:xfrm>
          <a:prstGeom prst="roundRect">
            <a:avLst>
              <a:gd name="adj" fmla="val 11111"/>
            </a:avLst>
          </a:prstGeom>
          <a:solidFill>
            <a:srgbClr val="F3E4E3"/>
          </a:solidFill>
          <a:ln/>
        </p:spPr>
      </p:sp>
      <p:sp>
        <p:nvSpPr>
          <p:cNvPr id="19" name="Shape 17"/>
          <p:cNvSpPr/>
          <p:nvPr/>
        </p:nvSpPr>
        <p:spPr>
          <a:xfrm>
            <a:off x="786384" y="3977640"/>
            <a:ext cx="365760" cy="365760"/>
          </a:xfrm>
          <a:prstGeom prst="ellipse">
            <a:avLst/>
          </a:prstGeom>
          <a:solidFill>
            <a:srgbClr val="F6CFCB"/>
          </a:solidFill>
          <a:ln/>
        </p:spPr>
      </p:sp>
      <p:sp>
        <p:nvSpPr>
          <p:cNvPr id="20" name="Text 18"/>
          <p:cNvSpPr txBox="1"/>
          <p:nvPr/>
        </p:nvSpPr>
        <p:spPr>
          <a:xfrm>
            <a:off x="786384" y="3977640"/>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A</a:t>
            </a:r>
            <a:endParaRPr lang="en-US" sz="1400" dirty="0"/>
          </a:p>
        </p:txBody>
      </p:sp>
      <p:sp>
        <p:nvSpPr>
          <p:cNvPr id="21" name="Text 19"/>
          <p:cNvSpPr txBox="1"/>
          <p:nvPr/>
        </p:nvSpPr>
        <p:spPr>
          <a:xfrm>
            <a:off x="1261872" y="3867912"/>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Autoridad</a:t>
            </a:r>
            <a:endParaRPr lang="en-US" sz="1100" dirty="0"/>
          </a:p>
        </p:txBody>
      </p:sp>
      <p:sp>
        <p:nvSpPr>
          <p:cNvPr id="22" name="Text 20"/>
          <p:cNvSpPr txBox="1"/>
          <p:nvPr/>
        </p:nvSpPr>
        <p:spPr>
          <a:xfrm>
            <a:off x="2423160" y="3849624"/>
            <a:ext cx="89154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Emitida por el Congreso de la República y publicada en el diario oficial. Máxima autoridad posible en la materia.</a:t>
            </a:r>
            <a:endParaRPr lang="en-US" sz="1100" dirty="0"/>
          </a:p>
        </p:txBody>
      </p:sp>
      <p:sp>
        <p:nvSpPr>
          <p:cNvPr id="23" name="Shape 21"/>
          <p:cNvSpPr/>
          <p:nvPr/>
        </p:nvSpPr>
        <p:spPr>
          <a:xfrm>
            <a:off x="640080" y="4581144"/>
            <a:ext cx="10881360" cy="658368"/>
          </a:xfrm>
          <a:prstGeom prst="roundRect">
            <a:avLst>
              <a:gd name="adj" fmla="val 11111"/>
            </a:avLst>
          </a:prstGeom>
          <a:solidFill>
            <a:srgbClr val="F3E4E3"/>
          </a:solidFill>
          <a:ln/>
        </p:spPr>
      </p:sp>
      <p:sp>
        <p:nvSpPr>
          <p:cNvPr id="24" name="Shape 22"/>
          <p:cNvSpPr/>
          <p:nvPr/>
        </p:nvSpPr>
        <p:spPr>
          <a:xfrm>
            <a:off x="786384" y="4727448"/>
            <a:ext cx="365760" cy="365760"/>
          </a:xfrm>
          <a:prstGeom prst="ellipse">
            <a:avLst/>
          </a:prstGeom>
          <a:solidFill>
            <a:srgbClr val="F6CFCB"/>
          </a:solidFill>
          <a:ln/>
        </p:spPr>
      </p:sp>
      <p:sp>
        <p:nvSpPr>
          <p:cNvPr id="25" name="Text 23"/>
          <p:cNvSpPr txBox="1"/>
          <p:nvPr/>
        </p:nvSpPr>
        <p:spPr>
          <a:xfrm>
            <a:off x="786384" y="4727448"/>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A</a:t>
            </a:r>
            <a:endParaRPr lang="en-US" sz="1400" dirty="0"/>
          </a:p>
        </p:txBody>
      </p:sp>
      <p:sp>
        <p:nvSpPr>
          <p:cNvPr id="26" name="Text 24"/>
          <p:cNvSpPr txBox="1"/>
          <p:nvPr/>
        </p:nvSpPr>
        <p:spPr>
          <a:xfrm>
            <a:off x="1261872" y="4617720"/>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Exactitud</a:t>
            </a:r>
            <a:endParaRPr lang="en-US" sz="1100" dirty="0"/>
          </a:p>
        </p:txBody>
      </p:sp>
      <p:sp>
        <p:nvSpPr>
          <p:cNvPr id="27" name="Text 25"/>
          <p:cNvSpPr txBox="1"/>
          <p:nvPr/>
        </p:nvSpPr>
        <p:spPr>
          <a:xfrm>
            <a:off x="2423160" y="4599432"/>
            <a:ext cx="89154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Texto legal literal y verificable. Conviene siempre consultar la versión actualizada, no una copia en un blog.</a:t>
            </a:r>
            <a:endParaRPr lang="en-US" sz="1100" dirty="0"/>
          </a:p>
        </p:txBody>
      </p:sp>
      <p:sp>
        <p:nvSpPr>
          <p:cNvPr id="28" name="Shape 26"/>
          <p:cNvSpPr/>
          <p:nvPr/>
        </p:nvSpPr>
        <p:spPr>
          <a:xfrm>
            <a:off x="640080" y="5330952"/>
            <a:ext cx="10881360" cy="658368"/>
          </a:xfrm>
          <a:prstGeom prst="roundRect">
            <a:avLst>
              <a:gd name="adj" fmla="val 11111"/>
            </a:avLst>
          </a:prstGeom>
          <a:solidFill>
            <a:srgbClr val="F3E4E3"/>
          </a:solidFill>
          <a:ln/>
        </p:spPr>
      </p:sp>
      <p:sp>
        <p:nvSpPr>
          <p:cNvPr id="29" name="Shape 27"/>
          <p:cNvSpPr/>
          <p:nvPr/>
        </p:nvSpPr>
        <p:spPr>
          <a:xfrm>
            <a:off x="786384" y="5477256"/>
            <a:ext cx="365760" cy="365760"/>
          </a:xfrm>
          <a:prstGeom prst="ellipse">
            <a:avLst/>
          </a:prstGeom>
          <a:solidFill>
            <a:srgbClr val="F6CFCB"/>
          </a:solidFill>
          <a:ln/>
        </p:spPr>
      </p:sp>
      <p:sp>
        <p:nvSpPr>
          <p:cNvPr id="30" name="Text 28"/>
          <p:cNvSpPr txBox="1"/>
          <p:nvPr/>
        </p:nvSpPr>
        <p:spPr>
          <a:xfrm>
            <a:off x="786384" y="5477256"/>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P</a:t>
            </a:r>
            <a:endParaRPr lang="en-US" sz="1400" dirty="0"/>
          </a:p>
        </p:txBody>
      </p:sp>
      <p:sp>
        <p:nvSpPr>
          <p:cNvPr id="31" name="Text 29"/>
          <p:cNvSpPr txBox="1"/>
          <p:nvPr/>
        </p:nvSpPr>
        <p:spPr>
          <a:xfrm>
            <a:off x="1261872" y="5367528"/>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Propósito</a:t>
            </a:r>
            <a:endParaRPr lang="en-US" sz="1100" dirty="0"/>
          </a:p>
        </p:txBody>
      </p:sp>
      <p:sp>
        <p:nvSpPr>
          <p:cNvPr id="32" name="Text 30"/>
          <p:cNvSpPr txBox="1"/>
          <p:nvPr/>
        </p:nvSpPr>
        <p:spPr>
          <a:xfrm>
            <a:off x="2423160" y="5349240"/>
            <a:ext cx="89154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Regular el sistema universitario. No tiene intención persuasiva ni comercial de ningún tipo.</a:t>
            </a:r>
            <a:endParaRPr lang="en-US" sz="1100" dirty="0"/>
          </a:p>
        </p:txBody>
      </p:sp>
      <p:sp>
        <p:nvSpPr>
          <p:cNvPr id="33" name="Text 31"/>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900" dirty="0">
                <a:solidFill>
                  <a:srgbClr val="5A4241"/>
                </a:solidFill>
                <a:latin typeface="Calibri" pitchFamily="34" charset="0"/>
                <a:ea typeface="Calibri" pitchFamily="34" charset="-122"/>
                <a:cs typeface="Calibri" pitchFamily="34" charset="-120"/>
              </a:rPr>
              <a:t>Universidades y selección peruana · Método CRAAP</a:t>
            </a:r>
            <a:endParaRPr lang="en-US" sz="900" dirty="0"/>
          </a:p>
        </p:txBody>
      </p:sp>
      <p:sp>
        <p:nvSpPr>
          <p:cNvPr id="34" name="Text 32"/>
          <p:cNvSpPr txBox="1"/>
          <p:nvPr/>
        </p:nvSpPr>
        <p:spPr>
          <a:xfrm>
            <a:off x="10972800" y="6382512"/>
            <a:ext cx="548640" cy="274320"/>
          </a:xfrm>
          <a:prstGeom prst="rect">
            <a:avLst/>
          </a:prstGeom>
          <a:noFill/>
          <a:ln/>
        </p:spPr>
        <p:txBody>
          <a:bodyPr wrap="square" lIns="0" tIns="0" rIns="0" bIns="0" rtlCol="0" anchor="ctr"/>
          <a:lstStyle/>
          <a:p>
            <a:pPr algn="r" indent="0" marL="0">
              <a:buNone/>
            </a:pPr>
            <a:r>
              <a:rPr lang="en-US" sz="900" dirty="0">
                <a:solidFill>
                  <a:srgbClr val="5A4241"/>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7F6"/>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E8B54C"/>
                </a:solidFill>
                <a:latin typeface="Calibri" pitchFamily="34" charset="0"/>
                <a:ea typeface="Calibri" pitchFamily="34" charset="-122"/>
                <a:cs typeface="Calibri" pitchFamily="34" charset="-120"/>
              </a:rPr>
              <a:t>EVALUACIÓN CRAAP</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t"/>
          <a:lstStyle/>
          <a:p>
            <a:pPr indent="0" marL="0">
              <a:buNone/>
            </a:pPr>
            <a:r>
              <a:rPr lang="en-US" sz="3400" b="1" dirty="0">
                <a:solidFill>
                  <a:srgbClr val="8E0B26"/>
                </a:solidFill>
                <a:latin typeface="Cambria" pitchFamily="34" charset="0"/>
                <a:ea typeface="Cambria" pitchFamily="34" charset="-122"/>
                <a:cs typeface="Cambria" pitchFamily="34" charset="-120"/>
              </a:rPr>
              <a:t>F2 · Ley N.° 30476, PRODAC (2016)</a:t>
            </a:r>
            <a:endParaRPr lang="en-US" sz="3400" dirty="0"/>
          </a:p>
        </p:txBody>
      </p:sp>
      <p:sp>
        <p:nvSpPr>
          <p:cNvPr id="4" name="Text 2"/>
          <p:cNvSpPr txBox="1"/>
          <p:nvPr/>
        </p:nvSpPr>
        <p:spPr>
          <a:xfrm>
            <a:off x="640080" y="1481328"/>
            <a:ext cx="7680960" cy="594360"/>
          </a:xfrm>
          <a:prstGeom prst="rect">
            <a:avLst/>
          </a:prstGeom>
          <a:noFill/>
          <a:ln/>
        </p:spPr>
        <p:txBody>
          <a:bodyPr wrap="square" lIns="0" tIns="0" rIns="0" bIns="0" rtlCol="0" anchor="t"/>
          <a:lstStyle/>
          <a:p>
            <a:pPr indent="0" marL="0">
              <a:lnSpc>
                <a:spcPts val="1600"/>
              </a:lnSpc>
              <a:buNone/>
            </a:pPr>
            <a:r>
              <a:rPr lang="en-US" sz="1150" i="1" dirty="0">
                <a:solidFill>
                  <a:srgbClr val="5A4241"/>
                </a:solidFill>
                <a:latin typeface="Calibri" pitchFamily="34" charset="0"/>
                <a:ea typeface="Calibri" pitchFamily="34" charset="-122"/>
                <a:cs typeface="Calibri" pitchFamily="34" charset="-120"/>
              </a:rPr>
              <a:t>Congreso de la República del Perú · Vigente desde el 30 de junio de 2016 · Regula los Programas Deportivos de Alta Competencia en las universidades</a:t>
            </a:r>
            <a:endParaRPr lang="en-US" sz="1150" dirty="0"/>
          </a:p>
        </p:txBody>
      </p:sp>
      <p:sp>
        <p:nvSpPr>
          <p:cNvPr id="5" name="Shape 3"/>
          <p:cNvSpPr/>
          <p:nvPr/>
        </p:nvSpPr>
        <p:spPr>
          <a:xfrm>
            <a:off x="8869680" y="1463040"/>
            <a:ext cx="2651760" cy="1965960"/>
          </a:xfrm>
          <a:prstGeom prst="roundRect">
            <a:avLst>
              <a:gd name="adj" fmla="val 4651"/>
            </a:avLst>
          </a:prstGeom>
          <a:solidFill>
            <a:srgbClr val="8E0B26"/>
          </a:solidFill>
          <a:ln/>
        </p:spPr>
      </p:sp>
      <p:sp>
        <p:nvSpPr>
          <p:cNvPr id="6" name="Text 4"/>
          <p:cNvSpPr txBox="1"/>
          <p:nvPr/>
        </p:nvSpPr>
        <p:spPr>
          <a:xfrm>
            <a:off x="8869680" y="1645920"/>
            <a:ext cx="2651760" cy="914400"/>
          </a:xfrm>
          <a:prstGeom prst="rect">
            <a:avLst/>
          </a:prstGeom>
          <a:noFill/>
          <a:ln/>
        </p:spPr>
        <p:txBody>
          <a:bodyPr wrap="square" lIns="0" tIns="0" rIns="0" bIns="0" rtlCol="0" anchor="ctr"/>
          <a:lstStyle/>
          <a:p>
            <a:pPr algn="ctr" indent="0" marL="0">
              <a:buNone/>
            </a:pPr>
            <a:r>
              <a:rPr lang="en-US" sz="4000" b="1" dirty="0">
                <a:solidFill>
                  <a:srgbClr val="E8B54C"/>
                </a:solidFill>
                <a:latin typeface="Cambria" pitchFamily="34" charset="0"/>
                <a:ea typeface="Cambria" pitchFamily="34" charset="-122"/>
                <a:cs typeface="Cambria" pitchFamily="34" charset="-120"/>
              </a:rPr>
              <a:t>5/5</a:t>
            </a:r>
            <a:endParaRPr lang="en-US" sz="4000" dirty="0"/>
          </a:p>
        </p:txBody>
      </p:sp>
      <p:sp>
        <p:nvSpPr>
          <p:cNvPr id="7" name="Text 5"/>
          <p:cNvSpPr txBox="1"/>
          <p:nvPr/>
        </p:nvSpPr>
        <p:spPr>
          <a:xfrm>
            <a:off x="9052560" y="2606040"/>
            <a:ext cx="2286000" cy="685800"/>
          </a:xfrm>
          <a:prstGeom prst="rect">
            <a:avLst/>
          </a:prstGeom>
          <a:noFill/>
          <a:ln/>
        </p:spPr>
        <p:txBody>
          <a:bodyPr wrap="square" lIns="0" tIns="0" rIns="0" bIns="0" rtlCol="0" anchor="t"/>
          <a:lstStyle/>
          <a:p>
            <a:pPr algn="ctr" indent="0" marL="0">
              <a:lnSpc>
                <a:spcPts val="1500"/>
              </a:lnSpc>
              <a:buNone/>
            </a:pPr>
            <a:r>
              <a:rPr lang="en-US" sz="1150" dirty="0">
                <a:solidFill>
                  <a:srgbClr val="FDF7F6"/>
                </a:solidFill>
                <a:latin typeface="Calibri" pitchFamily="34" charset="0"/>
                <a:ea typeface="Calibri" pitchFamily="34" charset="-122"/>
                <a:cs typeface="Calibri" pitchFamily="34" charset="-120"/>
              </a:rPr>
              <a:t>Fuente normativa principal. Citable directamente.</a:t>
            </a:r>
            <a:endParaRPr lang="en-US" sz="1150" dirty="0"/>
          </a:p>
        </p:txBody>
      </p:sp>
      <p:sp>
        <p:nvSpPr>
          <p:cNvPr id="8" name="Shape 6"/>
          <p:cNvSpPr/>
          <p:nvPr/>
        </p:nvSpPr>
        <p:spPr>
          <a:xfrm>
            <a:off x="640080" y="2331720"/>
            <a:ext cx="7680960" cy="658368"/>
          </a:xfrm>
          <a:prstGeom prst="roundRect">
            <a:avLst>
              <a:gd name="adj" fmla="val 11111"/>
            </a:avLst>
          </a:prstGeom>
          <a:solidFill>
            <a:srgbClr val="F3E4E3"/>
          </a:solidFill>
          <a:ln/>
        </p:spPr>
      </p:sp>
      <p:sp>
        <p:nvSpPr>
          <p:cNvPr id="9" name="Shape 7"/>
          <p:cNvSpPr/>
          <p:nvPr/>
        </p:nvSpPr>
        <p:spPr>
          <a:xfrm>
            <a:off x="786384" y="2478024"/>
            <a:ext cx="365760" cy="365760"/>
          </a:xfrm>
          <a:prstGeom prst="ellipse">
            <a:avLst/>
          </a:prstGeom>
          <a:solidFill>
            <a:srgbClr val="F6CFCB"/>
          </a:solidFill>
          <a:ln/>
        </p:spPr>
      </p:sp>
      <p:sp>
        <p:nvSpPr>
          <p:cNvPr id="10" name="Text 8"/>
          <p:cNvSpPr txBox="1"/>
          <p:nvPr/>
        </p:nvSpPr>
        <p:spPr>
          <a:xfrm>
            <a:off x="786384" y="2478024"/>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C</a:t>
            </a:r>
            <a:endParaRPr lang="en-US" sz="1400" dirty="0"/>
          </a:p>
        </p:txBody>
      </p:sp>
      <p:sp>
        <p:nvSpPr>
          <p:cNvPr id="11" name="Text 9"/>
          <p:cNvSpPr txBox="1"/>
          <p:nvPr/>
        </p:nvSpPr>
        <p:spPr>
          <a:xfrm>
            <a:off x="1261872" y="2368296"/>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Vigencia</a:t>
            </a:r>
            <a:endParaRPr lang="en-US" sz="1100" dirty="0"/>
          </a:p>
        </p:txBody>
      </p:sp>
      <p:sp>
        <p:nvSpPr>
          <p:cNvPr id="12" name="Text 10"/>
          <p:cNvSpPr txBox="1"/>
          <p:nvPr/>
        </p:nvSpPr>
        <p:spPr>
          <a:xfrm>
            <a:off x="2423160" y="2350008"/>
            <a:ext cx="57150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2016. Es la reglamentación específica del artículo 131 y continúa vigente.</a:t>
            </a:r>
            <a:endParaRPr lang="en-US" sz="1100" dirty="0"/>
          </a:p>
        </p:txBody>
      </p:sp>
      <p:sp>
        <p:nvSpPr>
          <p:cNvPr id="13" name="Shape 11"/>
          <p:cNvSpPr/>
          <p:nvPr/>
        </p:nvSpPr>
        <p:spPr>
          <a:xfrm>
            <a:off x="640080" y="3081528"/>
            <a:ext cx="7680960" cy="658368"/>
          </a:xfrm>
          <a:prstGeom prst="roundRect">
            <a:avLst>
              <a:gd name="adj" fmla="val 11111"/>
            </a:avLst>
          </a:prstGeom>
          <a:solidFill>
            <a:srgbClr val="F3E4E3"/>
          </a:solidFill>
          <a:ln/>
        </p:spPr>
      </p:sp>
      <p:sp>
        <p:nvSpPr>
          <p:cNvPr id="14" name="Shape 12"/>
          <p:cNvSpPr/>
          <p:nvPr/>
        </p:nvSpPr>
        <p:spPr>
          <a:xfrm>
            <a:off x="786384" y="3227832"/>
            <a:ext cx="365760" cy="365760"/>
          </a:xfrm>
          <a:prstGeom prst="ellipse">
            <a:avLst/>
          </a:prstGeom>
          <a:solidFill>
            <a:srgbClr val="F6CFCB"/>
          </a:solidFill>
          <a:ln/>
        </p:spPr>
      </p:sp>
      <p:sp>
        <p:nvSpPr>
          <p:cNvPr id="15" name="Text 13"/>
          <p:cNvSpPr txBox="1"/>
          <p:nvPr/>
        </p:nvSpPr>
        <p:spPr>
          <a:xfrm>
            <a:off x="786384" y="3227832"/>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R</a:t>
            </a:r>
            <a:endParaRPr lang="en-US" sz="1400" dirty="0"/>
          </a:p>
        </p:txBody>
      </p:sp>
      <p:sp>
        <p:nvSpPr>
          <p:cNvPr id="16" name="Text 14"/>
          <p:cNvSpPr txBox="1"/>
          <p:nvPr/>
        </p:nvSpPr>
        <p:spPr>
          <a:xfrm>
            <a:off x="1261872" y="3118104"/>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Pertinencia</a:t>
            </a:r>
            <a:endParaRPr lang="en-US" sz="1100" dirty="0"/>
          </a:p>
        </p:txBody>
      </p:sp>
      <p:sp>
        <p:nvSpPr>
          <p:cNvPr id="17" name="Text 15"/>
          <p:cNvSpPr txBox="1"/>
          <p:nvPr/>
        </p:nvSpPr>
        <p:spPr>
          <a:xfrm>
            <a:off x="2423160" y="3099816"/>
            <a:ext cx="57150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Aporta el detalle operativo: tipos de beca, tutoría, disciplinas mínimas y derechos concretos del estudiante.</a:t>
            </a:r>
            <a:endParaRPr lang="en-US" sz="1100" dirty="0"/>
          </a:p>
        </p:txBody>
      </p:sp>
      <p:sp>
        <p:nvSpPr>
          <p:cNvPr id="18" name="Shape 16"/>
          <p:cNvSpPr/>
          <p:nvPr/>
        </p:nvSpPr>
        <p:spPr>
          <a:xfrm>
            <a:off x="640080" y="3831336"/>
            <a:ext cx="10881360" cy="658368"/>
          </a:xfrm>
          <a:prstGeom prst="roundRect">
            <a:avLst>
              <a:gd name="adj" fmla="val 11111"/>
            </a:avLst>
          </a:prstGeom>
          <a:solidFill>
            <a:srgbClr val="F3E4E3"/>
          </a:solidFill>
          <a:ln/>
        </p:spPr>
      </p:sp>
      <p:sp>
        <p:nvSpPr>
          <p:cNvPr id="19" name="Shape 17"/>
          <p:cNvSpPr/>
          <p:nvPr/>
        </p:nvSpPr>
        <p:spPr>
          <a:xfrm>
            <a:off x="786384" y="3977640"/>
            <a:ext cx="365760" cy="365760"/>
          </a:xfrm>
          <a:prstGeom prst="ellipse">
            <a:avLst/>
          </a:prstGeom>
          <a:solidFill>
            <a:srgbClr val="F6CFCB"/>
          </a:solidFill>
          <a:ln/>
        </p:spPr>
      </p:sp>
      <p:sp>
        <p:nvSpPr>
          <p:cNvPr id="20" name="Text 18"/>
          <p:cNvSpPr txBox="1"/>
          <p:nvPr/>
        </p:nvSpPr>
        <p:spPr>
          <a:xfrm>
            <a:off x="786384" y="3977640"/>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A</a:t>
            </a:r>
            <a:endParaRPr lang="en-US" sz="1400" dirty="0"/>
          </a:p>
        </p:txBody>
      </p:sp>
      <p:sp>
        <p:nvSpPr>
          <p:cNvPr id="21" name="Text 19"/>
          <p:cNvSpPr txBox="1"/>
          <p:nvPr/>
        </p:nvSpPr>
        <p:spPr>
          <a:xfrm>
            <a:off x="1261872" y="3867912"/>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Autoridad</a:t>
            </a:r>
            <a:endParaRPr lang="en-US" sz="1100" dirty="0"/>
          </a:p>
        </p:txBody>
      </p:sp>
      <p:sp>
        <p:nvSpPr>
          <p:cNvPr id="22" name="Text 20"/>
          <p:cNvSpPr txBox="1"/>
          <p:nvPr/>
        </p:nvSpPr>
        <p:spPr>
          <a:xfrm>
            <a:off x="2423160" y="3849624"/>
            <a:ext cx="89154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Congreso de la República. Publicada también en el portal de normas legales de El Peruano.</a:t>
            </a:r>
            <a:endParaRPr lang="en-US" sz="1100" dirty="0"/>
          </a:p>
        </p:txBody>
      </p:sp>
      <p:sp>
        <p:nvSpPr>
          <p:cNvPr id="23" name="Shape 21"/>
          <p:cNvSpPr/>
          <p:nvPr/>
        </p:nvSpPr>
        <p:spPr>
          <a:xfrm>
            <a:off x="640080" y="4581144"/>
            <a:ext cx="10881360" cy="658368"/>
          </a:xfrm>
          <a:prstGeom prst="roundRect">
            <a:avLst>
              <a:gd name="adj" fmla="val 11111"/>
            </a:avLst>
          </a:prstGeom>
          <a:solidFill>
            <a:srgbClr val="F3E4E3"/>
          </a:solidFill>
          <a:ln/>
        </p:spPr>
      </p:sp>
      <p:sp>
        <p:nvSpPr>
          <p:cNvPr id="24" name="Shape 22"/>
          <p:cNvSpPr/>
          <p:nvPr/>
        </p:nvSpPr>
        <p:spPr>
          <a:xfrm>
            <a:off x="786384" y="4727448"/>
            <a:ext cx="365760" cy="365760"/>
          </a:xfrm>
          <a:prstGeom prst="ellipse">
            <a:avLst/>
          </a:prstGeom>
          <a:solidFill>
            <a:srgbClr val="F6CFCB"/>
          </a:solidFill>
          <a:ln/>
        </p:spPr>
      </p:sp>
      <p:sp>
        <p:nvSpPr>
          <p:cNvPr id="25" name="Text 23"/>
          <p:cNvSpPr txBox="1"/>
          <p:nvPr/>
        </p:nvSpPr>
        <p:spPr>
          <a:xfrm>
            <a:off x="786384" y="4727448"/>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A</a:t>
            </a:r>
            <a:endParaRPr lang="en-US" sz="1400" dirty="0"/>
          </a:p>
        </p:txBody>
      </p:sp>
      <p:sp>
        <p:nvSpPr>
          <p:cNvPr id="26" name="Text 24"/>
          <p:cNvSpPr txBox="1"/>
          <p:nvPr/>
        </p:nvSpPr>
        <p:spPr>
          <a:xfrm>
            <a:off x="1261872" y="4617720"/>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Exactitud</a:t>
            </a:r>
            <a:endParaRPr lang="en-US" sz="1100" dirty="0"/>
          </a:p>
        </p:txBody>
      </p:sp>
      <p:sp>
        <p:nvSpPr>
          <p:cNvPr id="27" name="Text 25"/>
          <p:cNvSpPr txBox="1"/>
          <p:nvPr/>
        </p:nvSpPr>
        <p:spPr>
          <a:xfrm>
            <a:off x="2423160" y="4599432"/>
            <a:ext cx="89154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Establece porcentajes y mínimos exactos, no formulaciones vagas. Se puede contrastar con el texto original en PDF.</a:t>
            </a:r>
            <a:endParaRPr lang="en-US" sz="1100" dirty="0"/>
          </a:p>
        </p:txBody>
      </p:sp>
      <p:sp>
        <p:nvSpPr>
          <p:cNvPr id="28" name="Shape 26"/>
          <p:cNvSpPr/>
          <p:nvPr/>
        </p:nvSpPr>
        <p:spPr>
          <a:xfrm>
            <a:off x="640080" y="5330952"/>
            <a:ext cx="10881360" cy="658368"/>
          </a:xfrm>
          <a:prstGeom prst="roundRect">
            <a:avLst>
              <a:gd name="adj" fmla="val 11111"/>
            </a:avLst>
          </a:prstGeom>
          <a:solidFill>
            <a:srgbClr val="F3E4E3"/>
          </a:solidFill>
          <a:ln/>
        </p:spPr>
      </p:sp>
      <p:sp>
        <p:nvSpPr>
          <p:cNvPr id="29" name="Shape 27"/>
          <p:cNvSpPr/>
          <p:nvPr/>
        </p:nvSpPr>
        <p:spPr>
          <a:xfrm>
            <a:off x="786384" y="5477256"/>
            <a:ext cx="365760" cy="365760"/>
          </a:xfrm>
          <a:prstGeom prst="ellipse">
            <a:avLst/>
          </a:prstGeom>
          <a:solidFill>
            <a:srgbClr val="F6CFCB"/>
          </a:solidFill>
          <a:ln/>
        </p:spPr>
      </p:sp>
      <p:sp>
        <p:nvSpPr>
          <p:cNvPr id="30" name="Text 28"/>
          <p:cNvSpPr txBox="1"/>
          <p:nvPr/>
        </p:nvSpPr>
        <p:spPr>
          <a:xfrm>
            <a:off x="786384" y="5477256"/>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P</a:t>
            </a:r>
            <a:endParaRPr lang="en-US" sz="1400" dirty="0"/>
          </a:p>
        </p:txBody>
      </p:sp>
      <p:sp>
        <p:nvSpPr>
          <p:cNvPr id="31" name="Text 29"/>
          <p:cNvSpPr txBox="1"/>
          <p:nvPr/>
        </p:nvSpPr>
        <p:spPr>
          <a:xfrm>
            <a:off x="1261872" y="5367528"/>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Propósito</a:t>
            </a:r>
            <a:endParaRPr lang="en-US" sz="1100" dirty="0"/>
          </a:p>
        </p:txBody>
      </p:sp>
      <p:sp>
        <p:nvSpPr>
          <p:cNvPr id="32" name="Text 30"/>
          <p:cNvSpPr txBox="1"/>
          <p:nvPr/>
        </p:nvSpPr>
        <p:spPr>
          <a:xfrm>
            <a:off x="2423160" y="5349240"/>
            <a:ext cx="89154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Regular una obligación institucional. Sin interés promocional de ninguna universidad en particular.</a:t>
            </a:r>
            <a:endParaRPr lang="en-US" sz="1100" dirty="0"/>
          </a:p>
        </p:txBody>
      </p:sp>
      <p:sp>
        <p:nvSpPr>
          <p:cNvPr id="33" name="Text 31"/>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900" dirty="0">
                <a:solidFill>
                  <a:srgbClr val="5A4241"/>
                </a:solidFill>
                <a:latin typeface="Calibri" pitchFamily="34" charset="0"/>
                <a:ea typeface="Calibri" pitchFamily="34" charset="-122"/>
                <a:cs typeface="Calibri" pitchFamily="34" charset="-120"/>
              </a:rPr>
              <a:t>Universidades y selección peruana · Método CRAAP</a:t>
            </a:r>
            <a:endParaRPr lang="en-US" sz="900" dirty="0"/>
          </a:p>
        </p:txBody>
      </p:sp>
      <p:sp>
        <p:nvSpPr>
          <p:cNvPr id="34" name="Text 32"/>
          <p:cNvSpPr txBox="1"/>
          <p:nvPr/>
        </p:nvSpPr>
        <p:spPr>
          <a:xfrm>
            <a:off x="10972800" y="6382512"/>
            <a:ext cx="548640" cy="274320"/>
          </a:xfrm>
          <a:prstGeom prst="rect">
            <a:avLst/>
          </a:prstGeom>
          <a:noFill/>
          <a:ln/>
        </p:spPr>
        <p:txBody>
          <a:bodyPr wrap="square" lIns="0" tIns="0" rIns="0" bIns="0" rtlCol="0" anchor="ctr"/>
          <a:lstStyle/>
          <a:p>
            <a:pPr algn="r" indent="0" marL="0">
              <a:buNone/>
            </a:pPr>
            <a:r>
              <a:rPr lang="en-US" sz="900" dirty="0">
                <a:solidFill>
                  <a:srgbClr val="5A4241"/>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7F6"/>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E8B54C"/>
                </a:solidFill>
                <a:latin typeface="Calibri" pitchFamily="34" charset="0"/>
                <a:ea typeface="Calibri" pitchFamily="34" charset="-122"/>
                <a:cs typeface="Calibri" pitchFamily="34" charset="-120"/>
              </a:rPr>
              <a:t>EVALUACIÓN CRAAP</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t"/>
          <a:lstStyle/>
          <a:p>
            <a:pPr indent="0" marL="0">
              <a:buNone/>
            </a:pPr>
            <a:r>
              <a:rPr lang="en-US" sz="2800" b="1" dirty="0">
                <a:solidFill>
                  <a:srgbClr val="8E0B26"/>
                </a:solidFill>
                <a:latin typeface="Cambria" pitchFamily="34" charset="0"/>
                <a:ea typeface="Cambria" pitchFamily="34" charset="-122"/>
                <a:cs typeface="Cambria" pitchFamily="34" charset="-120"/>
              </a:rPr>
              <a:t>F3 · Deportes UPC, «Deportistas calificados» (s. f.)</a:t>
            </a:r>
            <a:endParaRPr lang="en-US" sz="2800" dirty="0"/>
          </a:p>
        </p:txBody>
      </p:sp>
      <p:sp>
        <p:nvSpPr>
          <p:cNvPr id="4" name="Text 2"/>
          <p:cNvSpPr txBox="1"/>
          <p:nvPr/>
        </p:nvSpPr>
        <p:spPr>
          <a:xfrm>
            <a:off x="640080" y="1481328"/>
            <a:ext cx="7680960" cy="594360"/>
          </a:xfrm>
          <a:prstGeom prst="rect">
            <a:avLst/>
          </a:prstGeom>
          <a:noFill/>
          <a:ln/>
        </p:spPr>
        <p:txBody>
          <a:bodyPr wrap="square" lIns="0" tIns="0" rIns="0" bIns="0" rtlCol="0" anchor="t"/>
          <a:lstStyle/>
          <a:p>
            <a:pPr indent="0" marL="0">
              <a:lnSpc>
                <a:spcPts val="1600"/>
              </a:lnSpc>
              <a:buNone/>
            </a:pPr>
            <a:r>
              <a:rPr lang="en-US" sz="1150" i="1" dirty="0">
                <a:solidFill>
                  <a:srgbClr val="5A4241"/>
                </a:solidFill>
                <a:latin typeface="Calibri" pitchFamily="34" charset="0"/>
                <a:ea typeface="Calibri" pitchFamily="34" charset="-122"/>
                <a:cs typeface="Calibri" pitchFamily="34" charset="-120"/>
              </a:rPr>
              <a:t>Universidad Peruana de Ciencias Aplicadas · Página institucional del área de Vida Universitaria · Sitio web de actualización constante · Consultada el 11 de septiembre de 2026</a:t>
            </a:r>
            <a:endParaRPr lang="en-US" sz="1150" dirty="0"/>
          </a:p>
        </p:txBody>
      </p:sp>
      <p:sp>
        <p:nvSpPr>
          <p:cNvPr id="5" name="Shape 3"/>
          <p:cNvSpPr/>
          <p:nvPr/>
        </p:nvSpPr>
        <p:spPr>
          <a:xfrm>
            <a:off x="8869680" y="1463040"/>
            <a:ext cx="2651760" cy="1965960"/>
          </a:xfrm>
          <a:prstGeom prst="roundRect">
            <a:avLst>
              <a:gd name="adj" fmla="val 4651"/>
            </a:avLst>
          </a:prstGeom>
          <a:solidFill>
            <a:srgbClr val="8E0B26"/>
          </a:solidFill>
          <a:ln/>
        </p:spPr>
      </p:sp>
      <p:sp>
        <p:nvSpPr>
          <p:cNvPr id="6" name="Text 4"/>
          <p:cNvSpPr txBox="1"/>
          <p:nvPr/>
        </p:nvSpPr>
        <p:spPr>
          <a:xfrm>
            <a:off x="8869680" y="1645920"/>
            <a:ext cx="2651760" cy="914400"/>
          </a:xfrm>
          <a:prstGeom prst="rect">
            <a:avLst/>
          </a:prstGeom>
          <a:noFill/>
          <a:ln/>
        </p:spPr>
        <p:txBody>
          <a:bodyPr wrap="square" lIns="0" tIns="0" rIns="0" bIns="0" rtlCol="0" anchor="ctr"/>
          <a:lstStyle/>
          <a:p>
            <a:pPr algn="ctr" indent="0" marL="0">
              <a:buNone/>
            </a:pPr>
            <a:r>
              <a:rPr lang="en-US" sz="4000" b="1" dirty="0">
                <a:solidFill>
                  <a:srgbClr val="E8B54C"/>
                </a:solidFill>
                <a:latin typeface="Cambria" pitchFamily="34" charset="0"/>
                <a:ea typeface="Cambria" pitchFamily="34" charset="-122"/>
                <a:cs typeface="Cambria" pitchFamily="34" charset="-120"/>
              </a:rPr>
              <a:t>3/5</a:t>
            </a:r>
            <a:endParaRPr lang="en-US" sz="4000" dirty="0"/>
          </a:p>
        </p:txBody>
      </p:sp>
      <p:sp>
        <p:nvSpPr>
          <p:cNvPr id="7" name="Text 5"/>
          <p:cNvSpPr txBox="1"/>
          <p:nvPr/>
        </p:nvSpPr>
        <p:spPr>
          <a:xfrm>
            <a:off x="9052560" y="2606040"/>
            <a:ext cx="2286000" cy="685800"/>
          </a:xfrm>
          <a:prstGeom prst="rect">
            <a:avLst/>
          </a:prstGeom>
          <a:noFill/>
          <a:ln/>
        </p:spPr>
        <p:txBody>
          <a:bodyPr wrap="square" lIns="0" tIns="0" rIns="0" bIns="0" rtlCol="0" anchor="t"/>
          <a:lstStyle/>
          <a:p>
            <a:pPr algn="ctr" indent="0" marL="0">
              <a:lnSpc>
                <a:spcPts val="1500"/>
              </a:lnSpc>
              <a:buNone/>
            </a:pPr>
            <a:r>
              <a:rPr lang="en-US" sz="1150" dirty="0">
                <a:solidFill>
                  <a:srgbClr val="FDF7F6"/>
                </a:solidFill>
                <a:latin typeface="Calibri" pitchFamily="34" charset="0"/>
                <a:ea typeface="Calibri" pitchFamily="34" charset="-122"/>
                <a:cs typeface="Calibri" pitchFamily="34" charset="-120"/>
              </a:rPr>
              <a:t>Útil como dato de caso. Requiere contraste.</a:t>
            </a:r>
            <a:endParaRPr lang="en-US" sz="1150" dirty="0"/>
          </a:p>
        </p:txBody>
      </p:sp>
      <p:sp>
        <p:nvSpPr>
          <p:cNvPr id="8" name="Shape 6"/>
          <p:cNvSpPr/>
          <p:nvPr/>
        </p:nvSpPr>
        <p:spPr>
          <a:xfrm>
            <a:off x="640080" y="2331720"/>
            <a:ext cx="7680960" cy="658368"/>
          </a:xfrm>
          <a:prstGeom prst="roundRect">
            <a:avLst>
              <a:gd name="adj" fmla="val 11111"/>
            </a:avLst>
          </a:prstGeom>
          <a:solidFill>
            <a:srgbClr val="F3E4E3"/>
          </a:solidFill>
          <a:ln/>
        </p:spPr>
      </p:sp>
      <p:sp>
        <p:nvSpPr>
          <p:cNvPr id="9" name="Shape 7"/>
          <p:cNvSpPr/>
          <p:nvPr/>
        </p:nvSpPr>
        <p:spPr>
          <a:xfrm>
            <a:off x="786384" y="2478024"/>
            <a:ext cx="365760" cy="365760"/>
          </a:xfrm>
          <a:prstGeom prst="ellipse">
            <a:avLst/>
          </a:prstGeom>
          <a:solidFill>
            <a:srgbClr val="F6CFCB"/>
          </a:solidFill>
          <a:ln/>
        </p:spPr>
      </p:sp>
      <p:sp>
        <p:nvSpPr>
          <p:cNvPr id="10" name="Text 8"/>
          <p:cNvSpPr txBox="1"/>
          <p:nvPr/>
        </p:nvSpPr>
        <p:spPr>
          <a:xfrm>
            <a:off x="786384" y="2478024"/>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C</a:t>
            </a:r>
            <a:endParaRPr lang="en-US" sz="1400" dirty="0"/>
          </a:p>
        </p:txBody>
      </p:sp>
      <p:sp>
        <p:nvSpPr>
          <p:cNvPr id="11" name="Text 9"/>
          <p:cNvSpPr txBox="1"/>
          <p:nvPr/>
        </p:nvSpPr>
        <p:spPr>
          <a:xfrm>
            <a:off x="1261872" y="2368296"/>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Vigencia</a:t>
            </a:r>
            <a:endParaRPr lang="en-US" sz="1100" dirty="0"/>
          </a:p>
        </p:txBody>
      </p:sp>
      <p:sp>
        <p:nvSpPr>
          <p:cNvPr id="12" name="Text 10"/>
          <p:cNvSpPr txBox="1"/>
          <p:nvPr/>
        </p:nvSpPr>
        <p:spPr>
          <a:xfrm>
            <a:off x="2423160" y="2350008"/>
            <a:ext cx="57150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Sin fecha de publicación visible. Se actualiza con cada proceso de admisión, por eso se anota la fecha de consulta.</a:t>
            </a:r>
            <a:endParaRPr lang="en-US" sz="1100" dirty="0"/>
          </a:p>
        </p:txBody>
      </p:sp>
      <p:sp>
        <p:nvSpPr>
          <p:cNvPr id="13" name="Shape 11"/>
          <p:cNvSpPr/>
          <p:nvPr/>
        </p:nvSpPr>
        <p:spPr>
          <a:xfrm>
            <a:off x="640080" y="3081528"/>
            <a:ext cx="7680960" cy="658368"/>
          </a:xfrm>
          <a:prstGeom prst="roundRect">
            <a:avLst>
              <a:gd name="adj" fmla="val 11111"/>
            </a:avLst>
          </a:prstGeom>
          <a:solidFill>
            <a:srgbClr val="F3E4E3"/>
          </a:solidFill>
          <a:ln/>
        </p:spPr>
      </p:sp>
      <p:sp>
        <p:nvSpPr>
          <p:cNvPr id="14" name="Shape 12"/>
          <p:cNvSpPr/>
          <p:nvPr/>
        </p:nvSpPr>
        <p:spPr>
          <a:xfrm>
            <a:off x="786384" y="3227832"/>
            <a:ext cx="365760" cy="365760"/>
          </a:xfrm>
          <a:prstGeom prst="ellipse">
            <a:avLst/>
          </a:prstGeom>
          <a:solidFill>
            <a:srgbClr val="F6CFCB"/>
          </a:solidFill>
          <a:ln/>
        </p:spPr>
      </p:sp>
      <p:sp>
        <p:nvSpPr>
          <p:cNvPr id="15" name="Text 13"/>
          <p:cNvSpPr txBox="1"/>
          <p:nvPr/>
        </p:nvSpPr>
        <p:spPr>
          <a:xfrm>
            <a:off x="786384" y="3227832"/>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R</a:t>
            </a:r>
            <a:endParaRPr lang="en-US" sz="1400" dirty="0"/>
          </a:p>
        </p:txBody>
      </p:sp>
      <p:sp>
        <p:nvSpPr>
          <p:cNvPr id="16" name="Text 14"/>
          <p:cNvSpPr txBox="1"/>
          <p:nvPr/>
        </p:nvSpPr>
        <p:spPr>
          <a:xfrm>
            <a:off x="1261872" y="3118104"/>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Pertinencia</a:t>
            </a:r>
            <a:endParaRPr lang="en-US" sz="1100" dirty="0"/>
          </a:p>
        </p:txBody>
      </p:sp>
      <p:sp>
        <p:nvSpPr>
          <p:cNvPr id="17" name="Text 15"/>
          <p:cNvSpPr txBox="1"/>
          <p:nvPr/>
        </p:nvSpPr>
        <p:spPr>
          <a:xfrm>
            <a:off x="2423160" y="3099816"/>
            <a:ext cx="57150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Da un caso concreto peruano con cifra incluida, que es justo lo que falta en las fuentes normativas.</a:t>
            </a:r>
            <a:endParaRPr lang="en-US" sz="1100" dirty="0"/>
          </a:p>
        </p:txBody>
      </p:sp>
      <p:sp>
        <p:nvSpPr>
          <p:cNvPr id="18" name="Shape 16"/>
          <p:cNvSpPr/>
          <p:nvPr/>
        </p:nvSpPr>
        <p:spPr>
          <a:xfrm>
            <a:off x="640080" y="3831336"/>
            <a:ext cx="10881360" cy="658368"/>
          </a:xfrm>
          <a:prstGeom prst="roundRect">
            <a:avLst>
              <a:gd name="adj" fmla="val 11111"/>
            </a:avLst>
          </a:prstGeom>
          <a:solidFill>
            <a:srgbClr val="F3E4E3"/>
          </a:solidFill>
          <a:ln/>
        </p:spPr>
      </p:sp>
      <p:sp>
        <p:nvSpPr>
          <p:cNvPr id="19" name="Shape 17"/>
          <p:cNvSpPr/>
          <p:nvPr/>
        </p:nvSpPr>
        <p:spPr>
          <a:xfrm>
            <a:off x="786384" y="3977640"/>
            <a:ext cx="365760" cy="365760"/>
          </a:xfrm>
          <a:prstGeom prst="ellipse">
            <a:avLst/>
          </a:prstGeom>
          <a:solidFill>
            <a:srgbClr val="F6CFCB"/>
          </a:solidFill>
          <a:ln/>
        </p:spPr>
      </p:sp>
      <p:sp>
        <p:nvSpPr>
          <p:cNvPr id="20" name="Text 18"/>
          <p:cNvSpPr txBox="1"/>
          <p:nvPr/>
        </p:nvSpPr>
        <p:spPr>
          <a:xfrm>
            <a:off x="786384" y="3977640"/>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A</a:t>
            </a:r>
            <a:endParaRPr lang="en-US" sz="1400" dirty="0"/>
          </a:p>
        </p:txBody>
      </p:sp>
      <p:sp>
        <p:nvSpPr>
          <p:cNvPr id="21" name="Text 19"/>
          <p:cNvSpPr txBox="1"/>
          <p:nvPr/>
        </p:nvSpPr>
        <p:spPr>
          <a:xfrm>
            <a:off x="1261872" y="3867912"/>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Autoridad</a:t>
            </a:r>
            <a:endParaRPr lang="en-US" sz="1100" dirty="0"/>
          </a:p>
        </p:txBody>
      </p:sp>
      <p:sp>
        <p:nvSpPr>
          <p:cNvPr id="22" name="Text 20"/>
          <p:cNvSpPr txBox="1"/>
          <p:nvPr/>
        </p:nvSpPr>
        <p:spPr>
          <a:xfrm>
            <a:off x="2423160" y="3849624"/>
            <a:ext cx="89154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La propia universidad. Es autoridad sobre sus datos internos, pero es parte interesada en el tema.</a:t>
            </a:r>
            <a:endParaRPr lang="en-US" sz="1100" dirty="0"/>
          </a:p>
        </p:txBody>
      </p:sp>
      <p:sp>
        <p:nvSpPr>
          <p:cNvPr id="23" name="Shape 21"/>
          <p:cNvSpPr/>
          <p:nvPr/>
        </p:nvSpPr>
        <p:spPr>
          <a:xfrm>
            <a:off x="640080" y="4581144"/>
            <a:ext cx="10881360" cy="658368"/>
          </a:xfrm>
          <a:prstGeom prst="roundRect">
            <a:avLst>
              <a:gd name="adj" fmla="val 11111"/>
            </a:avLst>
          </a:prstGeom>
          <a:solidFill>
            <a:srgbClr val="F3E4E3"/>
          </a:solidFill>
          <a:ln/>
        </p:spPr>
      </p:sp>
      <p:sp>
        <p:nvSpPr>
          <p:cNvPr id="24" name="Shape 22"/>
          <p:cNvSpPr/>
          <p:nvPr/>
        </p:nvSpPr>
        <p:spPr>
          <a:xfrm>
            <a:off x="786384" y="4727448"/>
            <a:ext cx="365760" cy="365760"/>
          </a:xfrm>
          <a:prstGeom prst="ellipse">
            <a:avLst/>
          </a:prstGeom>
          <a:solidFill>
            <a:srgbClr val="F6CFCB"/>
          </a:solidFill>
          <a:ln/>
        </p:spPr>
      </p:sp>
      <p:sp>
        <p:nvSpPr>
          <p:cNvPr id="25" name="Text 23"/>
          <p:cNvSpPr txBox="1"/>
          <p:nvPr/>
        </p:nvSpPr>
        <p:spPr>
          <a:xfrm>
            <a:off x="786384" y="4727448"/>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A</a:t>
            </a:r>
            <a:endParaRPr lang="en-US" sz="1400" dirty="0"/>
          </a:p>
        </p:txBody>
      </p:sp>
      <p:sp>
        <p:nvSpPr>
          <p:cNvPr id="26" name="Text 24"/>
          <p:cNvSpPr txBox="1"/>
          <p:nvPr/>
        </p:nvSpPr>
        <p:spPr>
          <a:xfrm>
            <a:off x="1261872" y="4617720"/>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Exactitud</a:t>
            </a:r>
            <a:endParaRPr lang="en-US" sz="1100" dirty="0"/>
          </a:p>
        </p:txBody>
      </p:sp>
      <p:sp>
        <p:nvSpPr>
          <p:cNvPr id="27" name="Text 25"/>
          <p:cNvSpPr txBox="1"/>
          <p:nvPr/>
        </p:nvSpPr>
        <p:spPr>
          <a:xfrm>
            <a:off x="2423160" y="4599432"/>
            <a:ext cx="89154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La cifra de más de 200 deportistas calificados no está respaldada por un informe público ni auditada externamente.</a:t>
            </a:r>
            <a:endParaRPr lang="en-US" sz="1100" dirty="0"/>
          </a:p>
        </p:txBody>
      </p:sp>
      <p:sp>
        <p:nvSpPr>
          <p:cNvPr id="28" name="Shape 26"/>
          <p:cNvSpPr/>
          <p:nvPr/>
        </p:nvSpPr>
        <p:spPr>
          <a:xfrm>
            <a:off x="640080" y="5330952"/>
            <a:ext cx="10881360" cy="658368"/>
          </a:xfrm>
          <a:prstGeom prst="roundRect">
            <a:avLst>
              <a:gd name="adj" fmla="val 11111"/>
            </a:avLst>
          </a:prstGeom>
          <a:solidFill>
            <a:srgbClr val="F3E4E3"/>
          </a:solidFill>
          <a:ln/>
        </p:spPr>
      </p:sp>
      <p:sp>
        <p:nvSpPr>
          <p:cNvPr id="29" name="Shape 27"/>
          <p:cNvSpPr/>
          <p:nvPr/>
        </p:nvSpPr>
        <p:spPr>
          <a:xfrm>
            <a:off x="786384" y="5477256"/>
            <a:ext cx="365760" cy="365760"/>
          </a:xfrm>
          <a:prstGeom prst="ellipse">
            <a:avLst/>
          </a:prstGeom>
          <a:solidFill>
            <a:srgbClr val="F6CFCB"/>
          </a:solidFill>
          <a:ln/>
        </p:spPr>
      </p:sp>
      <p:sp>
        <p:nvSpPr>
          <p:cNvPr id="30" name="Text 28"/>
          <p:cNvSpPr txBox="1"/>
          <p:nvPr/>
        </p:nvSpPr>
        <p:spPr>
          <a:xfrm>
            <a:off x="786384" y="5477256"/>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P</a:t>
            </a:r>
            <a:endParaRPr lang="en-US" sz="1400" dirty="0"/>
          </a:p>
        </p:txBody>
      </p:sp>
      <p:sp>
        <p:nvSpPr>
          <p:cNvPr id="31" name="Text 29"/>
          <p:cNvSpPr txBox="1"/>
          <p:nvPr/>
        </p:nvSpPr>
        <p:spPr>
          <a:xfrm>
            <a:off x="1261872" y="5367528"/>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Propósito</a:t>
            </a:r>
            <a:endParaRPr lang="en-US" sz="1100" dirty="0"/>
          </a:p>
        </p:txBody>
      </p:sp>
      <p:sp>
        <p:nvSpPr>
          <p:cNvPr id="32" name="Text 30"/>
          <p:cNvSpPr txBox="1"/>
          <p:nvPr/>
        </p:nvSpPr>
        <p:spPr>
          <a:xfrm>
            <a:off x="2423160" y="5349240"/>
            <a:ext cx="89154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Captar postulantes. El dato puede ser cierto y estar, aun así, redactado para convencer. Ese es el punto del criterio.</a:t>
            </a:r>
            <a:endParaRPr lang="en-US" sz="1100" dirty="0"/>
          </a:p>
        </p:txBody>
      </p:sp>
      <p:sp>
        <p:nvSpPr>
          <p:cNvPr id="33" name="Text 31"/>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900" dirty="0">
                <a:solidFill>
                  <a:srgbClr val="5A4241"/>
                </a:solidFill>
                <a:latin typeface="Calibri" pitchFamily="34" charset="0"/>
                <a:ea typeface="Calibri" pitchFamily="34" charset="-122"/>
                <a:cs typeface="Calibri" pitchFamily="34" charset="-120"/>
              </a:rPr>
              <a:t>Universidades y selección peruana · Método CRAAP</a:t>
            </a:r>
            <a:endParaRPr lang="en-US" sz="900" dirty="0"/>
          </a:p>
        </p:txBody>
      </p:sp>
      <p:sp>
        <p:nvSpPr>
          <p:cNvPr id="34" name="Text 32"/>
          <p:cNvSpPr txBox="1"/>
          <p:nvPr/>
        </p:nvSpPr>
        <p:spPr>
          <a:xfrm>
            <a:off x="10972800" y="6382512"/>
            <a:ext cx="548640" cy="274320"/>
          </a:xfrm>
          <a:prstGeom prst="rect">
            <a:avLst/>
          </a:prstGeom>
          <a:noFill/>
          <a:ln/>
        </p:spPr>
        <p:txBody>
          <a:bodyPr wrap="square" lIns="0" tIns="0" rIns="0" bIns="0" rtlCol="0" anchor="ctr"/>
          <a:lstStyle/>
          <a:p>
            <a:pPr algn="r" indent="0" marL="0">
              <a:buNone/>
            </a:pPr>
            <a:r>
              <a:rPr lang="en-US" sz="900" dirty="0">
                <a:solidFill>
                  <a:srgbClr val="5A4241"/>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7F6"/>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E8B54C"/>
                </a:solidFill>
                <a:latin typeface="Calibri" pitchFamily="34" charset="0"/>
                <a:ea typeface="Calibri" pitchFamily="34" charset="-122"/>
                <a:cs typeface="Calibri" pitchFamily="34" charset="-120"/>
              </a:rPr>
              <a:t>EVALUACIÓN CRAAP</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t"/>
          <a:lstStyle/>
          <a:p>
            <a:pPr indent="0" marL="0">
              <a:buNone/>
            </a:pPr>
            <a:r>
              <a:rPr lang="en-US" sz="3400" b="1" dirty="0">
                <a:solidFill>
                  <a:srgbClr val="8E0B26"/>
                </a:solidFill>
                <a:latin typeface="Cambria" pitchFamily="34" charset="0"/>
                <a:ea typeface="Cambria" pitchFamily="34" charset="-122"/>
                <a:cs typeface="Cambria" pitchFamily="34" charset="-120"/>
              </a:rPr>
              <a:t>F4 · BECAD, PUCP (s. f.)</a:t>
            </a:r>
            <a:endParaRPr lang="en-US" sz="3400" dirty="0"/>
          </a:p>
        </p:txBody>
      </p:sp>
      <p:sp>
        <p:nvSpPr>
          <p:cNvPr id="4" name="Text 2"/>
          <p:cNvSpPr txBox="1"/>
          <p:nvPr/>
        </p:nvSpPr>
        <p:spPr>
          <a:xfrm>
            <a:off x="640080" y="1481328"/>
            <a:ext cx="7680960" cy="594360"/>
          </a:xfrm>
          <a:prstGeom prst="rect">
            <a:avLst/>
          </a:prstGeom>
          <a:noFill/>
          <a:ln/>
        </p:spPr>
        <p:txBody>
          <a:bodyPr wrap="square" lIns="0" tIns="0" rIns="0" bIns="0" rtlCol="0" anchor="t"/>
          <a:lstStyle/>
          <a:p>
            <a:pPr indent="0" marL="0">
              <a:lnSpc>
                <a:spcPts val="1600"/>
              </a:lnSpc>
              <a:buNone/>
            </a:pPr>
            <a:r>
              <a:rPr lang="en-US" sz="1150" i="1" dirty="0">
                <a:solidFill>
                  <a:srgbClr val="5A4241"/>
                </a:solidFill>
                <a:latin typeface="Calibri" pitchFamily="34" charset="0"/>
                <a:ea typeface="Calibri" pitchFamily="34" charset="-122"/>
                <a:cs typeface="Calibri" pitchFamily="34" charset="-120"/>
              </a:rPr>
              <a:t>Pontificia Universidad Católica del Perú · Página de la Beca para Deportistas Destacados · Sitio web de actualización constante · Consultada el 11 de septiembre de 2026</a:t>
            </a:r>
            <a:endParaRPr lang="en-US" sz="1150" dirty="0"/>
          </a:p>
        </p:txBody>
      </p:sp>
      <p:sp>
        <p:nvSpPr>
          <p:cNvPr id="5" name="Shape 3"/>
          <p:cNvSpPr/>
          <p:nvPr/>
        </p:nvSpPr>
        <p:spPr>
          <a:xfrm>
            <a:off x="8869680" y="1463040"/>
            <a:ext cx="2651760" cy="1965960"/>
          </a:xfrm>
          <a:prstGeom prst="roundRect">
            <a:avLst>
              <a:gd name="adj" fmla="val 4651"/>
            </a:avLst>
          </a:prstGeom>
          <a:solidFill>
            <a:srgbClr val="8E0B26"/>
          </a:solidFill>
          <a:ln/>
        </p:spPr>
      </p:sp>
      <p:sp>
        <p:nvSpPr>
          <p:cNvPr id="6" name="Text 4"/>
          <p:cNvSpPr txBox="1"/>
          <p:nvPr/>
        </p:nvSpPr>
        <p:spPr>
          <a:xfrm>
            <a:off x="8869680" y="1645920"/>
            <a:ext cx="2651760" cy="914400"/>
          </a:xfrm>
          <a:prstGeom prst="rect">
            <a:avLst/>
          </a:prstGeom>
          <a:noFill/>
          <a:ln/>
        </p:spPr>
        <p:txBody>
          <a:bodyPr wrap="square" lIns="0" tIns="0" rIns="0" bIns="0" rtlCol="0" anchor="ctr"/>
          <a:lstStyle/>
          <a:p>
            <a:pPr algn="ctr" indent="0" marL="0">
              <a:buNone/>
            </a:pPr>
            <a:r>
              <a:rPr lang="en-US" sz="4000" b="1" dirty="0">
                <a:solidFill>
                  <a:srgbClr val="E8B54C"/>
                </a:solidFill>
                <a:latin typeface="Cambria" pitchFamily="34" charset="0"/>
                <a:ea typeface="Cambria" pitchFamily="34" charset="-122"/>
                <a:cs typeface="Cambria" pitchFamily="34" charset="-120"/>
              </a:rPr>
              <a:t>3/5</a:t>
            </a:r>
            <a:endParaRPr lang="en-US" sz="4000" dirty="0"/>
          </a:p>
        </p:txBody>
      </p:sp>
      <p:sp>
        <p:nvSpPr>
          <p:cNvPr id="7" name="Text 5"/>
          <p:cNvSpPr txBox="1"/>
          <p:nvPr/>
        </p:nvSpPr>
        <p:spPr>
          <a:xfrm>
            <a:off x="9052560" y="2606040"/>
            <a:ext cx="2286000" cy="685800"/>
          </a:xfrm>
          <a:prstGeom prst="rect">
            <a:avLst/>
          </a:prstGeom>
          <a:noFill/>
          <a:ln/>
        </p:spPr>
        <p:txBody>
          <a:bodyPr wrap="square" lIns="0" tIns="0" rIns="0" bIns="0" rtlCol="0" anchor="t"/>
          <a:lstStyle/>
          <a:p>
            <a:pPr algn="ctr" indent="0" marL="0">
              <a:lnSpc>
                <a:spcPts val="1500"/>
              </a:lnSpc>
              <a:buNone/>
            </a:pPr>
            <a:r>
              <a:rPr lang="en-US" sz="1150" dirty="0">
                <a:solidFill>
                  <a:srgbClr val="FDF7F6"/>
                </a:solidFill>
                <a:latin typeface="Calibri" pitchFamily="34" charset="0"/>
                <a:ea typeface="Calibri" pitchFamily="34" charset="-122"/>
                <a:cs typeface="Calibri" pitchFamily="34" charset="-120"/>
              </a:rPr>
              <a:t>Válida para comparar modelos de beca. Parte interesada.</a:t>
            </a:r>
            <a:endParaRPr lang="en-US" sz="1150" dirty="0"/>
          </a:p>
        </p:txBody>
      </p:sp>
      <p:sp>
        <p:nvSpPr>
          <p:cNvPr id="8" name="Shape 6"/>
          <p:cNvSpPr/>
          <p:nvPr/>
        </p:nvSpPr>
        <p:spPr>
          <a:xfrm>
            <a:off x="640080" y="2331720"/>
            <a:ext cx="7680960" cy="658368"/>
          </a:xfrm>
          <a:prstGeom prst="roundRect">
            <a:avLst>
              <a:gd name="adj" fmla="val 11111"/>
            </a:avLst>
          </a:prstGeom>
          <a:solidFill>
            <a:srgbClr val="F3E4E3"/>
          </a:solidFill>
          <a:ln/>
        </p:spPr>
      </p:sp>
      <p:sp>
        <p:nvSpPr>
          <p:cNvPr id="9" name="Shape 7"/>
          <p:cNvSpPr/>
          <p:nvPr/>
        </p:nvSpPr>
        <p:spPr>
          <a:xfrm>
            <a:off x="786384" y="2478024"/>
            <a:ext cx="365760" cy="365760"/>
          </a:xfrm>
          <a:prstGeom prst="ellipse">
            <a:avLst/>
          </a:prstGeom>
          <a:solidFill>
            <a:srgbClr val="F6CFCB"/>
          </a:solidFill>
          <a:ln/>
        </p:spPr>
      </p:sp>
      <p:sp>
        <p:nvSpPr>
          <p:cNvPr id="10" name="Text 8"/>
          <p:cNvSpPr txBox="1"/>
          <p:nvPr/>
        </p:nvSpPr>
        <p:spPr>
          <a:xfrm>
            <a:off x="786384" y="2478024"/>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C</a:t>
            </a:r>
            <a:endParaRPr lang="en-US" sz="1400" dirty="0"/>
          </a:p>
        </p:txBody>
      </p:sp>
      <p:sp>
        <p:nvSpPr>
          <p:cNvPr id="11" name="Text 9"/>
          <p:cNvSpPr txBox="1"/>
          <p:nvPr/>
        </p:nvSpPr>
        <p:spPr>
          <a:xfrm>
            <a:off x="1261872" y="2368296"/>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Vigencia</a:t>
            </a:r>
            <a:endParaRPr lang="en-US" sz="1100" dirty="0"/>
          </a:p>
        </p:txBody>
      </p:sp>
      <p:sp>
        <p:nvSpPr>
          <p:cNvPr id="12" name="Text 10"/>
          <p:cNvSpPr txBox="1"/>
          <p:nvPr/>
        </p:nvSpPr>
        <p:spPr>
          <a:xfrm>
            <a:off x="2423160" y="2350008"/>
            <a:ext cx="57150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Sin fecha visible; corresponde al proceso de admisión vigente al momento de la consulta.</a:t>
            </a:r>
            <a:endParaRPr lang="en-US" sz="1100" dirty="0"/>
          </a:p>
        </p:txBody>
      </p:sp>
      <p:sp>
        <p:nvSpPr>
          <p:cNvPr id="13" name="Shape 11"/>
          <p:cNvSpPr/>
          <p:nvPr/>
        </p:nvSpPr>
        <p:spPr>
          <a:xfrm>
            <a:off x="640080" y="3081528"/>
            <a:ext cx="7680960" cy="658368"/>
          </a:xfrm>
          <a:prstGeom prst="roundRect">
            <a:avLst>
              <a:gd name="adj" fmla="val 11111"/>
            </a:avLst>
          </a:prstGeom>
          <a:solidFill>
            <a:srgbClr val="F3E4E3"/>
          </a:solidFill>
          <a:ln/>
        </p:spPr>
      </p:sp>
      <p:sp>
        <p:nvSpPr>
          <p:cNvPr id="14" name="Shape 12"/>
          <p:cNvSpPr/>
          <p:nvPr/>
        </p:nvSpPr>
        <p:spPr>
          <a:xfrm>
            <a:off x="786384" y="3227832"/>
            <a:ext cx="365760" cy="365760"/>
          </a:xfrm>
          <a:prstGeom prst="ellipse">
            <a:avLst/>
          </a:prstGeom>
          <a:solidFill>
            <a:srgbClr val="F6CFCB"/>
          </a:solidFill>
          <a:ln/>
        </p:spPr>
      </p:sp>
      <p:sp>
        <p:nvSpPr>
          <p:cNvPr id="15" name="Text 13"/>
          <p:cNvSpPr txBox="1"/>
          <p:nvPr/>
        </p:nvSpPr>
        <p:spPr>
          <a:xfrm>
            <a:off x="786384" y="3227832"/>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R</a:t>
            </a:r>
            <a:endParaRPr lang="en-US" sz="1400" dirty="0"/>
          </a:p>
        </p:txBody>
      </p:sp>
      <p:sp>
        <p:nvSpPr>
          <p:cNvPr id="16" name="Text 14"/>
          <p:cNvSpPr txBox="1"/>
          <p:nvPr/>
        </p:nvSpPr>
        <p:spPr>
          <a:xfrm>
            <a:off x="1261872" y="3118104"/>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Pertinencia</a:t>
            </a:r>
            <a:endParaRPr lang="en-US" sz="1100" dirty="0"/>
          </a:p>
        </p:txBody>
      </p:sp>
      <p:sp>
        <p:nvSpPr>
          <p:cNvPr id="17" name="Text 15"/>
          <p:cNvSpPr txBox="1"/>
          <p:nvPr/>
        </p:nvSpPr>
        <p:spPr>
          <a:xfrm>
            <a:off x="2423160" y="3099816"/>
            <a:ext cx="57150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Permite comparar cómo aplica una universidad distinta el mismo marco legal. Aporta contraste, no evidencia de impacto.</a:t>
            </a:r>
            <a:endParaRPr lang="en-US" sz="1100" dirty="0"/>
          </a:p>
        </p:txBody>
      </p:sp>
      <p:sp>
        <p:nvSpPr>
          <p:cNvPr id="18" name="Shape 16"/>
          <p:cNvSpPr/>
          <p:nvPr/>
        </p:nvSpPr>
        <p:spPr>
          <a:xfrm>
            <a:off x="640080" y="3831336"/>
            <a:ext cx="10881360" cy="658368"/>
          </a:xfrm>
          <a:prstGeom prst="roundRect">
            <a:avLst>
              <a:gd name="adj" fmla="val 11111"/>
            </a:avLst>
          </a:prstGeom>
          <a:solidFill>
            <a:srgbClr val="F3E4E3"/>
          </a:solidFill>
          <a:ln/>
        </p:spPr>
      </p:sp>
      <p:sp>
        <p:nvSpPr>
          <p:cNvPr id="19" name="Shape 17"/>
          <p:cNvSpPr/>
          <p:nvPr/>
        </p:nvSpPr>
        <p:spPr>
          <a:xfrm>
            <a:off x="786384" y="3977640"/>
            <a:ext cx="365760" cy="365760"/>
          </a:xfrm>
          <a:prstGeom prst="ellipse">
            <a:avLst/>
          </a:prstGeom>
          <a:solidFill>
            <a:srgbClr val="F6CFCB"/>
          </a:solidFill>
          <a:ln/>
        </p:spPr>
      </p:sp>
      <p:sp>
        <p:nvSpPr>
          <p:cNvPr id="20" name="Text 18"/>
          <p:cNvSpPr txBox="1"/>
          <p:nvPr/>
        </p:nvSpPr>
        <p:spPr>
          <a:xfrm>
            <a:off x="786384" y="3977640"/>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A</a:t>
            </a:r>
            <a:endParaRPr lang="en-US" sz="1400" dirty="0"/>
          </a:p>
        </p:txBody>
      </p:sp>
      <p:sp>
        <p:nvSpPr>
          <p:cNvPr id="21" name="Text 19"/>
          <p:cNvSpPr txBox="1"/>
          <p:nvPr/>
        </p:nvSpPr>
        <p:spPr>
          <a:xfrm>
            <a:off x="1261872" y="3867912"/>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Autoridad</a:t>
            </a:r>
            <a:endParaRPr lang="en-US" sz="1100" dirty="0"/>
          </a:p>
        </p:txBody>
      </p:sp>
      <p:sp>
        <p:nvSpPr>
          <p:cNvPr id="22" name="Text 20"/>
          <p:cNvSpPr txBox="1"/>
          <p:nvPr/>
        </p:nvSpPr>
        <p:spPr>
          <a:xfrm>
            <a:off x="2423160" y="3849624"/>
            <a:ext cx="89154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Universidad con prestigio académico reconocido, pero informando sobre su propio programa.</a:t>
            </a:r>
            <a:endParaRPr lang="en-US" sz="1100" dirty="0"/>
          </a:p>
        </p:txBody>
      </p:sp>
      <p:sp>
        <p:nvSpPr>
          <p:cNvPr id="23" name="Shape 21"/>
          <p:cNvSpPr/>
          <p:nvPr/>
        </p:nvSpPr>
        <p:spPr>
          <a:xfrm>
            <a:off x="640080" y="4581144"/>
            <a:ext cx="10881360" cy="658368"/>
          </a:xfrm>
          <a:prstGeom prst="roundRect">
            <a:avLst>
              <a:gd name="adj" fmla="val 11111"/>
            </a:avLst>
          </a:prstGeom>
          <a:solidFill>
            <a:srgbClr val="F3E4E3"/>
          </a:solidFill>
          <a:ln/>
        </p:spPr>
      </p:sp>
      <p:sp>
        <p:nvSpPr>
          <p:cNvPr id="24" name="Shape 22"/>
          <p:cNvSpPr/>
          <p:nvPr/>
        </p:nvSpPr>
        <p:spPr>
          <a:xfrm>
            <a:off x="786384" y="4727448"/>
            <a:ext cx="365760" cy="365760"/>
          </a:xfrm>
          <a:prstGeom prst="ellipse">
            <a:avLst/>
          </a:prstGeom>
          <a:solidFill>
            <a:srgbClr val="F6CFCB"/>
          </a:solidFill>
          <a:ln/>
        </p:spPr>
      </p:sp>
      <p:sp>
        <p:nvSpPr>
          <p:cNvPr id="25" name="Text 23"/>
          <p:cNvSpPr txBox="1"/>
          <p:nvPr/>
        </p:nvSpPr>
        <p:spPr>
          <a:xfrm>
            <a:off x="786384" y="4727448"/>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A</a:t>
            </a:r>
            <a:endParaRPr lang="en-US" sz="1400" dirty="0"/>
          </a:p>
        </p:txBody>
      </p:sp>
      <p:sp>
        <p:nvSpPr>
          <p:cNvPr id="26" name="Text 24"/>
          <p:cNvSpPr txBox="1"/>
          <p:nvPr/>
        </p:nvSpPr>
        <p:spPr>
          <a:xfrm>
            <a:off x="1261872" y="4617720"/>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Exactitud</a:t>
            </a:r>
            <a:endParaRPr lang="en-US" sz="1100" dirty="0"/>
          </a:p>
        </p:txBody>
      </p:sp>
      <p:sp>
        <p:nvSpPr>
          <p:cNvPr id="27" name="Text 25"/>
          <p:cNvSpPr txBox="1"/>
          <p:nvPr/>
        </p:nvSpPr>
        <p:spPr>
          <a:xfrm>
            <a:off x="2423160" y="4599432"/>
            <a:ext cx="89154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Describe requisitos y coberturas de forma clara; no publica número de becados ni resultados del programa.</a:t>
            </a:r>
            <a:endParaRPr lang="en-US" sz="1100" dirty="0"/>
          </a:p>
        </p:txBody>
      </p:sp>
      <p:sp>
        <p:nvSpPr>
          <p:cNvPr id="28" name="Shape 26"/>
          <p:cNvSpPr/>
          <p:nvPr/>
        </p:nvSpPr>
        <p:spPr>
          <a:xfrm>
            <a:off x="640080" y="5330952"/>
            <a:ext cx="10881360" cy="658368"/>
          </a:xfrm>
          <a:prstGeom prst="roundRect">
            <a:avLst>
              <a:gd name="adj" fmla="val 11111"/>
            </a:avLst>
          </a:prstGeom>
          <a:solidFill>
            <a:srgbClr val="F3E4E3"/>
          </a:solidFill>
          <a:ln/>
        </p:spPr>
      </p:sp>
      <p:sp>
        <p:nvSpPr>
          <p:cNvPr id="29" name="Shape 27"/>
          <p:cNvSpPr/>
          <p:nvPr/>
        </p:nvSpPr>
        <p:spPr>
          <a:xfrm>
            <a:off x="786384" y="5477256"/>
            <a:ext cx="365760" cy="365760"/>
          </a:xfrm>
          <a:prstGeom prst="ellipse">
            <a:avLst/>
          </a:prstGeom>
          <a:solidFill>
            <a:srgbClr val="F6CFCB"/>
          </a:solidFill>
          <a:ln/>
        </p:spPr>
      </p:sp>
      <p:sp>
        <p:nvSpPr>
          <p:cNvPr id="30" name="Text 28"/>
          <p:cNvSpPr txBox="1"/>
          <p:nvPr/>
        </p:nvSpPr>
        <p:spPr>
          <a:xfrm>
            <a:off x="786384" y="5477256"/>
            <a:ext cx="365760" cy="365760"/>
          </a:xfrm>
          <a:prstGeom prst="rect">
            <a:avLst/>
          </a:prstGeom>
          <a:noFill/>
          <a:ln/>
        </p:spPr>
        <p:txBody>
          <a:bodyPr wrap="square" lIns="0" tIns="0" rIns="0" bIns="0" rtlCol="0" anchor="ctr"/>
          <a:lstStyle/>
          <a:p>
            <a:pPr algn="ctr" indent="0" marL="0">
              <a:buNone/>
            </a:pPr>
            <a:r>
              <a:rPr lang="en-US" sz="1400" b="1" dirty="0">
                <a:solidFill>
                  <a:srgbClr val="8E0B26"/>
                </a:solidFill>
                <a:latin typeface="Cambria" pitchFamily="34" charset="0"/>
                <a:ea typeface="Cambria" pitchFamily="34" charset="-122"/>
                <a:cs typeface="Cambria" pitchFamily="34" charset="-120"/>
              </a:rPr>
              <a:t>P</a:t>
            </a:r>
            <a:endParaRPr lang="en-US" sz="1400" dirty="0"/>
          </a:p>
        </p:txBody>
      </p:sp>
      <p:sp>
        <p:nvSpPr>
          <p:cNvPr id="31" name="Text 29"/>
          <p:cNvSpPr txBox="1"/>
          <p:nvPr/>
        </p:nvSpPr>
        <p:spPr>
          <a:xfrm>
            <a:off x="1261872" y="5367528"/>
            <a:ext cx="1143000" cy="585216"/>
          </a:xfrm>
          <a:prstGeom prst="rect">
            <a:avLst/>
          </a:prstGeom>
          <a:noFill/>
          <a:ln/>
        </p:spPr>
        <p:txBody>
          <a:bodyPr wrap="square" lIns="0" tIns="0" rIns="0" bIns="0" rtlCol="0" anchor="ctr"/>
          <a:lstStyle/>
          <a:p>
            <a:pPr indent="0" marL="0">
              <a:buNone/>
            </a:pPr>
            <a:r>
              <a:rPr lang="en-US" sz="1100" b="1" dirty="0">
                <a:solidFill>
                  <a:srgbClr val="8E0B26"/>
                </a:solidFill>
                <a:latin typeface="Calibri" pitchFamily="34" charset="0"/>
                <a:ea typeface="Calibri" pitchFamily="34" charset="-122"/>
                <a:cs typeface="Calibri" pitchFamily="34" charset="-120"/>
              </a:rPr>
              <a:t>Propósito</a:t>
            </a:r>
            <a:endParaRPr lang="en-US" sz="1100" dirty="0"/>
          </a:p>
        </p:txBody>
      </p:sp>
      <p:sp>
        <p:nvSpPr>
          <p:cNvPr id="32" name="Text 30"/>
          <p:cNvSpPr txBox="1"/>
          <p:nvPr/>
        </p:nvSpPr>
        <p:spPr>
          <a:xfrm>
            <a:off x="2423160" y="5349240"/>
            <a:ext cx="8915400" cy="621792"/>
          </a:xfrm>
          <a:prstGeom prst="rect">
            <a:avLst/>
          </a:prstGeom>
          <a:noFill/>
          <a:ln/>
        </p:spPr>
        <p:txBody>
          <a:bodyPr wrap="square" lIns="0" tIns="0" rIns="0" bIns="0" rtlCol="0" anchor="ctr"/>
          <a:lstStyle/>
          <a:p>
            <a:pPr indent="0" marL="0">
              <a:lnSpc>
                <a:spcPts val="1400"/>
              </a:lnSpc>
              <a:buNone/>
            </a:pPr>
            <a:r>
              <a:rPr lang="en-US" sz="1100" dirty="0">
                <a:solidFill>
                  <a:srgbClr val="5A4241"/>
                </a:solidFill>
                <a:latin typeface="Calibri" pitchFamily="34" charset="0"/>
                <a:ea typeface="Calibri" pitchFamily="34" charset="-122"/>
                <a:cs typeface="Calibri" pitchFamily="34" charset="-120"/>
              </a:rPr>
              <a:t>Promocional y de admisión. Igual que F3, sirve como ejemplo documentado, no como prueba del beneficio institucional.</a:t>
            </a:r>
            <a:endParaRPr lang="en-US" sz="1100" dirty="0"/>
          </a:p>
        </p:txBody>
      </p:sp>
      <p:sp>
        <p:nvSpPr>
          <p:cNvPr id="33" name="Text 31"/>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900" dirty="0">
                <a:solidFill>
                  <a:srgbClr val="5A4241"/>
                </a:solidFill>
                <a:latin typeface="Calibri" pitchFamily="34" charset="0"/>
                <a:ea typeface="Calibri" pitchFamily="34" charset="-122"/>
                <a:cs typeface="Calibri" pitchFamily="34" charset="-120"/>
              </a:rPr>
              <a:t>Universidades y selección peruana · Método CRAAP</a:t>
            </a:r>
            <a:endParaRPr lang="en-US" sz="900" dirty="0"/>
          </a:p>
        </p:txBody>
      </p:sp>
      <p:sp>
        <p:nvSpPr>
          <p:cNvPr id="34" name="Text 32"/>
          <p:cNvSpPr txBox="1"/>
          <p:nvPr/>
        </p:nvSpPr>
        <p:spPr>
          <a:xfrm>
            <a:off x="10972800" y="6382512"/>
            <a:ext cx="548640" cy="274320"/>
          </a:xfrm>
          <a:prstGeom prst="rect">
            <a:avLst/>
          </a:prstGeom>
          <a:noFill/>
          <a:ln/>
        </p:spPr>
        <p:txBody>
          <a:bodyPr wrap="square" lIns="0" tIns="0" rIns="0" bIns="0" rtlCol="0" anchor="ctr"/>
          <a:lstStyle/>
          <a:p>
            <a:pPr algn="r" indent="0" marL="0">
              <a:buNone/>
            </a:pPr>
            <a:r>
              <a:rPr lang="en-US" sz="900" dirty="0">
                <a:solidFill>
                  <a:srgbClr val="5A4241"/>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8E0B26"/>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E8B54C"/>
                </a:solidFill>
                <a:latin typeface="Calibri" pitchFamily="34" charset="0"/>
                <a:ea typeface="Calibri" pitchFamily="34" charset="-122"/>
                <a:cs typeface="Calibri" pitchFamily="34" charset="-120"/>
              </a:rPr>
              <a:t>SÍNTESIS DE LA EVALUACIÓN</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t"/>
          <a:lstStyle/>
          <a:p>
            <a:pPr indent="0" marL="0">
              <a:buNone/>
            </a:pPr>
            <a:r>
              <a:rPr lang="en-US" sz="3400" b="1" dirty="0">
                <a:solidFill>
                  <a:srgbClr val="FDF7F6"/>
                </a:solidFill>
                <a:latin typeface="Cambria" pitchFamily="34" charset="0"/>
                <a:ea typeface="Cambria" pitchFamily="34" charset="-122"/>
                <a:cs typeface="Cambria" pitchFamily="34" charset="-120"/>
              </a:rPr>
              <a:t>Las cuatro fuentes, criterio por criterio</a:t>
            </a:r>
            <a:endParaRPr lang="en-US" sz="3400" dirty="0"/>
          </a:p>
        </p:txBody>
      </p:sp>
      <p:sp>
        <p:nvSpPr>
          <p:cNvPr id="4" name="Text 2"/>
          <p:cNvSpPr txBox="1"/>
          <p:nvPr/>
        </p:nvSpPr>
        <p:spPr>
          <a:xfrm>
            <a:off x="640080" y="1600200"/>
            <a:ext cx="4206240" cy="384048"/>
          </a:xfrm>
          <a:prstGeom prst="rect">
            <a:avLst/>
          </a:prstGeom>
          <a:noFill/>
          <a:ln/>
        </p:spPr>
        <p:txBody>
          <a:bodyPr wrap="square" lIns="0" tIns="0" rIns="0" bIns="0" rtlCol="0" anchor="ctr"/>
          <a:lstStyle/>
          <a:p>
            <a:pPr algn="l" indent="0" marL="0">
              <a:buNone/>
            </a:pPr>
            <a:r>
              <a:rPr lang="en-US" sz="1100" b="1" spc="100" kern="0" dirty="0">
                <a:solidFill>
                  <a:srgbClr val="E8B54C"/>
                </a:solidFill>
                <a:latin typeface="Calibri" pitchFamily="34" charset="0"/>
                <a:ea typeface="Calibri" pitchFamily="34" charset="-122"/>
                <a:cs typeface="Calibri" pitchFamily="34" charset="-120"/>
              </a:rPr>
              <a:t>Fuente</a:t>
            </a:r>
            <a:endParaRPr lang="en-US" sz="1100" dirty="0"/>
          </a:p>
        </p:txBody>
      </p:sp>
      <p:sp>
        <p:nvSpPr>
          <p:cNvPr id="5" name="Text 3"/>
          <p:cNvSpPr txBox="1"/>
          <p:nvPr/>
        </p:nvSpPr>
        <p:spPr>
          <a:xfrm>
            <a:off x="4846320" y="1600200"/>
            <a:ext cx="1234440" cy="384048"/>
          </a:xfrm>
          <a:prstGeom prst="rect">
            <a:avLst/>
          </a:prstGeom>
          <a:noFill/>
          <a:ln/>
        </p:spPr>
        <p:txBody>
          <a:bodyPr wrap="square" lIns="0" tIns="0" rIns="0" bIns="0" rtlCol="0" anchor="ctr"/>
          <a:lstStyle/>
          <a:p>
            <a:pPr algn="ctr" indent="0" marL="0">
              <a:buNone/>
            </a:pPr>
            <a:r>
              <a:rPr lang="en-US" sz="1100" b="1" spc="100" kern="0" dirty="0">
                <a:solidFill>
                  <a:srgbClr val="E8B54C"/>
                </a:solidFill>
                <a:latin typeface="Calibri" pitchFamily="34" charset="0"/>
                <a:ea typeface="Calibri" pitchFamily="34" charset="-122"/>
                <a:cs typeface="Calibri" pitchFamily="34" charset="-120"/>
              </a:rPr>
              <a:t>Vig.</a:t>
            </a:r>
            <a:endParaRPr lang="en-US" sz="1100" dirty="0"/>
          </a:p>
        </p:txBody>
      </p:sp>
      <p:sp>
        <p:nvSpPr>
          <p:cNvPr id="6" name="Text 4"/>
          <p:cNvSpPr txBox="1"/>
          <p:nvPr/>
        </p:nvSpPr>
        <p:spPr>
          <a:xfrm>
            <a:off x="6080760" y="1600200"/>
            <a:ext cx="1234440" cy="384048"/>
          </a:xfrm>
          <a:prstGeom prst="rect">
            <a:avLst/>
          </a:prstGeom>
          <a:noFill/>
          <a:ln/>
        </p:spPr>
        <p:txBody>
          <a:bodyPr wrap="square" lIns="0" tIns="0" rIns="0" bIns="0" rtlCol="0" anchor="ctr"/>
          <a:lstStyle/>
          <a:p>
            <a:pPr algn="ctr" indent="0" marL="0">
              <a:buNone/>
            </a:pPr>
            <a:r>
              <a:rPr lang="en-US" sz="1100" b="1" spc="100" kern="0" dirty="0">
                <a:solidFill>
                  <a:srgbClr val="E8B54C"/>
                </a:solidFill>
                <a:latin typeface="Calibri" pitchFamily="34" charset="0"/>
                <a:ea typeface="Calibri" pitchFamily="34" charset="-122"/>
                <a:cs typeface="Calibri" pitchFamily="34" charset="-120"/>
              </a:rPr>
              <a:t>Pert.</a:t>
            </a:r>
            <a:endParaRPr lang="en-US" sz="1100" dirty="0"/>
          </a:p>
        </p:txBody>
      </p:sp>
      <p:sp>
        <p:nvSpPr>
          <p:cNvPr id="7" name="Text 5"/>
          <p:cNvSpPr txBox="1"/>
          <p:nvPr/>
        </p:nvSpPr>
        <p:spPr>
          <a:xfrm>
            <a:off x="7315200" y="1600200"/>
            <a:ext cx="1234440" cy="384048"/>
          </a:xfrm>
          <a:prstGeom prst="rect">
            <a:avLst/>
          </a:prstGeom>
          <a:noFill/>
          <a:ln/>
        </p:spPr>
        <p:txBody>
          <a:bodyPr wrap="square" lIns="0" tIns="0" rIns="0" bIns="0" rtlCol="0" anchor="ctr"/>
          <a:lstStyle/>
          <a:p>
            <a:pPr algn="ctr" indent="0" marL="0">
              <a:buNone/>
            </a:pPr>
            <a:r>
              <a:rPr lang="en-US" sz="1100" b="1" spc="100" kern="0" dirty="0">
                <a:solidFill>
                  <a:srgbClr val="E8B54C"/>
                </a:solidFill>
                <a:latin typeface="Calibri" pitchFamily="34" charset="0"/>
                <a:ea typeface="Calibri" pitchFamily="34" charset="-122"/>
                <a:cs typeface="Calibri" pitchFamily="34" charset="-120"/>
              </a:rPr>
              <a:t>Autor.</a:t>
            </a:r>
            <a:endParaRPr lang="en-US" sz="1100" dirty="0"/>
          </a:p>
        </p:txBody>
      </p:sp>
      <p:sp>
        <p:nvSpPr>
          <p:cNvPr id="8" name="Text 6"/>
          <p:cNvSpPr txBox="1"/>
          <p:nvPr/>
        </p:nvSpPr>
        <p:spPr>
          <a:xfrm>
            <a:off x="8549640" y="1600200"/>
            <a:ext cx="1234440" cy="384048"/>
          </a:xfrm>
          <a:prstGeom prst="rect">
            <a:avLst/>
          </a:prstGeom>
          <a:noFill/>
          <a:ln/>
        </p:spPr>
        <p:txBody>
          <a:bodyPr wrap="square" lIns="0" tIns="0" rIns="0" bIns="0" rtlCol="0" anchor="ctr"/>
          <a:lstStyle/>
          <a:p>
            <a:pPr algn="ctr" indent="0" marL="0">
              <a:buNone/>
            </a:pPr>
            <a:r>
              <a:rPr lang="en-US" sz="1100" b="1" spc="100" kern="0" dirty="0">
                <a:solidFill>
                  <a:srgbClr val="E8B54C"/>
                </a:solidFill>
                <a:latin typeface="Calibri" pitchFamily="34" charset="0"/>
                <a:ea typeface="Calibri" pitchFamily="34" charset="-122"/>
                <a:cs typeface="Calibri" pitchFamily="34" charset="-120"/>
              </a:rPr>
              <a:t>Exact.</a:t>
            </a:r>
            <a:endParaRPr lang="en-US" sz="1100" dirty="0"/>
          </a:p>
        </p:txBody>
      </p:sp>
      <p:sp>
        <p:nvSpPr>
          <p:cNvPr id="9" name="Text 7"/>
          <p:cNvSpPr txBox="1"/>
          <p:nvPr/>
        </p:nvSpPr>
        <p:spPr>
          <a:xfrm>
            <a:off x="9784080" y="1600200"/>
            <a:ext cx="1234440" cy="384048"/>
          </a:xfrm>
          <a:prstGeom prst="rect">
            <a:avLst/>
          </a:prstGeom>
          <a:noFill/>
          <a:ln/>
        </p:spPr>
        <p:txBody>
          <a:bodyPr wrap="square" lIns="0" tIns="0" rIns="0" bIns="0" rtlCol="0" anchor="ctr"/>
          <a:lstStyle/>
          <a:p>
            <a:pPr algn="ctr" indent="0" marL="0">
              <a:buNone/>
            </a:pPr>
            <a:r>
              <a:rPr lang="en-US" sz="1100" b="1" spc="100" kern="0" dirty="0">
                <a:solidFill>
                  <a:srgbClr val="E8B54C"/>
                </a:solidFill>
                <a:latin typeface="Calibri" pitchFamily="34" charset="0"/>
                <a:ea typeface="Calibri" pitchFamily="34" charset="-122"/>
                <a:cs typeface="Calibri" pitchFamily="34" charset="-120"/>
              </a:rPr>
              <a:t>Prop.</a:t>
            </a:r>
            <a:endParaRPr lang="en-US" sz="1100" dirty="0"/>
          </a:p>
        </p:txBody>
      </p:sp>
      <p:sp>
        <p:nvSpPr>
          <p:cNvPr id="10" name="Shape 8"/>
          <p:cNvSpPr/>
          <p:nvPr/>
        </p:nvSpPr>
        <p:spPr>
          <a:xfrm>
            <a:off x="640080" y="2103120"/>
            <a:ext cx="10881360" cy="640080"/>
          </a:xfrm>
          <a:prstGeom prst="roundRect">
            <a:avLst>
              <a:gd name="adj" fmla="val 11429"/>
            </a:avLst>
          </a:prstGeom>
          <a:solidFill>
            <a:srgbClr val="A8203C"/>
          </a:solidFill>
          <a:ln/>
        </p:spPr>
      </p:sp>
      <p:sp>
        <p:nvSpPr>
          <p:cNvPr id="11" name="Text 9"/>
          <p:cNvSpPr txBox="1"/>
          <p:nvPr/>
        </p:nvSpPr>
        <p:spPr>
          <a:xfrm>
            <a:off x="868680" y="2121408"/>
            <a:ext cx="3886200" cy="603504"/>
          </a:xfrm>
          <a:prstGeom prst="rect">
            <a:avLst/>
          </a:prstGeom>
          <a:noFill/>
          <a:ln/>
        </p:spPr>
        <p:txBody>
          <a:bodyPr wrap="square" lIns="0" tIns="0" rIns="0" bIns="0" rtlCol="0" anchor="ctr"/>
          <a:lstStyle/>
          <a:p>
            <a:pPr indent="0" marL="0">
              <a:lnSpc>
                <a:spcPts val="1400"/>
              </a:lnSpc>
              <a:buNone/>
            </a:pPr>
            <a:r>
              <a:rPr lang="en-US" sz="1150" dirty="0">
                <a:solidFill>
                  <a:srgbClr val="FDF7F6"/>
                </a:solidFill>
                <a:latin typeface="Calibri" pitchFamily="34" charset="0"/>
                <a:ea typeface="Calibri" pitchFamily="34" charset="-122"/>
                <a:cs typeface="Calibri" pitchFamily="34" charset="-120"/>
              </a:rPr>
              <a:t>F1 · Ley N.° 30220 (2014), art. 131</a:t>
            </a:r>
            <a:endParaRPr lang="en-US" sz="1150" dirty="0"/>
          </a:p>
        </p:txBody>
      </p:sp>
      <p:sp>
        <p:nvSpPr>
          <p:cNvPr id="12" name="Text 10"/>
          <p:cNvSpPr txBox="1"/>
          <p:nvPr/>
        </p:nvSpPr>
        <p:spPr>
          <a:xfrm>
            <a:off x="4846320" y="2121408"/>
            <a:ext cx="1234440" cy="603504"/>
          </a:xfrm>
          <a:prstGeom prst="rect">
            <a:avLst/>
          </a:prstGeom>
          <a:noFill/>
          <a:ln/>
        </p:spPr>
        <p:txBody>
          <a:bodyPr wrap="square" lIns="0" tIns="0" rIns="0" bIns="0" rtlCol="0" anchor="ctr"/>
          <a:lstStyle/>
          <a:p>
            <a:pPr algn="ctr" indent="0" marL="0">
              <a:buNone/>
            </a:pPr>
            <a:r>
              <a:rPr lang="en-US" sz="1400" b="1" dirty="0">
                <a:solidFill>
                  <a:srgbClr val="E8B54C"/>
                </a:solidFill>
                <a:latin typeface="Cambria" pitchFamily="34" charset="0"/>
                <a:ea typeface="Cambria" pitchFamily="34" charset="-122"/>
                <a:cs typeface="Cambria" pitchFamily="34" charset="-120"/>
              </a:rPr>
              <a:t>Alta</a:t>
            </a:r>
            <a:endParaRPr lang="en-US" sz="1400" dirty="0"/>
          </a:p>
        </p:txBody>
      </p:sp>
      <p:sp>
        <p:nvSpPr>
          <p:cNvPr id="13" name="Text 11"/>
          <p:cNvSpPr txBox="1"/>
          <p:nvPr/>
        </p:nvSpPr>
        <p:spPr>
          <a:xfrm>
            <a:off x="6080760" y="2121408"/>
            <a:ext cx="1234440" cy="603504"/>
          </a:xfrm>
          <a:prstGeom prst="rect">
            <a:avLst/>
          </a:prstGeom>
          <a:noFill/>
          <a:ln/>
        </p:spPr>
        <p:txBody>
          <a:bodyPr wrap="square" lIns="0" tIns="0" rIns="0" bIns="0" rtlCol="0" anchor="ctr"/>
          <a:lstStyle/>
          <a:p>
            <a:pPr algn="ctr" indent="0" marL="0">
              <a:buNone/>
            </a:pPr>
            <a:r>
              <a:rPr lang="en-US" sz="1400" b="1" dirty="0">
                <a:solidFill>
                  <a:srgbClr val="E8B54C"/>
                </a:solidFill>
                <a:latin typeface="Cambria" pitchFamily="34" charset="0"/>
                <a:ea typeface="Cambria" pitchFamily="34" charset="-122"/>
                <a:cs typeface="Cambria" pitchFamily="34" charset="-120"/>
              </a:rPr>
              <a:t>Alta</a:t>
            </a:r>
            <a:endParaRPr lang="en-US" sz="1400" dirty="0"/>
          </a:p>
        </p:txBody>
      </p:sp>
      <p:sp>
        <p:nvSpPr>
          <p:cNvPr id="14" name="Text 12"/>
          <p:cNvSpPr txBox="1"/>
          <p:nvPr/>
        </p:nvSpPr>
        <p:spPr>
          <a:xfrm>
            <a:off x="7315200" y="2121408"/>
            <a:ext cx="1234440" cy="603504"/>
          </a:xfrm>
          <a:prstGeom prst="rect">
            <a:avLst/>
          </a:prstGeom>
          <a:noFill/>
          <a:ln/>
        </p:spPr>
        <p:txBody>
          <a:bodyPr wrap="square" lIns="0" tIns="0" rIns="0" bIns="0" rtlCol="0" anchor="ctr"/>
          <a:lstStyle/>
          <a:p>
            <a:pPr algn="ctr" indent="0" marL="0">
              <a:buNone/>
            </a:pPr>
            <a:r>
              <a:rPr lang="en-US" sz="1400" b="1" dirty="0">
                <a:solidFill>
                  <a:srgbClr val="E8B54C"/>
                </a:solidFill>
                <a:latin typeface="Cambria" pitchFamily="34" charset="0"/>
                <a:ea typeface="Cambria" pitchFamily="34" charset="-122"/>
                <a:cs typeface="Cambria" pitchFamily="34" charset="-120"/>
              </a:rPr>
              <a:t>Alta</a:t>
            </a:r>
            <a:endParaRPr lang="en-US" sz="1400" dirty="0"/>
          </a:p>
        </p:txBody>
      </p:sp>
      <p:sp>
        <p:nvSpPr>
          <p:cNvPr id="15" name="Text 13"/>
          <p:cNvSpPr txBox="1"/>
          <p:nvPr/>
        </p:nvSpPr>
        <p:spPr>
          <a:xfrm>
            <a:off x="8549640" y="2121408"/>
            <a:ext cx="1234440" cy="603504"/>
          </a:xfrm>
          <a:prstGeom prst="rect">
            <a:avLst/>
          </a:prstGeom>
          <a:noFill/>
          <a:ln/>
        </p:spPr>
        <p:txBody>
          <a:bodyPr wrap="square" lIns="0" tIns="0" rIns="0" bIns="0" rtlCol="0" anchor="ctr"/>
          <a:lstStyle/>
          <a:p>
            <a:pPr algn="ctr" indent="0" marL="0">
              <a:buNone/>
            </a:pPr>
            <a:r>
              <a:rPr lang="en-US" sz="1400" b="1" dirty="0">
                <a:solidFill>
                  <a:srgbClr val="E8B54C"/>
                </a:solidFill>
                <a:latin typeface="Cambria" pitchFamily="34" charset="0"/>
                <a:ea typeface="Cambria" pitchFamily="34" charset="-122"/>
                <a:cs typeface="Cambria" pitchFamily="34" charset="-120"/>
              </a:rPr>
              <a:t>Alta</a:t>
            </a:r>
            <a:endParaRPr lang="en-US" sz="1400" dirty="0"/>
          </a:p>
        </p:txBody>
      </p:sp>
      <p:sp>
        <p:nvSpPr>
          <p:cNvPr id="16" name="Text 14"/>
          <p:cNvSpPr txBox="1"/>
          <p:nvPr/>
        </p:nvSpPr>
        <p:spPr>
          <a:xfrm>
            <a:off x="9784080" y="2121408"/>
            <a:ext cx="1234440" cy="603504"/>
          </a:xfrm>
          <a:prstGeom prst="rect">
            <a:avLst/>
          </a:prstGeom>
          <a:noFill/>
          <a:ln/>
        </p:spPr>
        <p:txBody>
          <a:bodyPr wrap="square" lIns="0" tIns="0" rIns="0" bIns="0" rtlCol="0" anchor="ctr"/>
          <a:lstStyle/>
          <a:p>
            <a:pPr algn="ctr" indent="0" marL="0">
              <a:buNone/>
            </a:pPr>
            <a:r>
              <a:rPr lang="en-US" sz="1400" b="1" dirty="0">
                <a:solidFill>
                  <a:srgbClr val="E8B54C"/>
                </a:solidFill>
                <a:latin typeface="Cambria" pitchFamily="34" charset="0"/>
                <a:ea typeface="Cambria" pitchFamily="34" charset="-122"/>
                <a:cs typeface="Cambria" pitchFamily="34" charset="-120"/>
              </a:rPr>
              <a:t>Alta</a:t>
            </a:r>
            <a:endParaRPr lang="en-US" sz="1400" dirty="0"/>
          </a:p>
        </p:txBody>
      </p:sp>
      <p:sp>
        <p:nvSpPr>
          <p:cNvPr id="17" name="Shape 15"/>
          <p:cNvSpPr/>
          <p:nvPr/>
        </p:nvSpPr>
        <p:spPr>
          <a:xfrm>
            <a:off x="640080" y="2852928"/>
            <a:ext cx="10881360" cy="640080"/>
          </a:xfrm>
          <a:prstGeom prst="roundRect">
            <a:avLst>
              <a:gd name="adj" fmla="val 11429"/>
            </a:avLst>
          </a:prstGeom>
          <a:solidFill>
            <a:srgbClr val="A8203C">
              <a:alpha val="65000"/>
            </a:srgbClr>
          </a:solidFill>
          <a:ln/>
        </p:spPr>
      </p:sp>
      <p:sp>
        <p:nvSpPr>
          <p:cNvPr id="18" name="Text 16"/>
          <p:cNvSpPr txBox="1"/>
          <p:nvPr/>
        </p:nvSpPr>
        <p:spPr>
          <a:xfrm>
            <a:off x="868680" y="2871216"/>
            <a:ext cx="3886200" cy="603504"/>
          </a:xfrm>
          <a:prstGeom prst="rect">
            <a:avLst/>
          </a:prstGeom>
          <a:noFill/>
          <a:ln/>
        </p:spPr>
        <p:txBody>
          <a:bodyPr wrap="square" lIns="0" tIns="0" rIns="0" bIns="0" rtlCol="0" anchor="ctr"/>
          <a:lstStyle/>
          <a:p>
            <a:pPr indent="0" marL="0">
              <a:lnSpc>
                <a:spcPts val="1400"/>
              </a:lnSpc>
              <a:buNone/>
            </a:pPr>
            <a:r>
              <a:rPr lang="en-US" sz="1150" dirty="0">
                <a:solidFill>
                  <a:srgbClr val="FDF7F6"/>
                </a:solidFill>
                <a:latin typeface="Calibri" pitchFamily="34" charset="0"/>
                <a:ea typeface="Calibri" pitchFamily="34" charset="-122"/>
                <a:cs typeface="Calibri" pitchFamily="34" charset="-120"/>
              </a:rPr>
              <a:t>F2 · Ley N.° 30476 (2016), PRODAC</a:t>
            </a:r>
            <a:endParaRPr lang="en-US" sz="1150" dirty="0"/>
          </a:p>
        </p:txBody>
      </p:sp>
      <p:sp>
        <p:nvSpPr>
          <p:cNvPr id="19" name="Text 17"/>
          <p:cNvSpPr txBox="1"/>
          <p:nvPr/>
        </p:nvSpPr>
        <p:spPr>
          <a:xfrm>
            <a:off x="4846320" y="2871216"/>
            <a:ext cx="1234440" cy="603504"/>
          </a:xfrm>
          <a:prstGeom prst="rect">
            <a:avLst/>
          </a:prstGeom>
          <a:noFill/>
          <a:ln/>
        </p:spPr>
        <p:txBody>
          <a:bodyPr wrap="square" lIns="0" tIns="0" rIns="0" bIns="0" rtlCol="0" anchor="ctr"/>
          <a:lstStyle/>
          <a:p>
            <a:pPr algn="ctr" indent="0" marL="0">
              <a:buNone/>
            </a:pPr>
            <a:r>
              <a:rPr lang="en-US" sz="1400" b="1" dirty="0">
                <a:solidFill>
                  <a:srgbClr val="E8B54C"/>
                </a:solidFill>
                <a:latin typeface="Cambria" pitchFamily="34" charset="0"/>
                <a:ea typeface="Cambria" pitchFamily="34" charset="-122"/>
                <a:cs typeface="Cambria" pitchFamily="34" charset="-120"/>
              </a:rPr>
              <a:t>Alta</a:t>
            </a:r>
            <a:endParaRPr lang="en-US" sz="1400" dirty="0"/>
          </a:p>
        </p:txBody>
      </p:sp>
      <p:sp>
        <p:nvSpPr>
          <p:cNvPr id="20" name="Text 18"/>
          <p:cNvSpPr txBox="1"/>
          <p:nvPr/>
        </p:nvSpPr>
        <p:spPr>
          <a:xfrm>
            <a:off x="6080760" y="2871216"/>
            <a:ext cx="1234440" cy="603504"/>
          </a:xfrm>
          <a:prstGeom prst="rect">
            <a:avLst/>
          </a:prstGeom>
          <a:noFill/>
          <a:ln/>
        </p:spPr>
        <p:txBody>
          <a:bodyPr wrap="square" lIns="0" tIns="0" rIns="0" bIns="0" rtlCol="0" anchor="ctr"/>
          <a:lstStyle/>
          <a:p>
            <a:pPr algn="ctr" indent="0" marL="0">
              <a:buNone/>
            </a:pPr>
            <a:r>
              <a:rPr lang="en-US" sz="1400" b="1" dirty="0">
                <a:solidFill>
                  <a:srgbClr val="E8B54C"/>
                </a:solidFill>
                <a:latin typeface="Cambria" pitchFamily="34" charset="0"/>
                <a:ea typeface="Cambria" pitchFamily="34" charset="-122"/>
                <a:cs typeface="Cambria" pitchFamily="34" charset="-120"/>
              </a:rPr>
              <a:t>Alta</a:t>
            </a:r>
            <a:endParaRPr lang="en-US" sz="1400" dirty="0"/>
          </a:p>
        </p:txBody>
      </p:sp>
      <p:sp>
        <p:nvSpPr>
          <p:cNvPr id="21" name="Text 19"/>
          <p:cNvSpPr txBox="1"/>
          <p:nvPr/>
        </p:nvSpPr>
        <p:spPr>
          <a:xfrm>
            <a:off x="7315200" y="2871216"/>
            <a:ext cx="1234440" cy="603504"/>
          </a:xfrm>
          <a:prstGeom prst="rect">
            <a:avLst/>
          </a:prstGeom>
          <a:noFill/>
          <a:ln/>
        </p:spPr>
        <p:txBody>
          <a:bodyPr wrap="square" lIns="0" tIns="0" rIns="0" bIns="0" rtlCol="0" anchor="ctr"/>
          <a:lstStyle/>
          <a:p>
            <a:pPr algn="ctr" indent="0" marL="0">
              <a:buNone/>
            </a:pPr>
            <a:r>
              <a:rPr lang="en-US" sz="1400" b="1" dirty="0">
                <a:solidFill>
                  <a:srgbClr val="E8B54C"/>
                </a:solidFill>
                <a:latin typeface="Cambria" pitchFamily="34" charset="0"/>
                <a:ea typeface="Cambria" pitchFamily="34" charset="-122"/>
                <a:cs typeface="Cambria" pitchFamily="34" charset="-120"/>
              </a:rPr>
              <a:t>Alta</a:t>
            </a:r>
            <a:endParaRPr lang="en-US" sz="1400" dirty="0"/>
          </a:p>
        </p:txBody>
      </p:sp>
      <p:sp>
        <p:nvSpPr>
          <p:cNvPr id="22" name="Text 20"/>
          <p:cNvSpPr txBox="1"/>
          <p:nvPr/>
        </p:nvSpPr>
        <p:spPr>
          <a:xfrm>
            <a:off x="8549640" y="2871216"/>
            <a:ext cx="1234440" cy="603504"/>
          </a:xfrm>
          <a:prstGeom prst="rect">
            <a:avLst/>
          </a:prstGeom>
          <a:noFill/>
          <a:ln/>
        </p:spPr>
        <p:txBody>
          <a:bodyPr wrap="square" lIns="0" tIns="0" rIns="0" bIns="0" rtlCol="0" anchor="ctr"/>
          <a:lstStyle/>
          <a:p>
            <a:pPr algn="ctr" indent="0" marL="0">
              <a:buNone/>
            </a:pPr>
            <a:r>
              <a:rPr lang="en-US" sz="1400" b="1" dirty="0">
                <a:solidFill>
                  <a:srgbClr val="E8B54C"/>
                </a:solidFill>
                <a:latin typeface="Cambria" pitchFamily="34" charset="0"/>
                <a:ea typeface="Cambria" pitchFamily="34" charset="-122"/>
                <a:cs typeface="Cambria" pitchFamily="34" charset="-120"/>
              </a:rPr>
              <a:t>Alta</a:t>
            </a:r>
            <a:endParaRPr lang="en-US" sz="1400" dirty="0"/>
          </a:p>
        </p:txBody>
      </p:sp>
      <p:sp>
        <p:nvSpPr>
          <p:cNvPr id="23" name="Text 21"/>
          <p:cNvSpPr txBox="1"/>
          <p:nvPr/>
        </p:nvSpPr>
        <p:spPr>
          <a:xfrm>
            <a:off x="9784080" y="2871216"/>
            <a:ext cx="1234440" cy="603504"/>
          </a:xfrm>
          <a:prstGeom prst="rect">
            <a:avLst/>
          </a:prstGeom>
          <a:noFill/>
          <a:ln/>
        </p:spPr>
        <p:txBody>
          <a:bodyPr wrap="square" lIns="0" tIns="0" rIns="0" bIns="0" rtlCol="0" anchor="ctr"/>
          <a:lstStyle/>
          <a:p>
            <a:pPr algn="ctr" indent="0" marL="0">
              <a:buNone/>
            </a:pPr>
            <a:r>
              <a:rPr lang="en-US" sz="1400" b="1" dirty="0">
                <a:solidFill>
                  <a:srgbClr val="E8B54C"/>
                </a:solidFill>
                <a:latin typeface="Cambria" pitchFamily="34" charset="0"/>
                <a:ea typeface="Cambria" pitchFamily="34" charset="-122"/>
                <a:cs typeface="Cambria" pitchFamily="34" charset="-120"/>
              </a:rPr>
              <a:t>Alta</a:t>
            </a:r>
            <a:endParaRPr lang="en-US" sz="1400" dirty="0"/>
          </a:p>
        </p:txBody>
      </p:sp>
      <p:sp>
        <p:nvSpPr>
          <p:cNvPr id="24" name="Shape 22"/>
          <p:cNvSpPr/>
          <p:nvPr/>
        </p:nvSpPr>
        <p:spPr>
          <a:xfrm>
            <a:off x="640080" y="3602736"/>
            <a:ext cx="10881360" cy="640080"/>
          </a:xfrm>
          <a:prstGeom prst="roundRect">
            <a:avLst>
              <a:gd name="adj" fmla="val 11429"/>
            </a:avLst>
          </a:prstGeom>
          <a:solidFill>
            <a:srgbClr val="A8203C"/>
          </a:solidFill>
          <a:ln/>
        </p:spPr>
      </p:sp>
      <p:sp>
        <p:nvSpPr>
          <p:cNvPr id="25" name="Text 23"/>
          <p:cNvSpPr txBox="1"/>
          <p:nvPr/>
        </p:nvSpPr>
        <p:spPr>
          <a:xfrm>
            <a:off x="868680" y="3621024"/>
            <a:ext cx="3886200" cy="603504"/>
          </a:xfrm>
          <a:prstGeom prst="rect">
            <a:avLst/>
          </a:prstGeom>
          <a:noFill/>
          <a:ln/>
        </p:spPr>
        <p:txBody>
          <a:bodyPr wrap="square" lIns="0" tIns="0" rIns="0" bIns="0" rtlCol="0" anchor="ctr"/>
          <a:lstStyle/>
          <a:p>
            <a:pPr indent="0" marL="0">
              <a:lnSpc>
                <a:spcPts val="1400"/>
              </a:lnSpc>
              <a:buNone/>
            </a:pPr>
            <a:r>
              <a:rPr lang="en-US" sz="1150" dirty="0">
                <a:solidFill>
                  <a:srgbClr val="FDF7F6"/>
                </a:solidFill>
                <a:latin typeface="Calibri" pitchFamily="34" charset="0"/>
                <a:ea typeface="Calibri" pitchFamily="34" charset="-122"/>
                <a:cs typeface="Calibri" pitchFamily="34" charset="-120"/>
              </a:rPr>
              <a:t>F3 · Deportes UPC, «Deportistas calificados»</a:t>
            </a:r>
            <a:endParaRPr lang="en-US" sz="1150" dirty="0"/>
          </a:p>
        </p:txBody>
      </p:sp>
      <p:sp>
        <p:nvSpPr>
          <p:cNvPr id="26" name="Text 24"/>
          <p:cNvSpPr txBox="1"/>
          <p:nvPr/>
        </p:nvSpPr>
        <p:spPr>
          <a:xfrm>
            <a:off x="4846320" y="3621024"/>
            <a:ext cx="1234440" cy="603504"/>
          </a:xfrm>
          <a:prstGeom prst="rect">
            <a:avLst/>
          </a:prstGeom>
          <a:noFill/>
          <a:ln/>
        </p:spPr>
        <p:txBody>
          <a:bodyPr wrap="square" lIns="0" tIns="0" rIns="0" bIns="0" rtlCol="0" anchor="ctr"/>
          <a:lstStyle/>
          <a:p>
            <a:pPr algn="ctr" indent="0" marL="0">
              <a:buNone/>
            </a:pPr>
            <a:r>
              <a:rPr lang="en-US" sz="1400" b="1" dirty="0">
                <a:solidFill>
                  <a:srgbClr val="F6CFCB"/>
                </a:solidFill>
                <a:latin typeface="Cambria" pitchFamily="34" charset="0"/>
                <a:ea typeface="Cambria" pitchFamily="34" charset="-122"/>
                <a:cs typeface="Cambria" pitchFamily="34" charset="-120"/>
              </a:rPr>
              <a:t>Media</a:t>
            </a:r>
            <a:endParaRPr lang="en-US" sz="1400" dirty="0"/>
          </a:p>
        </p:txBody>
      </p:sp>
      <p:sp>
        <p:nvSpPr>
          <p:cNvPr id="27" name="Text 25"/>
          <p:cNvSpPr txBox="1"/>
          <p:nvPr/>
        </p:nvSpPr>
        <p:spPr>
          <a:xfrm>
            <a:off x="6080760" y="3621024"/>
            <a:ext cx="1234440" cy="603504"/>
          </a:xfrm>
          <a:prstGeom prst="rect">
            <a:avLst/>
          </a:prstGeom>
          <a:noFill/>
          <a:ln/>
        </p:spPr>
        <p:txBody>
          <a:bodyPr wrap="square" lIns="0" tIns="0" rIns="0" bIns="0" rtlCol="0" anchor="ctr"/>
          <a:lstStyle/>
          <a:p>
            <a:pPr algn="ctr" indent="0" marL="0">
              <a:buNone/>
            </a:pPr>
            <a:r>
              <a:rPr lang="en-US" sz="1400" b="1" dirty="0">
                <a:solidFill>
                  <a:srgbClr val="E8B54C"/>
                </a:solidFill>
                <a:latin typeface="Cambria" pitchFamily="34" charset="0"/>
                <a:ea typeface="Cambria" pitchFamily="34" charset="-122"/>
                <a:cs typeface="Cambria" pitchFamily="34" charset="-120"/>
              </a:rPr>
              <a:t>Alta</a:t>
            </a:r>
            <a:endParaRPr lang="en-US" sz="1400" dirty="0"/>
          </a:p>
        </p:txBody>
      </p:sp>
      <p:sp>
        <p:nvSpPr>
          <p:cNvPr id="28" name="Text 26"/>
          <p:cNvSpPr txBox="1"/>
          <p:nvPr/>
        </p:nvSpPr>
        <p:spPr>
          <a:xfrm>
            <a:off x="7315200" y="3621024"/>
            <a:ext cx="1234440" cy="603504"/>
          </a:xfrm>
          <a:prstGeom prst="rect">
            <a:avLst/>
          </a:prstGeom>
          <a:noFill/>
          <a:ln/>
        </p:spPr>
        <p:txBody>
          <a:bodyPr wrap="square" lIns="0" tIns="0" rIns="0" bIns="0" rtlCol="0" anchor="ctr"/>
          <a:lstStyle/>
          <a:p>
            <a:pPr algn="ctr" indent="0" marL="0">
              <a:buNone/>
            </a:pPr>
            <a:r>
              <a:rPr lang="en-US" sz="1400" b="1" dirty="0">
                <a:solidFill>
                  <a:srgbClr val="F6CFCB"/>
                </a:solidFill>
                <a:latin typeface="Cambria" pitchFamily="34" charset="0"/>
                <a:ea typeface="Cambria" pitchFamily="34" charset="-122"/>
                <a:cs typeface="Cambria" pitchFamily="34" charset="-120"/>
              </a:rPr>
              <a:t>Media</a:t>
            </a:r>
            <a:endParaRPr lang="en-US" sz="1400" dirty="0"/>
          </a:p>
        </p:txBody>
      </p:sp>
      <p:sp>
        <p:nvSpPr>
          <p:cNvPr id="29" name="Text 27"/>
          <p:cNvSpPr txBox="1"/>
          <p:nvPr/>
        </p:nvSpPr>
        <p:spPr>
          <a:xfrm>
            <a:off x="8549640" y="3621024"/>
            <a:ext cx="1234440" cy="603504"/>
          </a:xfrm>
          <a:prstGeom prst="rect">
            <a:avLst/>
          </a:prstGeom>
          <a:noFill/>
          <a:ln/>
        </p:spPr>
        <p:txBody>
          <a:bodyPr wrap="square" lIns="0" tIns="0" rIns="0" bIns="0" rtlCol="0" anchor="ctr"/>
          <a:lstStyle/>
          <a:p>
            <a:pPr algn="ctr" indent="0" marL="0">
              <a:buNone/>
            </a:pPr>
            <a:r>
              <a:rPr lang="en-US" sz="1400" b="1" dirty="0">
                <a:solidFill>
                  <a:srgbClr val="E7AFAD"/>
                </a:solidFill>
                <a:latin typeface="Cambria" pitchFamily="34" charset="0"/>
                <a:ea typeface="Cambria" pitchFamily="34" charset="-122"/>
                <a:cs typeface="Cambria" pitchFamily="34" charset="-120"/>
              </a:rPr>
              <a:t>Baja</a:t>
            </a:r>
            <a:endParaRPr lang="en-US" sz="1400" dirty="0"/>
          </a:p>
        </p:txBody>
      </p:sp>
      <p:sp>
        <p:nvSpPr>
          <p:cNvPr id="30" name="Text 28"/>
          <p:cNvSpPr txBox="1"/>
          <p:nvPr/>
        </p:nvSpPr>
        <p:spPr>
          <a:xfrm>
            <a:off x="9784080" y="3621024"/>
            <a:ext cx="1234440" cy="603504"/>
          </a:xfrm>
          <a:prstGeom prst="rect">
            <a:avLst/>
          </a:prstGeom>
          <a:noFill/>
          <a:ln/>
        </p:spPr>
        <p:txBody>
          <a:bodyPr wrap="square" lIns="0" tIns="0" rIns="0" bIns="0" rtlCol="0" anchor="ctr"/>
          <a:lstStyle/>
          <a:p>
            <a:pPr algn="ctr" indent="0" marL="0">
              <a:buNone/>
            </a:pPr>
            <a:r>
              <a:rPr lang="en-US" sz="1400" b="1" dirty="0">
                <a:solidFill>
                  <a:srgbClr val="E7AFAD"/>
                </a:solidFill>
                <a:latin typeface="Cambria" pitchFamily="34" charset="0"/>
                <a:ea typeface="Cambria" pitchFamily="34" charset="-122"/>
                <a:cs typeface="Cambria" pitchFamily="34" charset="-120"/>
              </a:rPr>
              <a:t>Baja</a:t>
            </a:r>
            <a:endParaRPr lang="en-US" sz="1400" dirty="0"/>
          </a:p>
        </p:txBody>
      </p:sp>
      <p:sp>
        <p:nvSpPr>
          <p:cNvPr id="31" name="Shape 29"/>
          <p:cNvSpPr/>
          <p:nvPr/>
        </p:nvSpPr>
        <p:spPr>
          <a:xfrm>
            <a:off x="640080" y="4352544"/>
            <a:ext cx="10881360" cy="640080"/>
          </a:xfrm>
          <a:prstGeom prst="roundRect">
            <a:avLst>
              <a:gd name="adj" fmla="val 11429"/>
            </a:avLst>
          </a:prstGeom>
          <a:solidFill>
            <a:srgbClr val="A8203C">
              <a:alpha val="65000"/>
            </a:srgbClr>
          </a:solidFill>
          <a:ln/>
        </p:spPr>
      </p:sp>
      <p:sp>
        <p:nvSpPr>
          <p:cNvPr id="32" name="Text 30"/>
          <p:cNvSpPr txBox="1"/>
          <p:nvPr/>
        </p:nvSpPr>
        <p:spPr>
          <a:xfrm>
            <a:off x="868680" y="4370832"/>
            <a:ext cx="3886200" cy="603504"/>
          </a:xfrm>
          <a:prstGeom prst="rect">
            <a:avLst/>
          </a:prstGeom>
          <a:noFill/>
          <a:ln/>
        </p:spPr>
        <p:txBody>
          <a:bodyPr wrap="square" lIns="0" tIns="0" rIns="0" bIns="0" rtlCol="0" anchor="ctr"/>
          <a:lstStyle/>
          <a:p>
            <a:pPr indent="0" marL="0">
              <a:lnSpc>
                <a:spcPts val="1400"/>
              </a:lnSpc>
              <a:buNone/>
            </a:pPr>
            <a:r>
              <a:rPr lang="en-US" sz="1150" dirty="0">
                <a:solidFill>
                  <a:srgbClr val="FDF7F6"/>
                </a:solidFill>
                <a:latin typeface="Calibri" pitchFamily="34" charset="0"/>
                <a:ea typeface="Calibri" pitchFamily="34" charset="-122"/>
                <a:cs typeface="Calibri" pitchFamily="34" charset="-120"/>
              </a:rPr>
              <a:t>F4 · BECAD, PUCP</a:t>
            </a:r>
            <a:endParaRPr lang="en-US" sz="1150" dirty="0"/>
          </a:p>
        </p:txBody>
      </p:sp>
      <p:sp>
        <p:nvSpPr>
          <p:cNvPr id="33" name="Text 31"/>
          <p:cNvSpPr txBox="1"/>
          <p:nvPr/>
        </p:nvSpPr>
        <p:spPr>
          <a:xfrm>
            <a:off x="4846320" y="4370832"/>
            <a:ext cx="1234440" cy="603504"/>
          </a:xfrm>
          <a:prstGeom prst="rect">
            <a:avLst/>
          </a:prstGeom>
          <a:noFill/>
          <a:ln/>
        </p:spPr>
        <p:txBody>
          <a:bodyPr wrap="square" lIns="0" tIns="0" rIns="0" bIns="0" rtlCol="0" anchor="ctr"/>
          <a:lstStyle/>
          <a:p>
            <a:pPr algn="ctr" indent="0" marL="0">
              <a:buNone/>
            </a:pPr>
            <a:r>
              <a:rPr lang="en-US" sz="1400" b="1" dirty="0">
                <a:solidFill>
                  <a:srgbClr val="F6CFCB"/>
                </a:solidFill>
                <a:latin typeface="Cambria" pitchFamily="34" charset="0"/>
                <a:ea typeface="Cambria" pitchFamily="34" charset="-122"/>
                <a:cs typeface="Cambria" pitchFamily="34" charset="-120"/>
              </a:rPr>
              <a:t>Media</a:t>
            </a:r>
            <a:endParaRPr lang="en-US" sz="1400" dirty="0"/>
          </a:p>
        </p:txBody>
      </p:sp>
      <p:sp>
        <p:nvSpPr>
          <p:cNvPr id="34" name="Text 32"/>
          <p:cNvSpPr txBox="1"/>
          <p:nvPr/>
        </p:nvSpPr>
        <p:spPr>
          <a:xfrm>
            <a:off x="6080760" y="4370832"/>
            <a:ext cx="1234440" cy="603504"/>
          </a:xfrm>
          <a:prstGeom prst="rect">
            <a:avLst/>
          </a:prstGeom>
          <a:noFill/>
          <a:ln/>
        </p:spPr>
        <p:txBody>
          <a:bodyPr wrap="square" lIns="0" tIns="0" rIns="0" bIns="0" rtlCol="0" anchor="ctr"/>
          <a:lstStyle/>
          <a:p>
            <a:pPr algn="ctr" indent="0" marL="0">
              <a:buNone/>
            </a:pPr>
            <a:r>
              <a:rPr lang="en-US" sz="1400" b="1" dirty="0">
                <a:solidFill>
                  <a:srgbClr val="F6CFCB"/>
                </a:solidFill>
                <a:latin typeface="Cambria" pitchFamily="34" charset="0"/>
                <a:ea typeface="Cambria" pitchFamily="34" charset="-122"/>
                <a:cs typeface="Cambria" pitchFamily="34" charset="-120"/>
              </a:rPr>
              <a:t>Media</a:t>
            </a:r>
            <a:endParaRPr lang="en-US" sz="1400" dirty="0"/>
          </a:p>
        </p:txBody>
      </p:sp>
      <p:sp>
        <p:nvSpPr>
          <p:cNvPr id="35" name="Text 33"/>
          <p:cNvSpPr txBox="1"/>
          <p:nvPr/>
        </p:nvSpPr>
        <p:spPr>
          <a:xfrm>
            <a:off x="7315200" y="4370832"/>
            <a:ext cx="1234440" cy="603504"/>
          </a:xfrm>
          <a:prstGeom prst="rect">
            <a:avLst/>
          </a:prstGeom>
          <a:noFill/>
          <a:ln/>
        </p:spPr>
        <p:txBody>
          <a:bodyPr wrap="square" lIns="0" tIns="0" rIns="0" bIns="0" rtlCol="0" anchor="ctr"/>
          <a:lstStyle/>
          <a:p>
            <a:pPr algn="ctr" indent="0" marL="0">
              <a:buNone/>
            </a:pPr>
            <a:r>
              <a:rPr lang="en-US" sz="1400" b="1" dirty="0">
                <a:solidFill>
                  <a:srgbClr val="F6CFCB"/>
                </a:solidFill>
                <a:latin typeface="Cambria" pitchFamily="34" charset="0"/>
                <a:ea typeface="Cambria" pitchFamily="34" charset="-122"/>
                <a:cs typeface="Cambria" pitchFamily="34" charset="-120"/>
              </a:rPr>
              <a:t>Media</a:t>
            </a:r>
            <a:endParaRPr lang="en-US" sz="1400" dirty="0"/>
          </a:p>
        </p:txBody>
      </p:sp>
      <p:sp>
        <p:nvSpPr>
          <p:cNvPr id="36" name="Text 34"/>
          <p:cNvSpPr txBox="1"/>
          <p:nvPr/>
        </p:nvSpPr>
        <p:spPr>
          <a:xfrm>
            <a:off x="8549640" y="4370832"/>
            <a:ext cx="1234440" cy="603504"/>
          </a:xfrm>
          <a:prstGeom prst="rect">
            <a:avLst/>
          </a:prstGeom>
          <a:noFill/>
          <a:ln/>
        </p:spPr>
        <p:txBody>
          <a:bodyPr wrap="square" lIns="0" tIns="0" rIns="0" bIns="0" rtlCol="0" anchor="ctr"/>
          <a:lstStyle/>
          <a:p>
            <a:pPr algn="ctr" indent="0" marL="0">
              <a:buNone/>
            </a:pPr>
            <a:r>
              <a:rPr lang="en-US" sz="1400" b="1" dirty="0">
                <a:solidFill>
                  <a:srgbClr val="F6CFCB"/>
                </a:solidFill>
                <a:latin typeface="Cambria" pitchFamily="34" charset="0"/>
                <a:ea typeface="Cambria" pitchFamily="34" charset="-122"/>
                <a:cs typeface="Cambria" pitchFamily="34" charset="-120"/>
              </a:rPr>
              <a:t>Media</a:t>
            </a:r>
            <a:endParaRPr lang="en-US" sz="1400" dirty="0"/>
          </a:p>
        </p:txBody>
      </p:sp>
      <p:sp>
        <p:nvSpPr>
          <p:cNvPr id="37" name="Text 35"/>
          <p:cNvSpPr txBox="1"/>
          <p:nvPr/>
        </p:nvSpPr>
        <p:spPr>
          <a:xfrm>
            <a:off x="9784080" y="4370832"/>
            <a:ext cx="1234440" cy="603504"/>
          </a:xfrm>
          <a:prstGeom prst="rect">
            <a:avLst/>
          </a:prstGeom>
          <a:noFill/>
          <a:ln/>
        </p:spPr>
        <p:txBody>
          <a:bodyPr wrap="square" lIns="0" tIns="0" rIns="0" bIns="0" rtlCol="0" anchor="ctr"/>
          <a:lstStyle/>
          <a:p>
            <a:pPr algn="ctr" indent="0" marL="0">
              <a:buNone/>
            </a:pPr>
            <a:r>
              <a:rPr lang="en-US" sz="1400" b="1" dirty="0">
                <a:solidFill>
                  <a:srgbClr val="E7AFAD"/>
                </a:solidFill>
                <a:latin typeface="Cambria" pitchFamily="34" charset="0"/>
                <a:ea typeface="Cambria" pitchFamily="34" charset="-122"/>
                <a:cs typeface="Cambria" pitchFamily="34" charset="-120"/>
              </a:rPr>
              <a:t>Baja</a:t>
            </a:r>
            <a:endParaRPr lang="en-US" sz="1400" dirty="0"/>
          </a:p>
        </p:txBody>
      </p:sp>
      <p:sp>
        <p:nvSpPr>
          <p:cNvPr id="38" name="Text 36"/>
          <p:cNvSpPr txBox="1"/>
          <p:nvPr/>
        </p:nvSpPr>
        <p:spPr>
          <a:xfrm>
            <a:off x="640080" y="5715000"/>
            <a:ext cx="10881360" cy="548640"/>
          </a:xfrm>
          <a:prstGeom prst="rect">
            <a:avLst/>
          </a:prstGeom>
          <a:noFill/>
          <a:ln/>
        </p:spPr>
        <p:txBody>
          <a:bodyPr wrap="square" lIns="0" tIns="0" rIns="0" bIns="0" rtlCol="0" anchor="t"/>
          <a:lstStyle/>
          <a:p>
            <a:pPr indent="0" marL="0">
              <a:lnSpc>
                <a:spcPts val="1600"/>
              </a:lnSpc>
              <a:buNone/>
            </a:pPr>
            <a:r>
              <a:rPr lang="en-US" sz="1100" i="1" dirty="0">
                <a:solidFill>
                  <a:srgbClr val="F6CFCB"/>
                </a:solidFill>
                <a:latin typeface="Calibri" pitchFamily="34" charset="0"/>
                <a:ea typeface="Calibri" pitchFamily="34" charset="-122"/>
                <a:cs typeface="Calibri" pitchFamily="34" charset="-120"/>
              </a:rPr>
              <a:t>Decisión final: el argumento se sostiene sobre F1 y F2, que son normas vigentes y verificables. F3 y F4 se citan solo como ejemplos de aplicación, siempre indicando que son las propias universidades quienes hablan de sí mismas.</a:t>
            </a:r>
            <a:endParaRPr lang="en-US" sz="1100" dirty="0"/>
          </a:p>
        </p:txBody>
      </p:sp>
      <p:sp>
        <p:nvSpPr>
          <p:cNvPr id="39" name="Text 37"/>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900" dirty="0">
                <a:solidFill>
                  <a:srgbClr val="E7AFAD"/>
                </a:solidFill>
                <a:latin typeface="Calibri" pitchFamily="34" charset="0"/>
                <a:ea typeface="Calibri" pitchFamily="34" charset="-122"/>
                <a:cs typeface="Calibri" pitchFamily="34" charset="-120"/>
              </a:rPr>
              <a:t>Universidades y selección peruana · Método CRAAP</a:t>
            </a:r>
            <a:endParaRPr lang="en-US" sz="900" dirty="0"/>
          </a:p>
        </p:txBody>
      </p:sp>
      <p:sp>
        <p:nvSpPr>
          <p:cNvPr id="40" name="Text 38"/>
          <p:cNvSpPr txBox="1"/>
          <p:nvPr/>
        </p:nvSpPr>
        <p:spPr>
          <a:xfrm>
            <a:off x="10972800" y="6382512"/>
            <a:ext cx="548640" cy="274320"/>
          </a:xfrm>
          <a:prstGeom prst="rect">
            <a:avLst/>
          </a:prstGeom>
          <a:noFill/>
          <a:ln/>
        </p:spPr>
        <p:txBody>
          <a:bodyPr wrap="square" lIns="0" tIns="0" rIns="0" bIns="0" rtlCol="0" anchor="ctr"/>
          <a:lstStyle/>
          <a:p>
            <a:pPr algn="r" indent="0" marL="0">
              <a:buNone/>
            </a:pPr>
            <a:r>
              <a:rPr lang="en-US" sz="900" dirty="0">
                <a:solidFill>
                  <a:srgbClr val="E7AFAD"/>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8E0B26"/>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E8B54C"/>
                </a:solidFill>
                <a:latin typeface="Calibri" pitchFamily="34" charset="0"/>
                <a:ea typeface="Calibri" pitchFamily="34" charset="-122"/>
                <a:cs typeface="Calibri" pitchFamily="34" charset="-120"/>
              </a:rPr>
              <a:t>CONCLUSIONES</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t"/>
          <a:lstStyle/>
          <a:p>
            <a:pPr indent="0" marL="0">
              <a:buNone/>
            </a:pPr>
            <a:r>
              <a:rPr lang="en-US" sz="3400" b="1" dirty="0">
                <a:solidFill>
                  <a:srgbClr val="FDF7F6"/>
                </a:solidFill>
                <a:latin typeface="Cambria" pitchFamily="34" charset="0"/>
                <a:ea typeface="Cambria" pitchFamily="34" charset="-122"/>
                <a:cs typeface="Cambria" pitchFamily="34" charset="-120"/>
              </a:rPr>
              <a:t>Respuesta a la pregunta: sí, con condiciones</a:t>
            </a:r>
            <a:endParaRPr lang="en-US" sz="3400" dirty="0"/>
          </a:p>
        </p:txBody>
      </p:sp>
      <p:sp>
        <p:nvSpPr>
          <p:cNvPr id="4" name="Shape 2"/>
          <p:cNvSpPr/>
          <p:nvPr/>
        </p:nvSpPr>
        <p:spPr>
          <a:xfrm>
            <a:off x="640080" y="1691640"/>
            <a:ext cx="548640" cy="548640"/>
          </a:xfrm>
          <a:prstGeom prst="ellipse">
            <a:avLst/>
          </a:prstGeom>
          <a:solidFill>
            <a:srgbClr val="E8B54C"/>
          </a:solidFill>
          <a:ln/>
        </p:spPr>
      </p:sp>
      <p:sp>
        <p:nvSpPr>
          <p:cNvPr id="5" name="Text 3"/>
          <p:cNvSpPr txBox="1"/>
          <p:nvPr/>
        </p:nvSpPr>
        <p:spPr>
          <a:xfrm>
            <a:off x="640080" y="1691640"/>
            <a:ext cx="548640" cy="548640"/>
          </a:xfrm>
          <a:prstGeom prst="rect">
            <a:avLst/>
          </a:prstGeom>
          <a:noFill/>
          <a:ln/>
        </p:spPr>
        <p:txBody>
          <a:bodyPr wrap="square" lIns="0" tIns="0" rIns="0" bIns="0" rtlCol="0" anchor="ctr"/>
          <a:lstStyle/>
          <a:p>
            <a:pPr algn="ctr" indent="0" marL="0">
              <a:buNone/>
            </a:pPr>
            <a:r>
              <a:rPr lang="en-US" sz="1800" b="1" dirty="0">
                <a:solidFill>
                  <a:srgbClr val="8E0B26"/>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417320" y="1673352"/>
            <a:ext cx="9966960" cy="365760"/>
          </a:xfrm>
          <a:prstGeom prst="rect">
            <a:avLst/>
          </a:prstGeom>
          <a:noFill/>
          <a:ln/>
        </p:spPr>
        <p:txBody>
          <a:bodyPr wrap="square" lIns="0" tIns="0" rIns="0" bIns="0" rtlCol="0" anchor="t"/>
          <a:lstStyle/>
          <a:p>
            <a:pPr indent="0" marL="0">
              <a:buNone/>
            </a:pPr>
            <a:r>
              <a:rPr lang="en-US" sz="1600" b="1" dirty="0">
                <a:solidFill>
                  <a:srgbClr val="FDF7F6"/>
                </a:solidFill>
                <a:latin typeface="Cambria" pitchFamily="34" charset="0"/>
                <a:ea typeface="Cambria" pitchFamily="34" charset="-122"/>
                <a:cs typeface="Cambria" pitchFamily="34" charset="-120"/>
              </a:rPr>
              <a:t>Sí hay beneficio, y empieza por la ley</a:t>
            </a:r>
            <a:endParaRPr lang="en-US" sz="1600" dirty="0"/>
          </a:p>
        </p:txBody>
      </p:sp>
      <p:sp>
        <p:nvSpPr>
          <p:cNvPr id="7" name="Text 5"/>
          <p:cNvSpPr txBox="1"/>
          <p:nvPr/>
        </p:nvSpPr>
        <p:spPr>
          <a:xfrm>
            <a:off x="1417320" y="2057400"/>
            <a:ext cx="9966960" cy="594360"/>
          </a:xfrm>
          <a:prstGeom prst="rect">
            <a:avLst/>
          </a:prstGeom>
          <a:noFill/>
          <a:ln/>
        </p:spPr>
        <p:txBody>
          <a:bodyPr wrap="square" lIns="0" tIns="0" rIns="0" bIns="0" rtlCol="0" anchor="t"/>
          <a:lstStyle/>
          <a:p>
            <a:pPr indent="0" marL="0">
              <a:lnSpc>
                <a:spcPts val="1700"/>
              </a:lnSpc>
              <a:buNone/>
            </a:pPr>
            <a:r>
              <a:rPr lang="en-US" sz="1250" dirty="0">
                <a:solidFill>
                  <a:srgbClr val="F6CFCB"/>
                </a:solidFill>
                <a:latin typeface="Calibri" pitchFamily="34" charset="0"/>
                <a:ea typeface="Calibri" pitchFamily="34" charset="-122"/>
                <a:cs typeface="Calibri" pitchFamily="34" charset="-120"/>
              </a:rPr>
              <a:t>La Ley 30220 y la Ley 30476 obligan a sostener un PRODAC. Los deportistas de selección son quienes convierten ese requisito en un programa real y acreditable.</a:t>
            </a:r>
            <a:endParaRPr lang="en-US" sz="1250" dirty="0"/>
          </a:p>
        </p:txBody>
      </p:sp>
      <p:sp>
        <p:nvSpPr>
          <p:cNvPr id="8" name="Shape 6"/>
          <p:cNvSpPr/>
          <p:nvPr/>
        </p:nvSpPr>
        <p:spPr>
          <a:xfrm>
            <a:off x="640080" y="2715768"/>
            <a:ext cx="548640" cy="548640"/>
          </a:xfrm>
          <a:prstGeom prst="ellipse">
            <a:avLst/>
          </a:prstGeom>
          <a:solidFill>
            <a:srgbClr val="A8203C"/>
          </a:solidFill>
          <a:ln/>
        </p:spPr>
      </p:sp>
      <p:sp>
        <p:nvSpPr>
          <p:cNvPr id="9" name="Text 7"/>
          <p:cNvSpPr txBox="1"/>
          <p:nvPr/>
        </p:nvSpPr>
        <p:spPr>
          <a:xfrm>
            <a:off x="640080" y="2715768"/>
            <a:ext cx="548640" cy="548640"/>
          </a:xfrm>
          <a:prstGeom prst="rect">
            <a:avLst/>
          </a:prstGeom>
          <a:noFill/>
          <a:ln/>
        </p:spPr>
        <p:txBody>
          <a:bodyPr wrap="square" lIns="0" tIns="0" rIns="0" bIns="0" rtlCol="0" anchor="ctr"/>
          <a:lstStyle/>
          <a:p>
            <a:pPr algn="ctr" indent="0" marL="0">
              <a:buNone/>
            </a:pPr>
            <a:r>
              <a:rPr lang="en-US" sz="1800" b="1" dirty="0">
                <a:solidFill>
                  <a:srgbClr val="E8B54C"/>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1417320" y="2697480"/>
            <a:ext cx="9966960" cy="365760"/>
          </a:xfrm>
          <a:prstGeom prst="rect">
            <a:avLst/>
          </a:prstGeom>
          <a:noFill/>
          <a:ln/>
        </p:spPr>
        <p:txBody>
          <a:bodyPr wrap="square" lIns="0" tIns="0" rIns="0" bIns="0" rtlCol="0" anchor="t"/>
          <a:lstStyle/>
          <a:p>
            <a:pPr indent="0" marL="0">
              <a:buNone/>
            </a:pPr>
            <a:r>
              <a:rPr lang="en-US" sz="1600" b="1" dirty="0">
                <a:solidFill>
                  <a:srgbClr val="FDF7F6"/>
                </a:solidFill>
                <a:latin typeface="Cambria" pitchFamily="34" charset="0"/>
                <a:ea typeface="Cambria" pitchFamily="34" charset="-122"/>
                <a:cs typeface="Cambria" pitchFamily="34" charset="-120"/>
              </a:rPr>
              <a:t>El retorno de imagen es real pero no se mide</a:t>
            </a:r>
            <a:endParaRPr lang="en-US" sz="1600" dirty="0"/>
          </a:p>
        </p:txBody>
      </p:sp>
      <p:sp>
        <p:nvSpPr>
          <p:cNvPr id="11" name="Text 9"/>
          <p:cNvSpPr txBox="1"/>
          <p:nvPr/>
        </p:nvSpPr>
        <p:spPr>
          <a:xfrm>
            <a:off x="1417320" y="3081528"/>
            <a:ext cx="9966960" cy="594360"/>
          </a:xfrm>
          <a:prstGeom prst="rect">
            <a:avLst/>
          </a:prstGeom>
          <a:noFill/>
          <a:ln/>
        </p:spPr>
        <p:txBody>
          <a:bodyPr wrap="square" lIns="0" tIns="0" rIns="0" bIns="0" rtlCol="0" anchor="t"/>
          <a:lstStyle/>
          <a:p>
            <a:pPr indent="0" marL="0">
              <a:lnSpc>
                <a:spcPts val="1700"/>
              </a:lnSpc>
              <a:buNone/>
            </a:pPr>
            <a:r>
              <a:rPr lang="en-US" sz="1250" dirty="0">
                <a:solidFill>
                  <a:srgbClr val="F6CFCB"/>
                </a:solidFill>
                <a:latin typeface="Calibri" pitchFamily="34" charset="0"/>
                <a:ea typeface="Calibri" pitchFamily="34" charset="-122"/>
                <a:cs typeface="Calibri" pitchFamily="34" charset="-120"/>
              </a:rPr>
              <a:t>Ninguna universidad peruana publica cuánto le retorna en matrículas o en valor de marca. Se afirma en todas partes y no se demuestra en ninguna.</a:t>
            </a:r>
            <a:endParaRPr lang="en-US" sz="1250" dirty="0"/>
          </a:p>
        </p:txBody>
      </p:sp>
      <p:sp>
        <p:nvSpPr>
          <p:cNvPr id="12" name="Shape 10"/>
          <p:cNvSpPr/>
          <p:nvPr/>
        </p:nvSpPr>
        <p:spPr>
          <a:xfrm>
            <a:off x="640080" y="3739896"/>
            <a:ext cx="548640" cy="548640"/>
          </a:xfrm>
          <a:prstGeom prst="ellipse">
            <a:avLst/>
          </a:prstGeom>
          <a:solidFill>
            <a:srgbClr val="A8203C"/>
          </a:solidFill>
          <a:ln/>
        </p:spPr>
      </p:sp>
      <p:sp>
        <p:nvSpPr>
          <p:cNvPr id="13" name="Text 11"/>
          <p:cNvSpPr txBox="1"/>
          <p:nvPr/>
        </p:nvSpPr>
        <p:spPr>
          <a:xfrm>
            <a:off x="640080" y="3739896"/>
            <a:ext cx="548640" cy="548640"/>
          </a:xfrm>
          <a:prstGeom prst="rect">
            <a:avLst/>
          </a:prstGeom>
          <a:noFill/>
          <a:ln/>
        </p:spPr>
        <p:txBody>
          <a:bodyPr wrap="square" lIns="0" tIns="0" rIns="0" bIns="0" rtlCol="0" anchor="ctr"/>
          <a:lstStyle/>
          <a:p>
            <a:pPr algn="ctr" indent="0" marL="0">
              <a:buNone/>
            </a:pPr>
            <a:r>
              <a:rPr lang="en-US" sz="1800" b="1" dirty="0">
                <a:solidFill>
                  <a:srgbClr val="E8B54C"/>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1417320" y="3721608"/>
            <a:ext cx="9966960" cy="365760"/>
          </a:xfrm>
          <a:prstGeom prst="rect">
            <a:avLst/>
          </a:prstGeom>
          <a:noFill/>
          <a:ln/>
        </p:spPr>
        <p:txBody>
          <a:bodyPr wrap="square" lIns="0" tIns="0" rIns="0" bIns="0" rtlCol="0" anchor="t"/>
          <a:lstStyle/>
          <a:p>
            <a:pPr indent="0" marL="0">
              <a:buNone/>
            </a:pPr>
            <a:r>
              <a:rPr lang="en-US" sz="1600" b="1" dirty="0">
                <a:solidFill>
                  <a:srgbClr val="FDF7F6"/>
                </a:solidFill>
                <a:latin typeface="Cambria" pitchFamily="34" charset="0"/>
                <a:ea typeface="Cambria" pitchFamily="34" charset="-122"/>
                <a:cs typeface="Cambria" pitchFamily="34" charset="-120"/>
              </a:rPr>
              <a:t>La beca sin tutoría no sirve a nadie</a:t>
            </a:r>
            <a:endParaRPr lang="en-US" sz="1600" dirty="0"/>
          </a:p>
        </p:txBody>
      </p:sp>
      <p:sp>
        <p:nvSpPr>
          <p:cNvPr id="15" name="Text 13"/>
          <p:cNvSpPr txBox="1"/>
          <p:nvPr/>
        </p:nvSpPr>
        <p:spPr>
          <a:xfrm>
            <a:off x="1417320" y="4105656"/>
            <a:ext cx="9966960" cy="594360"/>
          </a:xfrm>
          <a:prstGeom prst="rect">
            <a:avLst/>
          </a:prstGeom>
          <a:noFill/>
          <a:ln/>
        </p:spPr>
        <p:txBody>
          <a:bodyPr wrap="square" lIns="0" tIns="0" rIns="0" bIns="0" rtlCol="0" anchor="t"/>
          <a:lstStyle/>
          <a:p>
            <a:pPr indent="0" marL="0">
              <a:lnSpc>
                <a:spcPts val="1700"/>
              </a:lnSpc>
              <a:buNone/>
            </a:pPr>
            <a:r>
              <a:rPr lang="en-US" sz="1250" dirty="0">
                <a:solidFill>
                  <a:srgbClr val="F6CFCB"/>
                </a:solidFill>
                <a:latin typeface="Calibri" pitchFamily="34" charset="0"/>
                <a:ea typeface="Calibri" pitchFamily="34" charset="-122"/>
                <a:cs typeface="Calibri" pitchFamily="34" charset="-120"/>
              </a:rPr>
              <a:t>La propia ley exige acompañamiento académico. Sin él, el estudiante abandona o alarga la carrera y la universidad pierde la inversión y el relato.</a:t>
            </a:r>
            <a:endParaRPr lang="en-US" sz="1250" dirty="0"/>
          </a:p>
        </p:txBody>
      </p:sp>
      <p:sp>
        <p:nvSpPr>
          <p:cNvPr id="16" name="Shape 14"/>
          <p:cNvSpPr/>
          <p:nvPr/>
        </p:nvSpPr>
        <p:spPr>
          <a:xfrm>
            <a:off x="640080" y="4764024"/>
            <a:ext cx="548640" cy="548640"/>
          </a:xfrm>
          <a:prstGeom prst="ellipse">
            <a:avLst/>
          </a:prstGeom>
          <a:solidFill>
            <a:srgbClr val="A8203C"/>
          </a:solidFill>
          <a:ln/>
        </p:spPr>
      </p:sp>
      <p:sp>
        <p:nvSpPr>
          <p:cNvPr id="17" name="Text 15"/>
          <p:cNvSpPr txBox="1"/>
          <p:nvPr/>
        </p:nvSpPr>
        <p:spPr>
          <a:xfrm>
            <a:off x="640080" y="4764024"/>
            <a:ext cx="548640" cy="548640"/>
          </a:xfrm>
          <a:prstGeom prst="rect">
            <a:avLst/>
          </a:prstGeom>
          <a:noFill/>
          <a:ln/>
        </p:spPr>
        <p:txBody>
          <a:bodyPr wrap="square" lIns="0" tIns="0" rIns="0" bIns="0" rtlCol="0" anchor="ctr"/>
          <a:lstStyle/>
          <a:p>
            <a:pPr algn="ctr" indent="0" marL="0">
              <a:buNone/>
            </a:pPr>
            <a:r>
              <a:rPr lang="en-US" sz="1800" b="1" dirty="0">
                <a:solidFill>
                  <a:srgbClr val="E8B54C"/>
                </a:solidFill>
                <a:latin typeface="Cambria" pitchFamily="34" charset="0"/>
                <a:ea typeface="Cambria" pitchFamily="34" charset="-122"/>
                <a:cs typeface="Cambria" pitchFamily="34" charset="-120"/>
              </a:rPr>
              <a:t>4</a:t>
            </a:r>
            <a:endParaRPr lang="en-US" sz="1800" dirty="0"/>
          </a:p>
        </p:txBody>
      </p:sp>
      <p:sp>
        <p:nvSpPr>
          <p:cNvPr id="18" name="Text 16"/>
          <p:cNvSpPr txBox="1"/>
          <p:nvPr/>
        </p:nvSpPr>
        <p:spPr>
          <a:xfrm>
            <a:off x="1417320" y="4745736"/>
            <a:ext cx="9966960" cy="365760"/>
          </a:xfrm>
          <a:prstGeom prst="rect">
            <a:avLst/>
          </a:prstGeom>
          <a:noFill/>
          <a:ln/>
        </p:spPr>
        <p:txBody>
          <a:bodyPr wrap="square" lIns="0" tIns="0" rIns="0" bIns="0" rtlCol="0" anchor="t"/>
          <a:lstStyle/>
          <a:p>
            <a:pPr indent="0" marL="0">
              <a:buNone/>
            </a:pPr>
            <a:r>
              <a:rPr lang="en-US" sz="1600" b="1" dirty="0">
                <a:solidFill>
                  <a:srgbClr val="FDF7F6"/>
                </a:solidFill>
                <a:latin typeface="Cambria" pitchFamily="34" charset="0"/>
                <a:ea typeface="Cambria" pitchFamily="34" charset="-122"/>
                <a:cs typeface="Cambria" pitchFamily="34" charset="-120"/>
              </a:rPr>
              <a:t>La respuesta honesta es condicionada</a:t>
            </a:r>
            <a:endParaRPr lang="en-US" sz="1600" dirty="0"/>
          </a:p>
        </p:txBody>
      </p:sp>
      <p:sp>
        <p:nvSpPr>
          <p:cNvPr id="19" name="Text 17"/>
          <p:cNvSpPr txBox="1"/>
          <p:nvPr/>
        </p:nvSpPr>
        <p:spPr>
          <a:xfrm>
            <a:off x="1417320" y="5129784"/>
            <a:ext cx="9966960" cy="594360"/>
          </a:xfrm>
          <a:prstGeom prst="rect">
            <a:avLst/>
          </a:prstGeom>
          <a:noFill/>
          <a:ln/>
        </p:spPr>
        <p:txBody>
          <a:bodyPr wrap="square" lIns="0" tIns="0" rIns="0" bIns="0" rtlCol="0" anchor="t"/>
          <a:lstStyle/>
          <a:p>
            <a:pPr indent="0" marL="0">
              <a:lnSpc>
                <a:spcPts val="1700"/>
              </a:lnSpc>
              <a:buNone/>
            </a:pPr>
            <a:r>
              <a:rPr lang="en-US" sz="1250" dirty="0">
                <a:solidFill>
                  <a:srgbClr val="F6CFCB"/>
                </a:solidFill>
                <a:latin typeface="Calibri" pitchFamily="34" charset="0"/>
                <a:ea typeface="Calibri" pitchFamily="34" charset="-122"/>
                <a:cs typeface="Calibri" pitchFamily="34" charset="-120"/>
              </a:rPr>
              <a:t>Conviene cuando existe programa, tutoría y continuidad. No conviene cuando todo se reduce a una beca aislada y una publicación en redes.</a:t>
            </a:r>
            <a:endParaRPr lang="en-US" sz="1250" dirty="0"/>
          </a:p>
        </p:txBody>
      </p:sp>
      <p:sp>
        <p:nvSpPr>
          <p:cNvPr id="20" name="Text 18"/>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900" dirty="0">
                <a:solidFill>
                  <a:srgbClr val="E7AFAD"/>
                </a:solidFill>
                <a:latin typeface="Calibri" pitchFamily="34" charset="0"/>
                <a:ea typeface="Calibri" pitchFamily="34" charset="-122"/>
                <a:cs typeface="Calibri" pitchFamily="34" charset="-120"/>
              </a:rPr>
              <a:t>Universidades y selección peruana · Método CRAAP</a:t>
            </a:r>
            <a:endParaRPr lang="en-US" sz="900" dirty="0"/>
          </a:p>
        </p:txBody>
      </p:sp>
      <p:sp>
        <p:nvSpPr>
          <p:cNvPr id="21" name="Text 19"/>
          <p:cNvSpPr txBox="1"/>
          <p:nvPr/>
        </p:nvSpPr>
        <p:spPr>
          <a:xfrm>
            <a:off x="10972800" y="6382512"/>
            <a:ext cx="548640" cy="274320"/>
          </a:xfrm>
          <a:prstGeom prst="rect">
            <a:avLst/>
          </a:prstGeom>
          <a:noFill/>
          <a:ln/>
        </p:spPr>
        <p:txBody>
          <a:bodyPr wrap="square" lIns="0" tIns="0" rIns="0" bIns="0" rtlCol="0" anchor="ctr"/>
          <a:lstStyle/>
          <a:p>
            <a:pPr algn="r" indent="0" marL="0">
              <a:buNone/>
            </a:pPr>
            <a:r>
              <a:rPr lang="en-US" sz="900" dirty="0">
                <a:solidFill>
                  <a:srgbClr val="E7AFAD"/>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F7F6"/>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E8B54C"/>
                </a:solidFill>
                <a:latin typeface="Calibri" pitchFamily="34" charset="0"/>
                <a:ea typeface="Calibri" pitchFamily="34" charset="-122"/>
                <a:cs typeface="Calibri" pitchFamily="34" charset="-120"/>
              </a:rPr>
              <a:t>FORMATO APA — COLEGIO SANTA MARÍA MARIANISTAS</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t"/>
          <a:lstStyle/>
          <a:p>
            <a:pPr indent="0" marL="0">
              <a:buNone/>
            </a:pPr>
            <a:r>
              <a:rPr lang="en-US" sz="3400" b="1" dirty="0">
                <a:solidFill>
                  <a:srgbClr val="8E0B26"/>
                </a:solidFill>
                <a:latin typeface="Cambria" pitchFamily="34" charset="0"/>
                <a:ea typeface="Cambria" pitchFamily="34" charset="-122"/>
                <a:cs typeface="Cambria" pitchFamily="34" charset="-120"/>
              </a:rPr>
              <a:t>Referencias</a:t>
            </a:r>
            <a:endParaRPr lang="en-US" sz="3400" dirty="0"/>
          </a:p>
        </p:txBody>
      </p:sp>
      <p:sp>
        <p:nvSpPr>
          <p:cNvPr id="4" name="Text 2"/>
          <p:cNvSpPr txBox="1"/>
          <p:nvPr/>
        </p:nvSpPr>
        <p:spPr>
          <a:xfrm>
            <a:off x="640080" y="1554480"/>
            <a:ext cx="10881360" cy="822960"/>
          </a:xfrm>
          <a:prstGeom prst="rect">
            <a:avLst/>
          </a:prstGeom>
          <a:noFill/>
          <a:ln/>
        </p:spPr>
        <p:txBody>
          <a:bodyPr wrap="square" lIns="0" tIns="0" rIns="0" bIns="0" rtlCol="0" anchor="t"/>
          <a:lstStyle/>
          <a:p>
            <a:pPr marL="279400" indent="-279400">
              <a:lnSpc>
                <a:spcPts val="1600"/>
              </a:lnSpc>
              <a:buSzPct val="100000"/>
              <a:buChar char="​"/>
            </a:pPr>
            <a:r>
              <a:rPr lang="en-US" sz="1100" dirty="0">
                <a:solidFill>
                  <a:srgbClr val="8E0B26"/>
                </a:solidFill>
                <a:latin typeface="Calibri" pitchFamily="34" charset="0"/>
                <a:ea typeface="Calibri" pitchFamily="34" charset="-122"/>
                <a:cs typeface="Calibri" pitchFamily="34" charset="-120"/>
              </a:rPr>
              <a:t>Blakeslee, S. (2004). The CRAAP test. </a:t>
            </a:r>
            <a:pPr indent="0" marL="0">
              <a:lnSpc>
                <a:spcPts val="1600"/>
              </a:lnSpc>
              <a:buNone/>
            </a:pPr>
            <a:r>
              <a:rPr lang="en-US" sz="1100" i="1" dirty="0">
                <a:solidFill>
                  <a:srgbClr val="8E0B26"/>
                </a:solidFill>
                <a:latin typeface="Calibri" pitchFamily="34" charset="0"/>
                <a:ea typeface="Calibri" pitchFamily="34" charset="-122"/>
                <a:cs typeface="Calibri" pitchFamily="34" charset="-120"/>
              </a:rPr>
              <a:t>LOEX Quarterly, 31</a:t>
            </a:r>
            <a:pPr indent="0" marL="0">
              <a:lnSpc>
                <a:spcPts val="1600"/>
              </a:lnSpc>
              <a:buNone/>
            </a:pPr>
            <a:r>
              <a:rPr lang="en-US" sz="1100" dirty="0">
                <a:solidFill>
                  <a:srgbClr val="8E0B26"/>
                </a:solidFill>
                <a:latin typeface="Calibri" pitchFamily="34" charset="0"/>
                <a:ea typeface="Calibri" pitchFamily="34" charset="-122"/>
                <a:cs typeface="Calibri" pitchFamily="34" charset="-120"/>
              </a:rPr>
              <a:t>(3), 6-7. https://commons.emich.edu/loexquarterly/vol31/iss3/4</a:t>
            </a:r>
            <a:endParaRPr lang="en-US" sz="1100" dirty="0"/>
          </a:p>
        </p:txBody>
      </p:sp>
      <p:sp>
        <p:nvSpPr>
          <p:cNvPr id="5" name="Text 3"/>
          <p:cNvSpPr txBox="1"/>
          <p:nvPr/>
        </p:nvSpPr>
        <p:spPr>
          <a:xfrm>
            <a:off x="640080" y="2377440"/>
            <a:ext cx="10881360" cy="822960"/>
          </a:xfrm>
          <a:prstGeom prst="rect">
            <a:avLst/>
          </a:prstGeom>
          <a:noFill/>
          <a:ln/>
        </p:spPr>
        <p:txBody>
          <a:bodyPr wrap="square" lIns="0" tIns="0" rIns="0" bIns="0" rtlCol="0" anchor="t"/>
          <a:lstStyle/>
          <a:p>
            <a:pPr marL="279400" indent="-279400">
              <a:lnSpc>
                <a:spcPts val="1600"/>
              </a:lnSpc>
              <a:buSzPct val="100000"/>
              <a:buChar char="​"/>
            </a:pPr>
            <a:r>
              <a:rPr lang="en-US" sz="1100" dirty="0">
                <a:solidFill>
                  <a:srgbClr val="8E0B26"/>
                </a:solidFill>
                <a:latin typeface="Calibri" pitchFamily="34" charset="0"/>
                <a:ea typeface="Calibri" pitchFamily="34" charset="-122"/>
                <a:cs typeface="Calibri" pitchFamily="34" charset="-120"/>
              </a:rPr>
              <a:t>Congreso de la República del Perú. (2014). </a:t>
            </a:r>
            <a:pPr indent="0" marL="0">
              <a:lnSpc>
                <a:spcPts val="1600"/>
              </a:lnSpc>
              <a:buNone/>
            </a:pPr>
            <a:r>
              <a:rPr lang="en-US" sz="1100" i="1" dirty="0">
                <a:solidFill>
                  <a:srgbClr val="8E0B26"/>
                </a:solidFill>
                <a:latin typeface="Calibri" pitchFamily="34" charset="0"/>
                <a:ea typeface="Calibri" pitchFamily="34" charset="-122"/>
                <a:cs typeface="Calibri" pitchFamily="34" charset="-120"/>
              </a:rPr>
              <a:t>Ley N.° 30220, Ley Universitaria</a:t>
            </a:r>
            <a:pPr indent="0" marL="0">
              <a:lnSpc>
                <a:spcPts val="1600"/>
              </a:lnSpc>
              <a:buNone/>
            </a:pPr>
            <a:r>
              <a:rPr lang="en-US" sz="1100" dirty="0">
                <a:solidFill>
                  <a:srgbClr val="8E0B26"/>
                </a:solidFill>
                <a:latin typeface="Calibri" pitchFamily="34" charset="0"/>
                <a:ea typeface="Calibri" pitchFamily="34" charset="-122"/>
                <a:cs typeface="Calibri" pitchFamily="34" charset="-120"/>
              </a:rPr>
              <a:t>. Diario Oficial El Peruano. https://diariooficial.elperuano.pe/Normas/obtenerDocumento?idNorma=50</a:t>
            </a:r>
            <a:endParaRPr lang="en-US" sz="1100" dirty="0"/>
          </a:p>
        </p:txBody>
      </p:sp>
      <p:sp>
        <p:nvSpPr>
          <p:cNvPr id="6" name="Text 4"/>
          <p:cNvSpPr txBox="1"/>
          <p:nvPr/>
        </p:nvSpPr>
        <p:spPr>
          <a:xfrm>
            <a:off x="640080" y="3200400"/>
            <a:ext cx="10881360" cy="822960"/>
          </a:xfrm>
          <a:prstGeom prst="rect">
            <a:avLst/>
          </a:prstGeom>
          <a:noFill/>
          <a:ln/>
        </p:spPr>
        <p:txBody>
          <a:bodyPr wrap="square" lIns="0" tIns="0" rIns="0" bIns="0" rtlCol="0" anchor="t"/>
          <a:lstStyle/>
          <a:p>
            <a:pPr marL="279400" indent="-279400">
              <a:lnSpc>
                <a:spcPts val="1600"/>
              </a:lnSpc>
              <a:buSzPct val="100000"/>
              <a:buChar char="​"/>
            </a:pPr>
            <a:r>
              <a:rPr lang="en-US" sz="1100" dirty="0">
                <a:solidFill>
                  <a:srgbClr val="8E0B26"/>
                </a:solidFill>
                <a:latin typeface="Calibri" pitchFamily="34" charset="0"/>
                <a:ea typeface="Calibri" pitchFamily="34" charset="-122"/>
                <a:cs typeface="Calibri" pitchFamily="34" charset="-120"/>
              </a:rPr>
              <a:t>Congreso de la República del Perú. (2016). </a:t>
            </a:r>
            <a:pPr indent="0" marL="0">
              <a:lnSpc>
                <a:spcPts val="1600"/>
              </a:lnSpc>
              <a:buNone/>
            </a:pPr>
            <a:r>
              <a:rPr lang="en-US" sz="1100" i="1" dirty="0">
                <a:solidFill>
                  <a:srgbClr val="8E0B26"/>
                </a:solidFill>
                <a:latin typeface="Calibri" pitchFamily="34" charset="0"/>
                <a:ea typeface="Calibri" pitchFamily="34" charset="-122"/>
                <a:cs typeface="Calibri" pitchFamily="34" charset="-120"/>
              </a:rPr>
              <a:t>Ley N.° 30476, Ley que regula los Programas Deportivos de Alta Competencia en las universidades</a:t>
            </a:r>
            <a:pPr indent="0" marL="0">
              <a:lnSpc>
                <a:spcPts val="1600"/>
              </a:lnSpc>
              <a:buNone/>
            </a:pPr>
            <a:r>
              <a:rPr lang="en-US" sz="1100" dirty="0">
                <a:solidFill>
                  <a:srgbClr val="8E0B26"/>
                </a:solidFill>
                <a:latin typeface="Calibri" pitchFamily="34" charset="0"/>
                <a:ea typeface="Calibri" pitchFamily="34" charset="-122"/>
                <a:cs typeface="Calibri" pitchFamily="34" charset="-120"/>
              </a:rPr>
              <a:t>. https://www.leyes.congreso.gob.pe/Documentos/Leyes/30476.pdf</a:t>
            </a:r>
            <a:endParaRPr lang="en-US" sz="1100" dirty="0"/>
          </a:p>
        </p:txBody>
      </p:sp>
      <p:sp>
        <p:nvSpPr>
          <p:cNvPr id="7" name="Text 5"/>
          <p:cNvSpPr txBox="1"/>
          <p:nvPr/>
        </p:nvSpPr>
        <p:spPr>
          <a:xfrm>
            <a:off x="640080" y="4023360"/>
            <a:ext cx="10881360" cy="822960"/>
          </a:xfrm>
          <a:prstGeom prst="rect">
            <a:avLst/>
          </a:prstGeom>
          <a:noFill/>
          <a:ln/>
        </p:spPr>
        <p:txBody>
          <a:bodyPr wrap="square" lIns="0" tIns="0" rIns="0" bIns="0" rtlCol="0" anchor="t"/>
          <a:lstStyle/>
          <a:p>
            <a:pPr marL="279400" indent="-279400">
              <a:lnSpc>
                <a:spcPts val="1600"/>
              </a:lnSpc>
              <a:buSzPct val="100000"/>
              <a:buChar char="​"/>
            </a:pPr>
            <a:r>
              <a:rPr lang="en-US" sz="1100" dirty="0">
                <a:solidFill>
                  <a:srgbClr val="8E0B26"/>
                </a:solidFill>
                <a:latin typeface="Calibri" pitchFamily="34" charset="0"/>
                <a:ea typeface="Calibri" pitchFamily="34" charset="-122"/>
                <a:cs typeface="Calibri" pitchFamily="34" charset="-120"/>
              </a:rPr>
              <a:t>Pontificia Universidad Católica del Perú. (s. f.). </a:t>
            </a:r>
            <a:pPr indent="0" marL="0">
              <a:lnSpc>
                <a:spcPts val="1600"/>
              </a:lnSpc>
              <a:buNone/>
            </a:pPr>
            <a:r>
              <a:rPr lang="en-US" sz="1100" i="1" dirty="0">
                <a:solidFill>
                  <a:srgbClr val="8E0B26"/>
                </a:solidFill>
                <a:latin typeface="Calibri" pitchFamily="34" charset="0"/>
                <a:ea typeface="Calibri" pitchFamily="34" charset="-122"/>
                <a:cs typeface="Calibri" pitchFamily="34" charset="-120"/>
              </a:rPr>
              <a:t>Beca para Deportistas Destacados (BECAD)</a:t>
            </a:r>
            <a:pPr indent="0" marL="0">
              <a:lnSpc>
                <a:spcPts val="1600"/>
              </a:lnSpc>
              <a:buNone/>
            </a:pPr>
            <a:r>
              <a:rPr lang="en-US" sz="1100" dirty="0">
                <a:solidFill>
                  <a:srgbClr val="8E0B26"/>
                </a:solidFill>
                <a:latin typeface="Calibri" pitchFamily="34" charset="0"/>
                <a:ea typeface="Calibri" pitchFamily="34" charset="-122"/>
                <a:cs typeface="Calibri" pitchFamily="34" charset="-120"/>
              </a:rPr>
              <a:t>. PUCP. Recuperado el 11 de septiembre de 2026, de https://www.pucp.edu.pe/beca/deporte/</a:t>
            </a:r>
            <a:endParaRPr lang="en-US" sz="1100" dirty="0"/>
          </a:p>
        </p:txBody>
      </p:sp>
      <p:sp>
        <p:nvSpPr>
          <p:cNvPr id="8" name="Text 6"/>
          <p:cNvSpPr txBox="1"/>
          <p:nvPr/>
        </p:nvSpPr>
        <p:spPr>
          <a:xfrm>
            <a:off x="640080" y="4846320"/>
            <a:ext cx="10881360" cy="822960"/>
          </a:xfrm>
          <a:prstGeom prst="rect">
            <a:avLst/>
          </a:prstGeom>
          <a:noFill/>
          <a:ln/>
        </p:spPr>
        <p:txBody>
          <a:bodyPr wrap="square" lIns="0" tIns="0" rIns="0" bIns="0" rtlCol="0" anchor="t"/>
          <a:lstStyle/>
          <a:p>
            <a:pPr marL="279400" indent="-279400">
              <a:lnSpc>
                <a:spcPts val="1600"/>
              </a:lnSpc>
              <a:buSzPct val="100000"/>
              <a:buChar char="​"/>
            </a:pPr>
            <a:r>
              <a:rPr lang="en-US" sz="1100" dirty="0">
                <a:solidFill>
                  <a:srgbClr val="8E0B26"/>
                </a:solidFill>
                <a:latin typeface="Calibri" pitchFamily="34" charset="0"/>
                <a:ea typeface="Calibri" pitchFamily="34" charset="-122"/>
                <a:cs typeface="Calibri" pitchFamily="34" charset="-120"/>
              </a:rPr>
              <a:t>Universidad Peruana de Ciencias Aplicadas. (s. f.). </a:t>
            </a:r>
            <a:pPr indent="0" marL="0">
              <a:lnSpc>
                <a:spcPts val="1600"/>
              </a:lnSpc>
              <a:buNone/>
            </a:pPr>
            <a:r>
              <a:rPr lang="en-US" sz="1100" i="1" dirty="0">
                <a:solidFill>
                  <a:srgbClr val="8E0B26"/>
                </a:solidFill>
                <a:latin typeface="Calibri" pitchFamily="34" charset="0"/>
                <a:ea typeface="Calibri" pitchFamily="34" charset="-122"/>
                <a:cs typeface="Calibri" pitchFamily="34" charset="-120"/>
              </a:rPr>
              <a:t>Deportistas calificados</a:t>
            </a:r>
            <a:pPr indent="0" marL="0">
              <a:lnSpc>
                <a:spcPts val="1600"/>
              </a:lnSpc>
              <a:buNone/>
            </a:pPr>
            <a:r>
              <a:rPr lang="en-US" sz="1100" dirty="0">
                <a:solidFill>
                  <a:srgbClr val="8E0B26"/>
                </a:solidFill>
                <a:latin typeface="Calibri" pitchFamily="34" charset="0"/>
                <a:ea typeface="Calibri" pitchFamily="34" charset="-122"/>
                <a:cs typeface="Calibri" pitchFamily="34" charset="-120"/>
              </a:rPr>
              <a:t>. Deportes UPC. Recuperado el 11 de septiembre de 2026, de https://www.upc.edu.pe/servicios/vida-universitaria/deportes-upc/deportistas-calificados/</a:t>
            </a:r>
            <a:endParaRPr lang="en-US" sz="1100" dirty="0"/>
          </a:p>
        </p:txBody>
      </p:sp>
      <p:sp>
        <p:nvSpPr>
          <p:cNvPr id="9" name="Text 7"/>
          <p:cNvSpPr txBox="1"/>
          <p:nvPr/>
        </p:nvSpPr>
        <p:spPr>
          <a:xfrm>
            <a:off x="640080" y="5806440"/>
            <a:ext cx="10881360" cy="502920"/>
          </a:xfrm>
          <a:prstGeom prst="rect">
            <a:avLst/>
          </a:prstGeom>
          <a:noFill/>
          <a:ln/>
        </p:spPr>
        <p:txBody>
          <a:bodyPr wrap="square" lIns="0" tIns="0" rIns="0" bIns="0" rtlCol="0" anchor="ctr"/>
          <a:lstStyle/>
          <a:p>
            <a:pPr indent="0" marL="0">
              <a:lnSpc>
                <a:spcPts val="1400"/>
              </a:lnSpc>
              <a:buNone/>
            </a:pPr>
            <a:r>
              <a:rPr lang="en-US" sz="1000" i="1" dirty="0">
                <a:solidFill>
                  <a:srgbClr val="5A4241"/>
                </a:solidFill>
                <a:latin typeface="Calibri" pitchFamily="34" charset="0"/>
                <a:ea typeface="Calibri" pitchFamily="34" charset="-122"/>
                <a:cs typeface="Calibri" pitchFamily="34" charset="-120"/>
              </a:rPr>
              <a:t>Referencias ordenadas alfabéticamente, con sangría francesa, según la guía de citas del Colegio Santa María Marianistas. Las normas legales se citan con el formato de informe gubernamental y las páginas de universidades con el de sitio web de actualización constante.</a:t>
            </a:r>
            <a:endParaRPr lang="en-US" sz="1000" dirty="0"/>
          </a:p>
        </p:txBody>
      </p:sp>
      <p:sp>
        <p:nvSpPr>
          <p:cNvPr id="10" name="Text 8"/>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900" dirty="0">
                <a:solidFill>
                  <a:srgbClr val="5A4241"/>
                </a:solidFill>
                <a:latin typeface="Calibri" pitchFamily="34" charset="0"/>
                <a:ea typeface="Calibri" pitchFamily="34" charset="-122"/>
                <a:cs typeface="Calibri" pitchFamily="34" charset="-120"/>
              </a:rPr>
              <a:t>Universidades y selección peruana · Método CRAAP</a:t>
            </a:r>
            <a:endParaRPr lang="en-US" sz="900" dirty="0"/>
          </a:p>
        </p:txBody>
      </p:sp>
      <p:sp>
        <p:nvSpPr>
          <p:cNvPr id="11" name="Text 9"/>
          <p:cNvSpPr txBox="1"/>
          <p:nvPr/>
        </p:nvSpPr>
        <p:spPr>
          <a:xfrm>
            <a:off x="10972800" y="6382512"/>
            <a:ext cx="548640" cy="274320"/>
          </a:xfrm>
          <a:prstGeom prst="rect">
            <a:avLst/>
          </a:prstGeom>
          <a:noFill/>
          <a:ln/>
        </p:spPr>
        <p:txBody>
          <a:bodyPr wrap="square" lIns="0" tIns="0" rIns="0" bIns="0" rtlCol="0" anchor="ctr"/>
          <a:lstStyle/>
          <a:p>
            <a:pPr algn="r" indent="0" marL="0">
              <a:buNone/>
            </a:pPr>
            <a:r>
              <a:rPr lang="en-US" sz="900" dirty="0">
                <a:solidFill>
                  <a:srgbClr val="5A4241"/>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Beneficios para las universidades de representar a la selección peruana</dc:title>
  <dc:subject>PptxGenJS Presentation</dc:subject>
  <dc:creator>Colegio Santa María Marianistas</dc:creator>
  <cp:lastModifiedBy>Colegio Santa María Marianistas</cp:lastModifiedBy>
  <cp:revision>1</cp:revision>
  <dcterms:created xsi:type="dcterms:W3CDTF">2026-09-11T16:54:08Z</dcterms:created>
  <dcterms:modified xsi:type="dcterms:W3CDTF">2026-09-11T16:54:08Z</dcterms:modified>
</cp:coreProperties>
</file>