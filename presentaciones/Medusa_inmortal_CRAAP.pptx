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con el gancho: no es que no se muera, es que puede volver a ser bebé. Aclarar la diferencia desde el primer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detalle del frasco funciona muy bien en exposición: un hallazgo mayor que salió de un experimento que salió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aclara expresamente que no buscan la fuente de la eterna juventud, sino entender rutas de reparación celular. Conviene citarlo así.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cambio de nombre de la especie es un buen ejemplo de por qué hay que leer la fuente completa y no solo el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en clase: que se acepte la IA como referencia formal depende siempre del asesor o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914400"/>
            <a:ext cx="1737360" cy="17373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2834640"/>
            <a:ext cx="502920" cy="502920"/>
          </a:xfrm>
          <a:prstGeom prst="ellipse">
            <a:avLst/>
          </a:prstGeom>
          <a:solidFill>
            <a:srgbClr val="FF7FA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3566160"/>
            <a:ext cx="822960" cy="822960"/>
          </a:xfrm>
          <a:prstGeom prst="ellipse">
            <a:avLst/>
          </a:prstGeom>
          <a:solidFill>
            <a:srgbClr val="8AD9D0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937760"/>
            <a:ext cx="320040" cy="320040"/>
          </a:xfrm>
          <a:prstGeom prst="ellipse">
            <a:avLst/>
          </a:prstGeom>
          <a:solidFill>
            <a:srgbClr val="FF7FA4">
              <a:alpha val="6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EN BIOLOGÍA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medusa inmortal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dohrnii: el único animal capaz de rebobinar su propio ciclo de vida. Qué sabemos, qué se exagera y qué falta por demostrar.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94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fuentes con el método CRAAP  ·  Referencias en formato APA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Santa María Marianistas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pregunta que guía el trabajo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i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sentido exacto es «inmortal» una medusa de 4,5 milímetros?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es el único metazoo conocido capaz de rejuvenecer una y otra vez después de haberse reproducido. La palabra «inmortal» aparece en titulares, en libros de divulgación y hasta en artículos científicos, pero significa cosas distintas en cada uno. Separar el fenómeno biológico real del titular es la mitad del trabajo.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B4E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Sub-preguntas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2331720"/>
            <a:ext cx="329184" cy="329184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227685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a nivel celular durante la reversión del ciclo?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3291840"/>
            <a:ext cx="329184" cy="329184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23697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encontró la genómica comparada en 2022?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4251960"/>
            <a:ext cx="329184" cy="329184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197096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«inmortal» no significa que no pueda morir?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método CRAAP: cinco filtros antes de citar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Sarah Blakeslee y el equipo de la Meriam Library (California State University, Chico). En un tema tan viralizado como este, el criterio de propósito es el que más fuentes descarta.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DCEDEC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23160"/>
            <a:ext cx="457200" cy="45720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Vigencia. La genómica del animal cambió por completo en 2022: una fuente anterior puede estar entera pero incompleta.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71216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DCEDEC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6382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Pertinencia. ¿Habla de T. dohrnii o de «las medusas» en general? La confusión de especies es constante.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DCEDEC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Autoridad. ¿Firma un equipo de investigación, un museo de historia natural o una cuenta de divulgación anónima?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33488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DC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6096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2609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26096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26096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Exactitud. ¿Distingue entre inmortalidad biológica y no poder morir? Ahí se cae la mayoría del contenido viral.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64624" y="2148840"/>
            <a:ext cx="1956816" cy="3931920"/>
          </a:xfrm>
          <a:prstGeom prst="roundRect">
            <a:avLst>
              <a:gd name="adj" fmla="val 4673"/>
            </a:avLst>
          </a:prstGeom>
          <a:solidFill>
            <a:srgbClr val="DCEDEC"/>
          </a:solidFill>
          <a:ln/>
        </p:spPr>
      </p:sp>
      <p:sp>
        <p:nvSpPr>
          <p:cNvPr id="26" name="Shape 24"/>
          <p:cNvSpPr/>
          <p:nvPr/>
        </p:nvSpPr>
        <p:spPr>
          <a:xfrm>
            <a:off x="9857232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5723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301752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621024"/>
            <a:ext cx="137160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Propósito. Un texto que promete «la cura de la vejez» busca clics, no informar. El titular delata la intención.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LA ESPECIE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es Turritopsis dohrnii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43891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65960"/>
            <a:ext cx="457200" cy="45720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5603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163824"/>
            <a:ext cx="19293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Hidrozoo de la familia Oceaniidae, filo Cnidaria. No es una medusa «verdadera» de la clase Scyphozoa, como la medusa común de playa.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514600" cy="43891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10" name="Shape 8"/>
          <p:cNvSpPr/>
          <p:nvPr/>
        </p:nvSpPr>
        <p:spPr>
          <a:xfrm>
            <a:off x="3721608" y="19659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25603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163824"/>
            <a:ext cx="19293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4,5 mm de ancho y de alto en su fase adulta: más pequeña que la uña del dedo meñique. Casi transparente, con el estómago rojo visible.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514600" cy="43891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0528" y="19659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052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5603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163824"/>
            <a:ext cx="19293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Originaria del Mediterráneo, hoy presente en aguas templadas de todo el mundo. Se ha dispersado en el agua de lastre de los barcos.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514600" cy="43891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9448" y="19659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94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99448" y="25603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3163824"/>
            <a:ext cx="19293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capacidad se detectó por accidente en los años ochenta: los estudiantes Christian Sommer y Giorgio Bavestrello vieron medusas estresadas volver a fase de pólipo en un frasco.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FENÓMENO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reversión del ciclo de vida, paso a paso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normal en un cnidario es pólipo → medusa → reproducción → muerte. T. dohrnii puede devolver la cinta.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DCEDE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59152"/>
            <a:ext cx="475488" cy="475488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Estrés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Hambre, cambios bruscos de temperatura, daño físico o simple envejecimiento disparan el proceso en la medusa adulta.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4428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DCEDEC"/>
          </a:solidFill>
          <a:ln/>
        </p:spPr>
      </p:sp>
      <p:sp>
        <p:nvSpPr>
          <p:cNvPr id="11" name="Shape 9"/>
          <p:cNvSpPr/>
          <p:nvPr/>
        </p:nvSpPr>
        <p:spPr>
          <a:xfrm>
            <a:off x="3680460" y="2359152"/>
            <a:ext cx="475488" cy="475488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046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0460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80460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medusa se deja caer al fondo, reabsorbe sus tentáculos y su campana, y se compacta en una masa celular llamada quiste.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DCED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4808" y="2359152"/>
            <a:ext cx="475488" cy="475488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6480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Quiste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ocurre la transdiferenciación: las células cambian de identidad. Es la fase donde se concentra la actividad génica del proceso.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93124" y="2103120"/>
            <a:ext cx="2528316" cy="3108960"/>
          </a:xfrm>
          <a:prstGeom prst="roundRect">
            <a:avLst>
              <a:gd name="adj" fmla="val 3617"/>
            </a:avLst>
          </a:prstGeom>
          <a:solidFill>
            <a:srgbClr val="DC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9156" y="2359152"/>
            <a:ext cx="475488" cy="475488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49156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49156" y="2999232"/>
            <a:ext cx="2016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pólipo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49156" y="3529584"/>
            <a:ext cx="20162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quiste brota un estolón que forma pólipos, y de ellos nacen medusas genéticamente idénticas. El ciclo vuelve a empezar.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no es la misma medusa la que «resucita». Es su material celular el que se reorganiza y da origen a una colonia nueva.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Transdiferenciación: qué es y qué no 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DCEDE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ocurre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célula ya especializada cambia directamente a otro tipo celular distinto, sin volver a ser una célula madre indiferenciada.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58627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del músculo estriado de la campana pueden convertirse en células nerviosas, del cnidocilio o del epitelio del pólipo.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65493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de forma masiva y coordinada, no en una o dos células sueltas.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8704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Piraino y su equipo lo documentaron y nombraron en 1996, en el trabajo que abrió toda esta línea de investigación.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430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significa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51760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regeneración: la medusa no repara lo dañado, desmonta su cuerpo adulto y construye otro distinto.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405957"/>
            <a:ext cx="4526280" cy="42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clonación ni reproducción sexual: no hay fecundación ni fase larvaria de por medio.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975811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exclusivo de esta especie en términos absolutos, pero sí lo es hacerlo de forma repetida y después de reproducirse.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730008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 logrado reproducir el mecanismo en células humanas. Es investigación básica, no una terapia.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GENÓMICA COMPARADA (2022)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encontró el estudio de PNAS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Pascual-Torner y el equipo de Carlos López-Otín (Universidad de Oviedo) secuenciaron el genoma de T. dohrnii y lo compararon con el de su prima mortal, Turritopsis rubra.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B4E5C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295144"/>
            <a:ext cx="402336" cy="402336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29514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de reparación duplicados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95351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dohrnii tiene copias extra de genes de replicación y reparación del ADN. Se activan o se apagan según la fase del ciclo en la que esté el animal.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B4E5C"/>
          </a:solidFill>
          <a:ln/>
        </p:spPr>
      </p:sp>
      <p:sp>
        <p:nvSpPr>
          <p:cNvPr id="11" name="Shape 9"/>
          <p:cNvSpPr/>
          <p:nvPr/>
        </p:nvSpPr>
        <p:spPr>
          <a:xfrm>
            <a:off x="6510528" y="2295144"/>
            <a:ext cx="402336" cy="402336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0528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77456" y="229514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de telómeros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95351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en los genes que protegen los extremos de los cromosomas, uno de los relojes moleculares clásicos del envejecimiento.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B4E5C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" y="4489704"/>
            <a:ext cx="402336" cy="402336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48970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transposones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514807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Silencia mejor los elementos genéticos móviles que desestabilizan el genoma con la edad. En la fase de quiste esa maquinaria se dispara.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B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0528" y="4489704"/>
            <a:ext cx="402336" cy="402336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77456" y="4489704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Células madre y entorno redox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5148072"/>
            <a:ext cx="4718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población de células madre, en la comunicación entre células y en el manejo del estrés oxidativo.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CONCEPTUAL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Inmortal no quiere decir invencible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DCEDEC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Mitos que circulan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se muere nunca»: en el mar la comen otros animales, la matan infecciones y muere por daño físico como cualquier otro organismo.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05957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«Vive miles de años»: no hay ningún individuo con edad documentada. Lo observado ocurre en laboratorio y en escalas cortas.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160154"/>
            <a:ext cx="4526280" cy="60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«Va a curar el envejecimiento humano»: entre un hidrozoo de 4,5 mm y un mamífero hay una distancia evolutiva enorme.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914351"/>
            <a:ext cx="4526280" cy="42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00"/>
              </a:lnSpc>
              <a:buSzPct val="100000"/>
              <a:buChar char="●"/>
            </a:pPr>
            <a:r>
              <a:rPr lang="en-US" sz="105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«Todas las medusas lo hacen»: se confunde a menudo con T. nutricula y con otros hidrozoos.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430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sí se puede afirmar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6517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inmortalidad biológica: la probabilidad de morir no aumenta con la edad. No es invulnerabilidad.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458627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metazoo documentado que rejuvenece de forma repetida después de haberse reproducido.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4265493"/>
            <a:ext cx="452628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mecanismo es la transdiferenciación celular concentrada en la fase de quiste.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4870460"/>
            <a:ext cx="452628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buSzPct val="100000"/>
              <a:buChar char="●"/>
            </a:pPr>
            <a:r>
              <a:rPr lang="en-US" sz="11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interés real para la ciencia está en las rutas de reparación del ADN y el control del genoma, no en una pastilla.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DOCUMENTAL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fuentes que se evaluaron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artículo fundacional, un artículo genómico reciente, un museo de historia natural y una herramienta de inteligencia artificial. La última se incluyó a propósito para mostrar sus límites.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23160"/>
            <a:ext cx="457200" cy="45720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PNAS (2022)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21024"/>
            <a:ext cx="19293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Pascual-Torner et al. Genómica comparada de un cnidario mortal y uno inmortal. Revisión de pares y DOI.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11" name="Shape 9"/>
          <p:cNvSpPr/>
          <p:nvPr/>
        </p:nvSpPr>
        <p:spPr>
          <a:xfrm>
            <a:off x="3721608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216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017520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Bulletin (1996)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3858768"/>
            <a:ext cx="19293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Piraino et al. El trabajo que describió y nombró por primera vez la reversión del ciclo.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0528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10528" y="3017520"/>
            <a:ext cx="1929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History Museum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858768"/>
            <a:ext cx="1929384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divulgativa del museo de Londres. Buena para contexto histórico y datos de la especie.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840" y="21488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DCEDE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9448" y="2423160"/>
            <a:ext cx="457200" cy="45720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944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99448" y="3017520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(IA)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3621024"/>
            <a:ext cx="192938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consultado en la fase exploratoria. Se evalúa como fuente, no como autor.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· Pascual-Torner et al. (2022), PNAS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«Comparative genomics of mortal and immortal cnidarians unveils novel keys behind rejuvenation» · Artículo de revista científica en línea con DOI · https://doi.org/10.1073/pnas.2118763119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43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principal. Citable directamente.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 Es el estudio genómico de referencia y el más reciente sobre el mecanismo molecular.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directamente a la sub-pregunta sobre qué explica el fenómeno a nivel genético.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la Universidad de Oviedo dirigido por Carlos López-Otín; PNAS, con revisión de pares.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dos especies hermanas, una mortal y otra inmortal, y publica los ensamblados de genoma.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básica. Los propios autores advierten contra la lectura de «elixir de juventud».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· Piraino et al. (1996), The Biological Bulletin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«Reversing life cycle: medusae transforming into polyps and cell transdifferentiation in Turritopsis nutricula» · Artículo de revista científica con DOI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43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fundacional. Citable, con nota sobre la especie.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1996. Antigua, pero es la descripción original del fenómeno: en ciencia, el trabajo fundacional no caduca.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mecanismo celular, que es el núcleo de la segunda sub-pregunta del trabajo.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Piraino y Ferdinando Boero, referentes en cnidarios; revista de la Marine Biological Laboratory.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experimental documentada. Ojo: usa el nombre T. nutricula, antes de que se separara T. dohrnii.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un hallazgo original a la comunidad científica. Sin intención divulgativa ni comercial.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 · Natural History Museum (s. f.)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«Immortal jellyfish: the secret to cheating death» · Página divulgativa del Natural History Museum de Londres · Sitio web de actualización constante · Consultada el 11 de septiembre de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43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apoyo divulgativo. No sustituye al artículo científico.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visible de publicación; se actualiza de forma continua, por eso se anota la fecha de consulta.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el contexto histórico del descubrimiento y datos concretos de la especie, a un nivel escolar ideal.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Museo de historia natural con equipo científico propio; el texto está revisado internamente.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coinciden con la literatura revisada por pares, pero el artículo no enlaza sus fuentes una por una.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Divulgación científica de una institución pública. Sin interés comercial, aunque el título juega con «cheating death».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CRAAP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 · ChatGPT, OpenAI (2026)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 grande consultado en la fase exploratoria · Se cita como herramienta, nunca como autor · https://chat.openai.com/chat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869680" y="14630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043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1.5/5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orientación inicial. No respalda ningún dato.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478024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3682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350008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utilizada se indica en la referencia, pero no se sabe con qué datos ni hasta qué fecha fue entrenada.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3227832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181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099816"/>
            <a:ext cx="5715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a ordenar ideas y a encontrar por dónde empezar a buscar, no a sostener una afirmación.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313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3977640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867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849624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IA no es humana y nunca puede considerarse autora del contenido que entrega.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8114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4727448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61872" y="46177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4599432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dar información falsa o inventada, incluidas referencias que no existen. Todo debe contrastarse.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3095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DCEDEC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5477256"/>
            <a:ext cx="365760" cy="365760"/>
          </a:xfrm>
          <a:prstGeom prst="ellipse">
            <a:avLst/>
          </a:prstGeom>
          <a:solidFill>
            <a:srgbClr val="8AD9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6384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53675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23160" y="5349240"/>
            <a:ext cx="8915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comercial. Además existe riesgo de plagio, porque puede generar redacciones muy similares a otras (UCM, 2023).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 LA EVALUACIÓN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fuentes, criterio por criterio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4E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1214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Pascual-Torner et al. (2022), PNAS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12140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852928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4E5C">
              <a:alpha val="6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287121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Piraino et al. (1996), Biological Bulletin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0" y="2871216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602736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4E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62102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Natural History Museum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08076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3621024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4352544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B4E5C">
              <a:alpha val="6500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8680" y="437083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FF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ChatGPT (OpenAI, 2026)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54964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437083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9AD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final: F1 y F2 sostienen todas las afirmaciones científicas; F3 aporta contexto histórico y datos de la especie; F4 se usó solo para orientarse al inicio y se declara aquí por transparencia, sin respaldar ningún dato de la exposición.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ideas para llevarse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F7FA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73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Inmortal biológicamente, no invulnerable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574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probabilidad de morir no crece con la edad, pero la depredación, la infección y el daño físico la matan igual que a cualquier otro animal.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0B4E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mecanismo tiene nombre: transdiferenciación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8152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ya especializadas cambian de identidad de forma masiva durante la fase de quiste. Piraino y su equipo lo describieron en 1996.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39896"/>
            <a:ext cx="548640" cy="548640"/>
          </a:xfrm>
          <a:prstGeom prst="ellipse">
            <a:avLst/>
          </a:prstGeom>
          <a:solidFill>
            <a:srgbClr val="0B4E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39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216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genómica de 2022 explicó el cómo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0565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de reparación del ADN duplicados, mejor mantenimiento de telómeros y un control más estricto de los transposones frente a su prima mortal.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548640" cy="548640"/>
          </a:xfrm>
          <a:prstGeom prst="ellipse">
            <a:avLst/>
          </a:prstGeom>
          <a:solidFill>
            <a:srgbClr val="0B4E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64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7457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FF8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titular viaja más rápido que el dato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12978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medusa que vive para siempre» es falso y aparece por todas partes. Aplicar CRAAP, y sobre todo el criterio de propósito, es lo que separa una cosa de la otra.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9A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APA — COLEGIO SANTA MARÍA MARIANISTAS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Blakeslee, S. (2004). The CRAAP test.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LOEX Quarterly, 31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6-7. https://commons.emich.edu/loexquarterly/vol31/iss3/4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History Museum. (s. f.).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Immortal jellyfish: the secret to cheating death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Recuperado el 11 de septiembre de 2026, de https://www.nhm.ac.uk/discover/immortal-jellyfish-secret-to-cheating-death.html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(2026).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(versión de septiembre de 2026) [modelo de lenguaje grande]. https://chat.openai.com/chat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605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Pascual-Torner, M., Carrero, D., Pérez-Silva, J. G., Álvarez-Puente, D., Roiz-Valle, D., Bretones, G., Rodríguez, D., Maeso, D., Mateo-González, E., Español, Y., Mariño, G., Acuña, J. L., Quesada, V. y López-Otín, C. (2022). Comparative genomics of mortal and immortal cnidarians unveils novel keys behind rejuvenation.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PNAS, 119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(36), e2118763119. https://doi.org/10.1073/pnas.2118763119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1600"/>
              </a:lnSpc>
              <a:buSzPct val="100000"/>
              <a:buChar char="​"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Piraino, S., Boero, F., Aeschbach, B. y Schmid, V. (1996). Reversing life cycle: medusae transforming into polyps and cell transdifferentiation in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nutricula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Biological Bulletin, 190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302-312. https://doi.org/10.2307/1543022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ordenadas alfabéticamente, con sangría francesa, según la guía de citas del Colegio Santa María Marianistas. La herramienta de IA se cita con el formato propio de la guía y se declara como consulta, no como autoría.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Turritopsis dohrnii · Método CRAAP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inmortalidad biológica de Turritopsis dohrnii</dc:title>
  <dc:subject>PptxGenJS Presentation</dc:subject>
  <dc:creator>Colegio Santa María Marianistas</dc:creator>
  <cp:lastModifiedBy>Colegio Santa María Marianistas</cp:lastModifiedBy>
  <cp:revision>1</cp:revision>
  <dcterms:created xsi:type="dcterms:W3CDTF">2026-09-11T16:54:08Z</dcterms:created>
  <dcterms:modified xsi:type="dcterms:W3CDTF">2026-09-11T16:54:08Z</dcterms:modified>
</cp:coreProperties>
</file>