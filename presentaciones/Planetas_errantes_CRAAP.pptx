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idea contraintuitiva: la imagen escolar de 'planeta = cuerpo que gira alrededor de una estrella' se rompe con estos objetos.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 que la tercera sub-pregunta es la que más se beneficia del CRAAP: las cifras varían muchísimo entre fuentes.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Insistir: el CRAAP no descarta fuentes, las clasifica. Wikipedia puede ser un buen punto de partida y una mala cita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choque con la definición oficial de la UAI es un gancho útil: la ciencia también discute palabras, no solo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Recalcar la irrepetibilidad: eso explica por qué las cifras cambian tanto de un estudio a otro.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la estrategia correcta: usar Wikipedia para localizar las referencias del pie de página y luego ir a esas fuentes originales.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914400"/>
            <a:ext cx="1737360" cy="17373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3" name="Shape 1"/>
          <p:cNvSpPr/>
          <p:nvPr/>
        </p:nvSpPr>
        <p:spPr>
          <a:xfrm>
            <a:off x="11521440" y="2834640"/>
            <a:ext cx="502920" cy="502920"/>
          </a:xfrm>
          <a:prstGeom prst="ellipse">
            <a:avLst/>
          </a:prstGeom>
          <a:solidFill>
            <a:srgbClr val="F3C053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01200" y="3566160"/>
            <a:ext cx="822960" cy="822960"/>
          </a:xfrm>
          <a:prstGeom prst="ellipse">
            <a:avLst/>
          </a:prstGeom>
          <a:solidFill>
            <a:srgbClr val="8AA6F2">
              <a:alpha val="6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937760"/>
            <a:ext cx="320040" cy="320040"/>
          </a:xfrm>
          <a:prstGeom prst="ellipse">
            <a:avLst/>
          </a:prstGeom>
          <a:solidFill>
            <a:srgbClr val="F3C053">
              <a:alpha val="6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CIENTÍFICA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Planetas errantes</a:t>
            </a:r>
            <a:endParaRPr lang="en-US" sz="5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657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Mundos sin sol: qué son, cómo se detectan y por qué podrían ser mayoría en la galaxia.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394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fuentes con el método CRAAP  ·  Referencias en formato APA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Santa María Marianistas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pregunta que guía el trabajo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i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¿Puede existir un planeta que no orbite ninguna estrella y aun así siga siendo un planeta?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casi toda la historia de la astronomía, «planeta» y «estrella anfitriona» fueron inseparables. Desde 2011, las campañas de microlente gravitacional detectan cuerpos de masa planetaria que cruzan el campo de visión sin ninguna estrella cerca. Eso obliga a discutir dos cosas a la vez: qué hay ahí afuera y cómo definimos lo que encontramos.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749040" cy="4023360"/>
          </a:xfrm>
          <a:prstGeom prst="roundRect">
            <a:avLst>
              <a:gd name="adj" fmla="val 2927"/>
            </a:avLst>
          </a:prstGeom>
          <a:solidFill>
            <a:srgbClr val="1822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92440" y="18745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Sub-preguntas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092440" y="2331720"/>
            <a:ext cx="329184" cy="329184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9244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2276856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detecta algo que no emite luz propia ni refleja la de un sol?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92440" y="3291840"/>
            <a:ext cx="329184" cy="329184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92440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549640" y="3236976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salen: fueron expulsados o nacieron solos?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2440" y="4251960"/>
            <a:ext cx="329184" cy="329184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244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549640" y="4197096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¿Cuántos hay realmente y qué tan fiables son esas cifras?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método CRAAP: cinco filtros antes de citar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 por Sarah Blakeslee y el equipo de la Meriam Library (California State University, Chico). Cada fuente se somete a los mismos cinco criterios y recibe una valoración, no un simple «sirve / no sirve».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956816" cy="3931920"/>
          </a:xfrm>
          <a:prstGeom prst="roundRect">
            <a:avLst>
              <a:gd name="adj" fmla="val 4673"/>
            </a:avLst>
          </a:prstGeom>
          <a:solidFill>
            <a:srgbClr val="E4E8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423160"/>
            <a:ext cx="457200" cy="457200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17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621024"/>
            <a:ext cx="1371600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Vigencia. ¿Cuándo se publicó? ¿Se ha actualizado? En un campo que se mueve tan rápido, una cifra de 2011 puede estar corregida hoy.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71216" y="2148840"/>
            <a:ext cx="1956816" cy="3931920"/>
          </a:xfrm>
          <a:prstGeom prst="roundRect">
            <a:avLst>
              <a:gd name="adj" fmla="val 4673"/>
            </a:avLst>
          </a:prstGeom>
          <a:solidFill>
            <a:srgbClr val="E4E8F6"/>
          </a:solidFill>
          <a:ln/>
        </p:spPr>
      </p:sp>
      <p:sp>
        <p:nvSpPr>
          <p:cNvPr id="11" name="Shape 9"/>
          <p:cNvSpPr/>
          <p:nvPr/>
        </p:nvSpPr>
        <p:spPr>
          <a:xfrm>
            <a:off x="3163824" y="2423160"/>
            <a:ext cx="457200" cy="45720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63824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163824" y="3017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63824" y="3621024"/>
            <a:ext cx="1371600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Pertinencia. ¿Responde a mi pregunta o solo la roza? ¿El nivel es el adecuado para un trabajo escolar?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148840"/>
            <a:ext cx="1956816" cy="3931920"/>
          </a:xfrm>
          <a:prstGeom prst="roundRect">
            <a:avLst>
              <a:gd name="adj" fmla="val 4673"/>
            </a:avLst>
          </a:prstGeom>
          <a:solidFill>
            <a:srgbClr val="E4E8F6"/>
          </a:solidFill>
          <a:ln/>
        </p:spPr>
      </p:sp>
      <p:sp>
        <p:nvSpPr>
          <p:cNvPr id="16" name="Shape 14"/>
          <p:cNvSpPr/>
          <p:nvPr/>
        </p:nvSpPr>
        <p:spPr>
          <a:xfrm>
            <a:off x="5394960" y="2423160"/>
            <a:ext cx="457200" cy="45720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949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017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3621024"/>
            <a:ext cx="1371600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Autoridad. ¿Quién firma? ¿Qué institución respalda? ¿Pasó por revisión de pares?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33488" y="2148840"/>
            <a:ext cx="1956816" cy="3931920"/>
          </a:xfrm>
          <a:prstGeom prst="roundRect">
            <a:avLst>
              <a:gd name="adj" fmla="val 4673"/>
            </a:avLst>
          </a:prstGeom>
          <a:solidFill>
            <a:srgbClr val="E4E8F6"/>
          </a:solidFill>
          <a:ln/>
        </p:spPr>
      </p:sp>
      <p:sp>
        <p:nvSpPr>
          <p:cNvPr id="21" name="Shape 19"/>
          <p:cNvSpPr/>
          <p:nvPr/>
        </p:nvSpPr>
        <p:spPr>
          <a:xfrm>
            <a:off x="7626096" y="2423160"/>
            <a:ext cx="457200" cy="45720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626096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26096" y="3017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626096" y="3621024"/>
            <a:ext cx="1371600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Exactitud. ¿Aporta datos verificables, citas y márgenes de error? ¿Se puede contrastar con otra fuente?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64624" y="2148840"/>
            <a:ext cx="1956816" cy="3931920"/>
          </a:xfrm>
          <a:prstGeom prst="roundRect">
            <a:avLst>
              <a:gd name="adj" fmla="val 4673"/>
            </a:avLst>
          </a:prstGeom>
          <a:solidFill>
            <a:srgbClr val="E4E8F6"/>
          </a:solidFill>
          <a:ln/>
        </p:spPr>
      </p:sp>
      <p:sp>
        <p:nvSpPr>
          <p:cNvPr id="26" name="Shape 24"/>
          <p:cNvSpPr/>
          <p:nvPr/>
        </p:nvSpPr>
        <p:spPr>
          <a:xfrm>
            <a:off x="9857232" y="2423160"/>
            <a:ext cx="457200" cy="45720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57232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857232" y="3017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57232" y="3621024"/>
            <a:ext cx="1371600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Propósito. ¿Informa, enseña, vende o busca clics? Un titular sensacionalista delata la intención.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(y qué no es) un planeta errante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E4E8F6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920240"/>
            <a:ext cx="457200" cy="45720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sí 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651760"/>
            <a:ext cx="4526280" cy="60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cuerpo de masa planetaria que se desplaza libre por la galaxia, sin estar ligado gravitacionalmente a ninguna estrella.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405957"/>
            <a:ext cx="4526280" cy="42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se le llama planeta interestelar, planeta huérfano o, en inglés, free-floating planet.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975811"/>
            <a:ext cx="4526280" cy="60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conservar calor interno por decaimiento radiactivo y por la contracción gravitatoria de su formación.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30008"/>
            <a:ext cx="4526280" cy="60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detecta por microlente gravitacional o, si es joven y caliente, en el infrarrojo directamente.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64592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0A102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1920240"/>
            <a:ext cx="457200" cy="457200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no es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2651760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enana marrón: esas superan las ~13 masas de Júpiter y llegan a fusionar deuterio. La frontera sigue en debate.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458627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cuerpo necesariamente frío y muerto: algunos jóvenes todavía acretan gas y polvo de su entorno.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4265493"/>
            <a:ext cx="4526280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objeto raro ni excepcional: los conteos actuales sugieren lo contrario.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4870460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«planeta» según la definición de la UAI de 2006, que exige orbitar el Sol. Ahí está el conflicto.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NÚMEROS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Cifras que conviene mirar con lupa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proceden de fuentes distintas y no todas tienen el mismo peso. Justamente por eso se evalúan después con CRAAP.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44240" cy="2834640"/>
          </a:xfrm>
          <a:prstGeom prst="roundRect">
            <a:avLst>
              <a:gd name="adj" fmla="val 3226"/>
            </a:avLst>
          </a:prstGeom>
          <a:solidFill>
            <a:srgbClr val="1822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331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70–170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29000"/>
            <a:ext cx="2987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de masa joviana identificados en la asociación estelar de Upper Scorpius, el mayor grupo detectado de una sola vez (Miret-Roig et al., 2022).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8640" y="2103120"/>
            <a:ext cx="3444240" cy="2834640"/>
          </a:xfrm>
          <a:prstGeom prst="roundRect">
            <a:avLst>
              <a:gd name="adj" fmla="val 3226"/>
            </a:avLst>
          </a:prstGeom>
          <a:solidFill>
            <a:srgbClr val="1822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7240" y="2331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: 1</a:t>
            </a:r>
            <a:endParaRPr lang="en-US" sz="5200" dirty="0"/>
          </a:p>
        </p:txBody>
      </p:sp>
      <p:sp>
        <p:nvSpPr>
          <p:cNvPr id="10" name="Text 8"/>
          <p:cNvSpPr txBox="1"/>
          <p:nvPr/>
        </p:nvSpPr>
        <p:spPr>
          <a:xfrm>
            <a:off x="4587240" y="3429000"/>
            <a:ext cx="2987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Proporción estimada por la NASA entre mundos errantes y mundos ligados a una estrella: serían, con diferencia, el tipo más común de la galaxia.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77200" y="2103120"/>
            <a:ext cx="3444240" cy="2834640"/>
          </a:xfrm>
          <a:prstGeom prst="roundRect">
            <a:avLst>
              <a:gd name="adj" fmla="val 3226"/>
            </a:avLst>
          </a:prstGeom>
          <a:solidFill>
            <a:srgbClr val="1822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05800" y="2331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~400</a:t>
            </a:r>
            <a:endParaRPr lang="en-US" sz="5200" dirty="0"/>
          </a:p>
        </p:txBody>
      </p:sp>
      <p:sp>
        <p:nvSpPr>
          <p:cNvPr id="13" name="Text 11"/>
          <p:cNvSpPr txBox="1"/>
          <p:nvPr/>
        </p:nvSpPr>
        <p:spPr>
          <a:xfrm>
            <a:off x="8305800" y="3429000"/>
            <a:ext cx="2987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de masa terrestre que el telescopio espacial Nancy Grace Roman podría encontrar, frente a los ~50 que estimaba el cálculo anterior.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 con el salto de 50 a 400: no es que aparecieran planetas nuevos, cambió el modelo estadístico. Es exactamente el tipo de dato que exige revisar la vigencia (Currency) de la fuente.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DETECCIÓN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Microlente gravitacional, paso a paso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técnica capaz de detectar un cuerpo oscuro, frío y sin estrella que lo delate.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528316" cy="3108960"/>
          </a:xfrm>
          <a:prstGeom prst="roundRect">
            <a:avLst>
              <a:gd name="adj" fmla="val 3617"/>
            </a:avLst>
          </a:prstGeom>
          <a:solidFill>
            <a:srgbClr val="E4E8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59152"/>
            <a:ext cx="475488" cy="475488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999232"/>
            <a:ext cx="2016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Alineación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529584"/>
            <a:ext cx="20162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objeto masivo pasa casi exactamente por delante de una estrella lejana del bulbo galáctico, vista desde la Tierra.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4428" y="2103120"/>
            <a:ext cx="2528316" cy="3108960"/>
          </a:xfrm>
          <a:prstGeom prst="roundRect">
            <a:avLst>
              <a:gd name="adj" fmla="val 3617"/>
            </a:avLst>
          </a:prstGeom>
          <a:solidFill>
            <a:srgbClr val="E4E8F6"/>
          </a:solidFill>
          <a:ln/>
        </p:spPr>
      </p:sp>
      <p:sp>
        <p:nvSpPr>
          <p:cNvPr id="11" name="Shape 9"/>
          <p:cNvSpPr/>
          <p:nvPr/>
        </p:nvSpPr>
        <p:spPr>
          <a:xfrm>
            <a:off x="3680460" y="2359152"/>
            <a:ext cx="475488" cy="475488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80460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80460" y="2999232"/>
            <a:ext cx="2016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Curvatura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80460" y="3529584"/>
            <a:ext cx="20162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gravedad deforma el espacio-tiempo y desvía la luz de la estrella de fondo, actuando como una lente natural.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08776" y="2103120"/>
            <a:ext cx="2528316" cy="3108960"/>
          </a:xfrm>
          <a:prstGeom prst="roundRect">
            <a:avLst>
              <a:gd name="adj" fmla="val 3617"/>
            </a:avLst>
          </a:prstGeom>
          <a:solidFill>
            <a:srgbClr val="E4E8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464808" y="2359152"/>
            <a:ext cx="475488" cy="475488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4808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2999232"/>
            <a:ext cx="2016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Destello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3529584"/>
            <a:ext cx="20162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estrella de fondo parece brillar más durante horas o días. Cuanto menor es la masa, más breve es el evento.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93124" y="2103120"/>
            <a:ext cx="2528316" cy="3108960"/>
          </a:xfrm>
          <a:prstGeom prst="roundRect">
            <a:avLst>
              <a:gd name="adj" fmla="val 3617"/>
            </a:avLst>
          </a:prstGeom>
          <a:solidFill>
            <a:srgbClr val="E4E8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249156" y="2359152"/>
            <a:ext cx="475488" cy="475488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49156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49156" y="2999232"/>
            <a:ext cx="2016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Interpretación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249156" y="3529584"/>
            <a:ext cx="20162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aparece ninguna señal de estrella anfitriona, el objeto es candidato a planeta errante. El evento no se repite jamás.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clave: cada microlente es irrepetible, así que el resultado no se puede verificar observando otra vez. Toda la estadística depende de modelos.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hipótesis sobre cómo quedan a la deriva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E4E8F6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920240"/>
            <a:ext cx="457200" cy="45720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Expulsión planetaria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651760"/>
            <a:ext cx="4526280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Nacen en un disco protoplanetario, como cualquier planeta normal.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256727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Interacciones gravitatorias con planetas gigantes hermanos o con estrellas que pasan cerca los aceleran.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063594"/>
            <a:ext cx="4526280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Superan la velocidad de escape del sistema y salen disparados al medio interestelar.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668561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sobre todo objetos pequeños y abundantes: por eso importa el censo de masas terrestres de Roman.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164592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0A102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1920240"/>
            <a:ext cx="457200" cy="457200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Colapso directo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2651760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forman como una estrella en miniatura: una nube de gas colapsa sobre sí misma, pero sin masa suficiente para encender fusión.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458627"/>
            <a:ext cx="4526280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tuvieron estrella anfitriona ni la perdieron.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4063594"/>
            <a:ext cx="4526280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objetos más masivos, cercanos a la frontera con las enanas marrones.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4668561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Miret-Roig y su equipo concluyen que ninguna de las dos explica sola lo observado: probablemente operan ambas.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IMPLICANCIAS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esto importa más allá de la curiosidad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03520" cy="2103120"/>
          </a:xfrm>
          <a:prstGeom prst="roundRect">
            <a:avLst>
              <a:gd name="adj" fmla="val 4348"/>
            </a:avLst>
          </a:prstGeom>
          <a:solidFill>
            <a:srgbClr val="182246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1929384"/>
            <a:ext cx="402336" cy="402336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1929384"/>
            <a:ext cx="4151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Cambia el censo de la galaxia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587752"/>
            <a:ext cx="4718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los errantes superan en número a los mundos con sol, nuestro modelo de cuántos planetas hay y cómo se reparten está incompleto. La Vía Láctea sería mayoritariamente un lugar de mundos a la deriva.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03520" cy="2103120"/>
          </a:xfrm>
          <a:prstGeom prst="roundRect">
            <a:avLst>
              <a:gd name="adj" fmla="val 4348"/>
            </a:avLst>
          </a:prstGeom>
          <a:solidFill>
            <a:srgbClr val="182246"/>
          </a:solidFill>
          <a:ln/>
        </p:spPr>
      </p:sp>
      <p:sp>
        <p:nvSpPr>
          <p:cNvPr id="10" name="Shape 8"/>
          <p:cNvSpPr/>
          <p:nvPr/>
        </p:nvSpPr>
        <p:spPr>
          <a:xfrm>
            <a:off x="6510528" y="1929384"/>
            <a:ext cx="402336" cy="402336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1052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1929384"/>
            <a:ext cx="4151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 a redefinir «planeta»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10528" y="2587752"/>
            <a:ext cx="4718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definición de la UAI (2006) exige orbitar el Sol. Aplicada al pie de la letra, estos objetos no son planetas aunque tengan masa, composición y geología planetarias. El debate sigue abierto.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5303520" cy="2103120"/>
          </a:xfrm>
          <a:prstGeom prst="roundRect">
            <a:avLst>
              <a:gd name="adj" fmla="val 4348"/>
            </a:avLst>
          </a:prstGeom>
          <a:solidFill>
            <a:srgbClr val="182246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4306824"/>
            <a:ext cx="402336" cy="402336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" y="4306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99616" y="4306824"/>
            <a:ext cx="4151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Habitabilidad sin estrella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965192"/>
            <a:ext cx="4718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mundo errante con océano bajo una capa gruesa de hielo podría mantener agua líquida con calor radiogénico interno, sin depender de luz solar. Es especulativo, pero no absurdo.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4069080"/>
            <a:ext cx="5303520" cy="2103120"/>
          </a:xfrm>
          <a:prstGeom prst="roundRect">
            <a:avLst>
              <a:gd name="adj" fmla="val 4348"/>
            </a:avLst>
          </a:prstGeom>
          <a:solidFill>
            <a:srgbClr val="182246"/>
          </a:solidFill>
          <a:ln/>
        </p:spPr>
      </p:sp>
      <p:sp>
        <p:nvSpPr>
          <p:cNvPr id="20" name="Shape 18"/>
          <p:cNvSpPr/>
          <p:nvPr/>
        </p:nvSpPr>
        <p:spPr>
          <a:xfrm>
            <a:off x="6510528" y="4306824"/>
            <a:ext cx="402336" cy="402336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4306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306824"/>
            <a:ext cx="4151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Pone a prueba instrumentos nuevos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510528" y="4965192"/>
            <a:ext cx="4718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Roman Space Telescope hará el sondeo de microlente más sensible jamás realizado sobre el bulbo galáctico. En pocos años la estadística actual quedará desactualizada.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DOCUMENTAL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cuatro fuentes que se evaluaron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eligieron a propósito de distinta naturaleza y calidad: un artículo con revisión de pares, dos páginas institucionales y una enciclopedia colaborativa. La comparación es parte del ejercicio.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14600" cy="3931920"/>
          </a:xfrm>
          <a:prstGeom prst="roundRect">
            <a:avLst>
              <a:gd name="adj" fmla="val 3636"/>
            </a:avLst>
          </a:prstGeom>
          <a:solidFill>
            <a:srgbClr val="E4E8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423160"/>
            <a:ext cx="457200" cy="457200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17520"/>
            <a:ext cx="1929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Astronomy (2022)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858768"/>
            <a:ext cx="192938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Miret-Roig et al. Artículo de investigación con revisión de pares y DOI permanente.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29000" y="2148840"/>
            <a:ext cx="2514600" cy="3931920"/>
          </a:xfrm>
          <a:prstGeom prst="roundRect">
            <a:avLst>
              <a:gd name="adj" fmla="val 3636"/>
            </a:avLst>
          </a:prstGeom>
          <a:solidFill>
            <a:srgbClr val="E4E8F6"/>
          </a:solidFill>
          <a:ln/>
        </p:spPr>
      </p:sp>
      <p:sp>
        <p:nvSpPr>
          <p:cNvPr id="11" name="Shape 9"/>
          <p:cNvSpPr/>
          <p:nvPr/>
        </p:nvSpPr>
        <p:spPr>
          <a:xfrm>
            <a:off x="3721608" y="2423160"/>
            <a:ext cx="457200" cy="45720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2160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721608" y="3017520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NASA Science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21608" y="3621024"/>
            <a:ext cx="1929384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institucional sobre planetas errantes, vinculada a la misión Roman. Divulgación oficial.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148840"/>
            <a:ext cx="2514600" cy="3931920"/>
          </a:xfrm>
          <a:prstGeom prst="roundRect">
            <a:avLst>
              <a:gd name="adj" fmla="val 3636"/>
            </a:avLst>
          </a:prstGeom>
          <a:solidFill>
            <a:srgbClr val="E4E8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10528" y="2423160"/>
            <a:ext cx="457200" cy="45720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017520"/>
            <a:ext cx="1929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IPAC – Caltech (2025)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10528" y="3858768"/>
            <a:ext cx="192938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 prensa científica que difunde un estudio sobre el rendimiento esperado de Roman.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06840" y="2148840"/>
            <a:ext cx="2514600" cy="3931920"/>
          </a:xfrm>
          <a:prstGeom prst="roundRect">
            <a:avLst>
              <a:gd name="adj" fmla="val 3636"/>
            </a:avLst>
          </a:prstGeom>
          <a:solidFill>
            <a:srgbClr val="E4E8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299448" y="2423160"/>
            <a:ext cx="457200" cy="45720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9944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99448" y="3017520"/>
            <a:ext cx="1929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Wikipedia en español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299448" y="3858768"/>
            <a:ext cx="192938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Artículo enciclopédico colaborativo, sin autoría identificable ni revisión formal.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CRAAP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· Miret-Roig et al. (2022), Nature Astronomy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 rich population of free-floating planets in the Upper Scorpius young stellar association» · Artículo de revista científica en línea con DOI · https://doi.org/10.1038/s41550-021-01513-x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869680" y="1463040"/>
            <a:ext cx="2651760" cy="1965960"/>
          </a:xfrm>
          <a:prstGeom prst="roundRect">
            <a:avLst>
              <a:gd name="adj" fmla="val 4651"/>
            </a:avLst>
          </a:prstGeom>
          <a:solidFill>
            <a:srgbClr val="0A1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principal. Citable directamente.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" y="2478024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368296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2350008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2022. Sigue siendo el mayor catálogo publicado de errantes en una sola asociación estelar.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81528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14" name="Shape 12"/>
          <p:cNvSpPr/>
          <p:nvPr/>
        </p:nvSpPr>
        <p:spPr>
          <a:xfrm>
            <a:off x="786384" y="3227832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3118104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3099816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de lleno a dos sub-preguntas: cuántos hay y de dónde salen.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3133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84" y="3977640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867912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3849624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autores de universidades europeas y japonesas; revista con revisión de pares (Nature Portfolio).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58114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" y="4727448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461772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4599432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rango (70–170), no cifra cerrada; declara incertidumbres, método y datos de 20 años de observación.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3095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29" name="Shape 27"/>
          <p:cNvSpPr/>
          <p:nvPr/>
        </p:nvSpPr>
        <p:spPr>
          <a:xfrm>
            <a:off x="786384" y="5477256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86384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61872" y="5367528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5349240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 resultados originales a la comunidad científica. Sin interés comercial ni promocional.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CRAAP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 · NASA, «Rogue planets» (s. f.)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del sitio NASA Science, sección Nancy Grace Roman Space Telescope · Sitio web de actualización constante · Consultada el 11 de septiembre de 2026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869680" y="1463040"/>
            <a:ext cx="2651760" cy="1965960"/>
          </a:xfrm>
          <a:prstGeom prst="roundRect">
            <a:avLst>
              <a:gd name="adj" fmla="val 4651"/>
            </a:avLst>
          </a:prstGeom>
          <a:solidFill>
            <a:srgbClr val="0A1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útil para contexto. Verificar cifras en el estudio original.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" y="2478024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368296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2350008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fecha de publicación visible; se actualiza de forma continua. Por eso se anota la fecha de consulta.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81528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14" name="Shape 12"/>
          <p:cNvSpPr/>
          <p:nvPr/>
        </p:nvSpPr>
        <p:spPr>
          <a:xfrm>
            <a:off x="786384" y="3227832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3118104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3099816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el concepto y la técnica de microlente en un nivel ideal para exposición escolar.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3133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84" y="3977640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867912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3849624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 espacial estadounidense, responsable directa de la misión que producirá los datos.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58114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" y="4727448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461772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4599432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proporción de 6 a 1 se presenta sin el estudio de respaldo enlazado en la propia página.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3095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29" name="Shape 27"/>
          <p:cNvSpPr/>
          <p:nvPr/>
        </p:nvSpPr>
        <p:spPr>
          <a:xfrm>
            <a:off x="786384" y="5477256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86384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61872" y="5367528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5349240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Divulgación y difusión de una misión propia: hay interés institucional en destacar su relevancia.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CRAAP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F3 · Roman Space Telescope Project / IPAC (2025)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«New study reveals NASA's Roman could find 400 Earth-mass rogue planets» · Nota de prensa científica de IPAC, Caltech · Sitio web institucional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869680" y="1463040"/>
            <a:ext cx="2651760" cy="1965960"/>
          </a:xfrm>
          <a:prstGeom prst="roundRect">
            <a:avLst>
              <a:gd name="adj" fmla="val 4651"/>
            </a:avLst>
          </a:prstGeom>
          <a:solidFill>
            <a:srgbClr val="0A1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3.5/5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Válida como dato de apoyo, no como fuente primaria.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" y="2478024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368296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2350008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 Es la estimación más reciente disponible y corrige de forma explícita la cifra anterior de ~50.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81528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14" name="Shape 12"/>
          <p:cNvSpPr/>
          <p:nvPr/>
        </p:nvSpPr>
        <p:spPr>
          <a:xfrm>
            <a:off x="786384" y="3227832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3118104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3099816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la proyección a futuro, pero no sustituye a un dato observacional ya confirmado.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3133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84" y="3977640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867912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3849624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procesamiento y análisis de datos de Caltech, socio científico de la NASA.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58114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" y="4727448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461772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4599432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resumen divulgativo: no publica el modelo estadístico completo ni las barras de error del original.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3095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29" name="Shape 27"/>
          <p:cNvSpPr/>
          <p:nvPr/>
        </p:nvSpPr>
        <p:spPr>
          <a:xfrm>
            <a:off x="786384" y="5477256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86384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61872" y="5367528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5349240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 el valor científico de una misión propia. Hay que leerla como comunicación institucional.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CRAAP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 · «Planeta interestelar», Wikipedia (s. f.)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Artículo enciclopédico colaborativo en español · Sitio web de actualización constante · Consultado el 11 de septiembre de 2026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869680" y="1463040"/>
            <a:ext cx="2651760" cy="1965960"/>
          </a:xfrm>
          <a:prstGeom prst="roundRect">
            <a:avLst>
              <a:gd name="adj" fmla="val 4651"/>
            </a:avLst>
          </a:prstGeom>
          <a:solidFill>
            <a:srgbClr val="0A1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partida, nunca cita final.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" y="2478024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368296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2350008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fecha fija de publicación y con historial de ediciones abierto: el contenido de hoy puede no ser el de mañana.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81528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14" name="Shape 12"/>
          <p:cNvSpPr/>
          <p:nvPr/>
        </p:nvSpPr>
        <p:spPr>
          <a:xfrm>
            <a:off x="786384" y="3227832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3118104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3099816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 panorama general y vocabulario útil para orientarse antes de leer literatura especializada.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3133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84" y="3977640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867912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3849624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autoría identificable ni revisión de pares. Cualquier persona puede editar el artículo.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58114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" y="4727448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461772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4599432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las afirmaciones no tiene referencia, y la versión en español va por detrás de la inglesa.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3095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4E8F6"/>
          </a:solidFill>
          <a:ln/>
        </p:spPr>
      </p:sp>
      <p:sp>
        <p:nvSpPr>
          <p:cNvPr id="29" name="Shape 27"/>
          <p:cNvSpPr/>
          <p:nvPr/>
        </p:nvSpPr>
        <p:spPr>
          <a:xfrm>
            <a:off x="786384" y="5477256"/>
            <a:ext cx="365760" cy="365760"/>
          </a:xfrm>
          <a:prstGeom prst="ellipse">
            <a:avLst/>
          </a:prstGeom>
          <a:solidFill>
            <a:srgbClr val="8AA6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86384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61872" y="5367528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5349240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Divulgación abierta sin fines de lucro; el riesgo no es el interés, es la falta de control editorial.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DE LA EVALUACIÓN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cuatro fuentes, criterio por criterio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6002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80760" y="16002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6002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549640" y="16002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784080" y="16002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10312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8224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1214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· Miret-Roig et al. (2022), Nature Astronomy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12140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080760" y="212140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12140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549640" y="212140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784080" y="212140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2852928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82246">
              <a:alpha val="6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2871216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· NASA Science, «Rogue planets»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8712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A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28712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8712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549640" y="28712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A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784080" y="28712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A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3602736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822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3621024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· IPAC – Caltech (2025)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62102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080760" y="362102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A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362102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549640" y="362102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A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362102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A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0080" y="4352544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82246">
              <a:alpha val="65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8680" y="4370832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2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· Wikipedia, «Planeta interestelar»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437083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A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437083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A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315200" y="437083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E9A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Baja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549640" y="437083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E9A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9784080" y="437083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A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final: F1 sostiene las afirmaciones centrales; F2 y F3 aportan contexto y actualidad siempre citando su carácter institucional; F4 se usó solo en la fase de exploración y no respalda ningún dato de esta exposición.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ideas para llevarse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F3C05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733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 y probablemente son mayoría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5740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planetas errantes pasaron de curiosidad teórica a población detectada y contada. La NASA los sitúa superando seis a uno a los mundos con estrella.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548640" cy="548640"/>
          </a:xfrm>
          <a:prstGeom prst="ellipse">
            <a:avLst/>
          </a:prstGeom>
          <a:solidFill>
            <a:srgbClr val="1822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715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697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detectamos por su gravedad, no por su luz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081528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microlente gravitacional es la única llave disponible, y su gran limitación es que cada evento ocurre una sola vez y no puede repetirse.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548640" cy="548640"/>
          </a:xfrm>
          <a:prstGeom prst="ellipse">
            <a:avLst/>
          </a:prstGeom>
          <a:solidFill>
            <a:srgbClr val="1822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739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72160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hay un único origen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105656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Expulsión y colapso directo conviven. La distribución de masas que mida Roman será la prueba que permita saber cuánto aporta cada mecanismo.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64024"/>
            <a:ext cx="548640" cy="548640"/>
          </a:xfrm>
          <a:prstGeom prst="ellipse">
            <a:avLst/>
          </a:prstGeom>
          <a:solidFill>
            <a:srgbClr val="1822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7640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3C0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7457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F4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cifras exigen leer la fuente, no el titular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5129784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de ~50 a ~400 planetas previstos no fue un descubrimiento: fue un cambio de modelo. Sin aplicar CRAAP, esa diferencia se cita como si fuera un hallazgo.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3C0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APA — COLEGIO SANTA MARÍA MARIANISTAS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lnSpc>
                <a:spcPts val="1600"/>
              </a:lnSpc>
              <a:buSzPct val="100000"/>
              <a:buChar char="​"/>
            </a:pPr>
            <a:r>
              <a:rPr lang="en-US" sz="1100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Blakeslee, S. (2004). The CRAAP test.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LOEX Quarterly, 31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(3), 6-7. https://commons.emich.edu/loexquarterly/vol31/iss3/4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lnSpc>
                <a:spcPts val="1600"/>
              </a:lnSpc>
              <a:buSzPct val="100000"/>
              <a:buChar char="​"/>
            </a:pPr>
            <a:r>
              <a:rPr lang="en-US" sz="1100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Miret-Roig, N., Bouy, H., Raymond, S. N., Tamura, M., Barrado, D., Olivares, J., Bayo, A., Berihuete, A., Bertin, E., Bouvier, J., Cuillandre, J.-C., Huélamo, N., Jamal, S., Pérez-Garrido, A. y Sarro, L. M. (2022). A rich population of free-floating planets in the Upper Scorpius young stellar association.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Astronomy, 6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(1), 89-97. https://doi.org/10.1038/s41550-021-01513-x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lnSpc>
                <a:spcPts val="1600"/>
              </a:lnSpc>
              <a:buSzPct val="100000"/>
              <a:buChar char="​"/>
            </a:pPr>
            <a:r>
              <a:rPr lang="en-US" sz="1100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NASA. (s. f.).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Rogue planets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NASA Science — Nancy Grace Roman Space Telescope. Recuperado el 11 de septiembre de 2026, de https://science.nasa.gov/mission/roman-space-telescope/rogue-planets/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1605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lnSpc>
                <a:spcPts val="1600"/>
              </a:lnSpc>
              <a:buSzPct val="100000"/>
              <a:buChar char="​"/>
            </a:pPr>
            <a:r>
              <a:rPr lang="en-US" sz="1100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 interestelar. (s. f.). En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Recuperado el 11 de septiembre de 2026, de https://es.wikipedia.org/wiki/Planeta_interestelar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0292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lnSpc>
                <a:spcPts val="1600"/>
              </a:lnSpc>
              <a:buSzPct val="100000"/>
              <a:buChar char="​"/>
            </a:pPr>
            <a:r>
              <a:rPr lang="en-US" sz="1100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 Space Telescope Project. (2025).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study reveals NASA's Roman could find 400 Earth-mass rogue planets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A1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IPAC — Caltech. https://roman.ipac.caltech.edu/news/new-study-reveals-nasa-s-roman-could-find-400-earth-mass-rogue-planets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ordenadas alfabéticamente, con sangría francesa, según la guía de citas del Colegio Santa María Marianistas. Se prefiere el DOI sobre el URL simple cuando el artículo lo tiene.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Planetas errantes · Método CRAAP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Planetas errantes</dc:title>
  <dc:subject>PptxGenJS Presentation</dc:subject>
  <dc:creator>Colegio Santa María Marianistas</dc:creator>
  <cp:lastModifiedBy>Colegio Santa María Marianistas</cp:lastModifiedBy>
  <cp:revision>1</cp:revision>
  <dcterms:created xsi:type="dcterms:W3CDTF">2026-09-11T16:54:08Z</dcterms:created>
  <dcterms:modified xsi:type="dcterms:W3CDTF">2026-09-11T16:54:08Z</dcterms:modified>
</cp:coreProperties>
</file>