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tema y el método: cinco fuentes, cada una filtrada con CRAAP y citada en APA 7. Completar la línea de integrantes antes de exponer.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Justificamos la elección del tema y planteamos las dos preguntas de indagación. Las dos cifras de la derecha ya vienen citadas: así se ve que la cita va pegada al 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Recordamos el embudo CRAAP visto en clase y explicamos que lo corrimos sobre cada resultado, no solo sobre los que ya nos gustaban.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Explicamos criterio por criterio por qué cada fuente pasó, y leemos la cita in-text tal como irá en el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Explicamos criterio por criterio por qué cada fuente pasó, y leemos la cita in-text tal como irá en el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la fuente legal peruana y mostramos, al costado, un caso real de fuente descartada. El punto: el filtro sirve justamente para dejar cosas fuera.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lo que aprendimos, no con un resumen del método. Cada bloque lleva la cita de la fuente que lo sostiene.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final en orden alfabético. Revisamos el ticket de salida: orden A-Z, cursivas en el título principal y URLs que llevan directo al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0" y="502920"/>
            <a:ext cx="3200400" cy="3200400"/>
          </a:xfrm>
          <a:prstGeom prst="ellipse">
            <a:avLst/>
          </a:prstGeom>
          <a:solidFill>
            <a:srgbClr val="2FBFA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086600" y="1143000"/>
            <a:ext cx="1920240" cy="1920240"/>
          </a:xfrm>
          <a:prstGeom prst="ellipse">
            <a:avLst/>
          </a:prstGeom>
          <a:solidFill>
            <a:srgbClr val="2FBFA8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07808" y="1664208"/>
            <a:ext cx="877824" cy="877824"/>
          </a:xfrm>
          <a:prstGeom prst="ellipse">
            <a:avLst/>
          </a:prstGeom>
          <a:solidFill>
            <a:srgbClr val="2FBFA8">
              <a:alpha val="3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502920" y="4114800"/>
            <a:ext cx="1691640" cy="1691640"/>
          </a:xfrm>
          <a:prstGeom prst="ellipse">
            <a:avLst/>
          </a:prstGeom>
          <a:solidFill>
            <a:srgbClr val="2FBFA8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566928"/>
            <a:ext cx="3127248" cy="310896"/>
          </a:xfrm>
          <a:prstGeom prst="roundRect">
            <a:avLst>
              <a:gd name="adj" fmla="val 50000"/>
            </a:avLst>
          </a:prstGeom>
          <a:solidFill>
            <a:srgbClr val="17414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566928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2F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PERSONAL · OBJETIVO 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1005840"/>
            <a:ext cx="5806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Cigarro electrónico:</a:t>
            </a:r>
            <a:endParaRPr lang="en-US" sz="35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fuentes puestas a prueba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566928" y="23957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Buscamos, pasamos cada fuente por el filtro CRAAP y armamos la cita y la referencia en APA 7.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3977640"/>
            <a:ext cx="5029200" cy="512064"/>
          </a:xfrm>
          <a:prstGeom prst="roundRect">
            <a:avLst>
              <a:gd name="adj" fmla="val 17857"/>
            </a:avLst>
          </a:prstGeom>
          <a:solidFill>
            <a:srgbClr val="17414E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97764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  </a:t>
            </a:r>
            <a:pPr indent="0" marL="0">
              <a:buNone/>
            </a:pPr>
            <a:r>
              <a:rPr lang="en-US" sz="110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39776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investigación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elegimos el vapeo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 y las dos preguntas que queríamos responder.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elegimos porque se ve en el colegio todas las semanas y casi nadie sabe qué está inhalando. El otro problema era la información: buena parte de lo que aparece en redes o en las webs del rubro la escribe alguien que gana dinero si tú compras.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2304288"/>
            <a:ext cx="4617720" cy="932688"/>
          </a:xfrm>
          <a:prstGeom prst="roundRect">
            <a:avLst>
              <a:gd name="adj" fmla="val 11765"/>
            </a:avLst>
          </a:prstGeom>
          <a:solidFill>
            <a:srgbClr val="EDF5F6"/>
          </a:solidFill>
          <a:ln/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60320"/>
            <a:ext cx="420624" cy="420624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617" y="265285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2432304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le hace el vapeo al cuerpo de alguien de nuestra edad?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3401568"/>
            <a:ext cx="4617720" cy="932688"/>
          </a:xfrm>
          <a:prstGeom prst="roundRect">
            <a:avLst>
              <a:gd name="adj" fmla="val 11765"/>
            </a:avLst>
          </a:prstGeom>
          <a:solidFill>
            <a:srgbClr val="EDF5F6"/>
          </a:solidFill>
          <a:ln/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3657600"/>
            <a:ext cx="420624" cy="420624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17" y="3750137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3529584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verdad sirve para dejar de fumar o solo cambia una adicción por otra?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303520" y="1188720"/>
            <a:ext cx="3429000" cy="1700784"/>
          </a:xfrm>
          <a:prstGeom prst="roundRect">
            <a:avLst>
              <a:gd name="adj" fmla="val 6452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522976" y="1335024"/>
            <a:ext cx="2990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 15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5522976" y="195681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años. En todas las regiones de la OMS ese grupo vapea más que los adultos.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522976" y="2523744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(OMS, 2023)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303520" y="3035808"/>
            <a:ext cx="3429000" cy="1700784"/>
          </a:xfrm>
          <a:prstGeom prst="roundRect">
            <a:avLst>
              <a:gd name="adj" fmla="val 6452"/>
            </a:avLst>
          </a:prstGeom>
          <a:solidFill>
            <a:srgbClr val="0E2A33"/>
          </a:solidFill>
          <a:ln/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522976" y="3182112"/>
            <a:ext cx="2990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1,63 M</a:t>
            </a:r>
            <a:endParaRPr lang="en-US" sz="3400" dirty="0"/>
          </a:p>
        </p:txBody>
      </p:sp>
      <p:sp>
        <p:nvSpPr>
          <p:cNvPr id="19" name="Text 15"/>
          <p:cNvSpPr/>
          <p:nvPr/>
        </p:nvSpPr>
        <p:spPr>
          <a:xfrm>
            <a:off x="5522976" y="3803904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escolares vapeaban en EE. UU. en 2024. En 2019 pasaban de 5 millones.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522976" y="4370832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2024)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preguntas antes de citar nada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CRAAP aplicado a cada resultado de la búsqueda.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17414E"/>
          </a:solidFill>
          <a:ln w="15875">
            <a:solidFill>
              <a:srgbClr val="27596A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645920"/>
            <a:ext cx="420624" cy="420624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472" y="1740560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" y="219456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25054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Actualidad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93776" y="2798064"/>
            <a:ext cx="1316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cuándo es? ¿El dato sigue vigente?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075688" y="1298448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17414E"/>
          </a:solidFill>
          <a:ln w="15875">
            <a:solidFill>
              <a:srgbClr val="27596A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51760" y="1645920"/>
            <a:ext cx="420624" cy="420624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400" y="1740560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03704" y="219456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167128" y="25054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Relevancia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203704" y="2798064"/>
            <a:ext cx="1316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¿Responde a nuestras preguntas o es relleno?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785616" y="1298448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17414E"/>
          </a:solidFill>
          <a:ln w="15875">
            <a:solidFill>
              <a:srgbClr val="27596A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61688" y="1645920"/>
            <a:ext cx="420624" cy="420624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328" y="1740560"/>
            <a:ext cx="231343" cy="231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13632" y="219456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3877056" y="25054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913632" y="2798064"/>
            <a:ext cx="1316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firma y con qué credenciales?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95544" y="1298448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17414E"/>
          </a:solidFill>
          <a:ln w="15875">
            <a:solidFill>
              <a:srgbClr val="27596A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71616" y="1645920"/>
            <a:ext cx="420624" cy="420624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256" y="1740560"/>
            <a:ext cx="231343" cy="23134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219456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5586984" y="25054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Exactitud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623560" y="2798064"/>
            <a:ext cx="1316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¿Muestra evidencia que podamos verificar?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205472" y="1298448"/>
            <a:ext cx="1572768" cy="2331720"/>
          </a:xfrm>
          <a:prstGeom prst="roundRect">
            <a:avLst>
              <a:gd name="adj" fmla="val 6977"/>
            </a:avLst>
          </a:prstGeom>
          <a:solidFill>
            <a:srgbClr val="17414E"/>
          </a:solidFill>
          <a:ln w="15875">
            <a:solidFill>
              <a:srgbClr val="27596A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81544" y="1645920"/>
            <a:ext cx="420624" cy="420624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6184" y="1740560"/>
            <a:ext cx="231343" cy="23134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33488" y="219456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7296912" y="250545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7333488" y="2798064"/>
            <a:ext cx="13167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¿Informa, enseña o quiere venderme algo?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65760" y="3913632"/>
            <a:ext cx="8403336" cy="694944"/>
          </a:xfrm>
          <a:prstGeom prst="roundRect">
            <a:avLst>
              <a:gd name="adj" fmla="val 15789"/>
            </a:avLst>
          </a:prstGeom>
          <a:solidFill>
            <a:srgbClr val="17414E"/>
          </a:solidFill>
          <a:ln/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85216" y="4096512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178808"/>
            <a:ext cx="164592" cy="16459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42416" y="3913632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fuentes que descartamos casi siempre se cayeron en la misma casilla: Autoridad o Propósito. Una página puede verse ordenada y aun así no decirte quién la escribió.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1 y 2: los organismos de salud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dicen las instituciones que vigilan el tema.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4069080" cy="3529584"/>
          </a:xfrm>
          <a:prstGeom prst="roundRect">
            <a:avLst>
              <a:gd name="adj" fmla="val 3109"/>
            </a:avLst>
          </a:prstGeom>
          <a:solidFill>
            <a:srgbClr val="F7FBFB"/>
          </a:solidFill>
          <a:ln w="15875">
            <a:solidFill>
              <a:srgbClr val="D5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133856"/>
            <a:ext cx="384048" cy="384048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267" y="1222187"/>
            <a:ext cx="207386" cy="2073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133856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COMUNICADO INSTITUCIONAL · OMS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694176" y="10972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B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0936" y="1554480"/>
            <a:ext cx="3630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6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que actuar con urgencia para evitar que los niños y los jóvenes consuman cigarrillos electrónicos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" y="2231136"/>
            <a:ext cx="36301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 de 2023: es la postura vigente de la OMS.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directo a nuestra primera pregunta: adolescentes y vapeo.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Mundial de la Salud, la máxima autoridad sanitaria.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verificables: 34 países prohíben la venta y 88 no fijan edad mínima.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y empuja regulación; no vende ningún producto.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0936" y="3858768"/>
            <a:ext cx="3630168" cy="292608"/>
          </a:xfrm>
          <a:prstGeom prst="roundRect">
            <a:avLst>
              <a:gd name="adj" fmla="val 18750"/>
            </a:avLst>
          </a:prstGeom>
          <a:solidFill>
            <a:srgbClr val="17796B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" y="385876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EL FILTRO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0936" y="416966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7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(Organización Mundial de la Salud [OMS], 2023)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932688"/>
            <a:ext cx="4069080" cy="3529584"/>
          </a:xfrm>
          <a:prstGeom prst="roundRect">
            <a:avLst>
              <a:gd name="adj" fmla="val 3109"/>
            </a:avLst>
          </a:prstGeom>
          <a:solidFill>
            <a:srgbClr val="F7FBFB"/>
          </a:solidFill>
          <a:ln w="15875">
            <a:solidFill>
              <a:srgbClr val="D5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82896" y="1133856"/>
            <a:ext cx="384048" cy="384048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227" y="1222187"/>
            <a:ext cx="207386" cy="20738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76672" y="1133856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COMUNICADO DE PRENSA · CDC (EE. UU.)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946136" y="10972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B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882896" y="1554480"/>
            <a:ext cx="3630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6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e-cigarette use drops to lowest level in a decade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82896" y="2231136"/>
            <a:ext cx="36301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de 2024, con datos recogidos ese mismo año.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tendencia real en escolares, no una impresión.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y FDA, las agencias federales de salud de EE. UU.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la encuesta completa, con muestra y metodología.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Difundir datos oficiales de vigilancia epidemiológica.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82896" y="3858768"/>
            <a:ext cx="3630168" cy="292608"/>
          </a:xfrm>
          <a:prstGeom prst="roundRect">
            <a:avLst>
              <a:gd name="adj" fmla="val 18750"/>
            </a:avLst>
          </a:prstGeom>
          <a:solidFill>
            <a:srgbClr val="17796B"/>
          </a:solidFill>
          <a:ln/>
        </p:spPr>
      </p:sp>
      <p:sp>
        <p:nvSpPr>
          <p:cNvPr id="22" name="Text 18"/>
          <p:cNvSpPr/>
          <p:nvPr/>
        </p:nvSpPr>
        <p:spPr>
          <a:xfrm>
            <a:off x="4882896" y="385876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EL FILTRO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82896" y="416966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7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(Centers for Disease Control and Prevention [CDC], 2024)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3 y 4: la evidencia científica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revisión sistemática global y un artículo peruano arbitrado.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4069080" cy="3529584"/>
          </a:xfrm>
          <a:prstGeom prst="roundRect">
            <a:avLst>
              <a:gd name="adj" fmla="val 3109"/>
            </a:avLst>
          </a:prstGeom>
          <a:solidFill>
            <a:srgbClr val="F7FBFB"/>
          </a:solidFill>
          <a:ln w="15875">
            <a:solidFill>
              <a:srgbClr val="D5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133856"/>
            <a:ext cx="384048" cy="384048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267" y="1222187"/>
            <a:ext cx="207386" cy="2073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133856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SISTEMÁTICA · COCHRANE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694176" y="10972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B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0936" y="1554480"/>
            <a:ext cx="3630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6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cigarettes for smoking cessation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" y="2231136"/>
            <a:ext cx="36301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de 2025. Es una revisión viva: se actualiza cada cierto tiempo.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 nuestra segunda pregunta casi palabra por palabra.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Cochrane, referencia mundial en revisión de evidencia médica.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decenas de ensayos clínicos y califica la certeza de cada resultado.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Sintetizar evidencia. No acepta plata de la industria del tabaco.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0936" y="3858768"/>
            <a:ext cx="3630168" cy="292608"/>
          </a:xfrm>
          <a:prstGeom prst="roundRect">
            <a:avLst>
              <a:gd name="adj" fmla="val 18750"/>
            </a:avLst>
          </a:prstGeom>
          <a:solidFill>
            <a:srgbClr val="17796B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" y="385876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EL FILTRO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0936" y="416966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7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(Lindson et al., 2025)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932688"/>
            <a:ext cx="4069080" cy="3529584"/>
          </a:xfrm>
          <a:prstGeom prst="roundRect">
            <a:avLst>
              <a:gd name="adj" fmla="val 3109"/>
            </a:avLst>
          </a:prstGeom>
          <a:solidFill>
            <a:srgbClr val="F7FBFB"/>
          </a:solidFill>
          <a:ln w="15875">
            <a:solidFill>
              <a:srgbClr val="D5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82896" y="1133856"/>
            <a:ext cx="384048" cy="384048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227" y="1222187"/>
            <a:ext cx="207386" cy="20738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76672" y="1133856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ARTÍCULO EN REVISTA ARBITRADA · PERÚ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946136" y="10972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B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882896" y="1554480"/>
            <a:ext cx="3630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6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cigarrillo electrónico: un problema de salud pública emergente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82896" y="2231136"/>
            <a:ext cx="36301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la más antigua de las cinco, por eso la cruzamos con datos nuevos.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Aterriza el tema en el Perú y en población adolescente.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Neumólogos del Hospital Cayetano Heredia; revista del INS peruano.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Revisada por pares, con bibliografía completa y mecanismos explicados.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 y de acceso abierto, sin patrocinio comercial.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82896" y="3858768"/>
            <a:ext cx="3630168" cy="292608"/>
          </a:xfrm>
          <a:prstGeom prst="roundRect">
            <a:avLst>
              <a:gd name="adj" fmla="val 18750"/>
            </a:avLst>
          </a:prstGeom>
          <a:solidFill>
            <a:srgbClr val="17796B"/>
          </a:solidFill>
          <a:ln/>
        </p:spPr>
      </p:sp>
      <p:sp>
        <p:nvSpPr>
          <p:cNvPr id="22" name="Text 18"/>
          <p:cNvSpPr/>
          <p:nvPr/>
        </p:nvSpPr>
        <p:spPr>
          <a:xfrm>
            <a:off x="4882896" y="385876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PASA, CON NOTA EN ACTUALIDAD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82896" y="416966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7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(Accinelli et al., 2020)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5 y una que no sobrevivió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peruana vigente, y el contraste con lo que el filtro dejó fuera.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4069080" cy="3529584"/>
          </a:xfrm>
          <a:prstGeom prst="roundRect">
            <a:avLst>
              <a:gd name="adj" fmla="val 3109"/>
            </a:avLst>
          </a:prstGeom>
          <a:solidFill>
            <a:srgbClr val="F7FBFB"/>
          </a:solidFill>
          <a:ln w="15875">
            <a:solidFill>
              <a:srgbClr val="D5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133856"/>
            <a:ext cx="384048" cy="384048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267" y="1222187"/>
            <a:ext cx="207386" cy="2073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133856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 LEGAL · CONGRESO DEL PERÚ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694176" y="10972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B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0936" y="1554480"/>
            <a:ext cx="3630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6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N.° 32159, del control del consumo de productos de tabaco, nicotina o sucedáneos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" y="2231136"/>
            <a:ext cx="36301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el 12 de noviembre de 2024 y en vigencia.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se puede y qué no en colegios y espacios públicos.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Congreso de la República; texto oficial en El Peruano.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fuente primaria: el articulado tal cual, sin intermediarios.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7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3E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la venta y el consumo. Cero intención comercial.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30936" y="3858768"/>
            <a:ext cx="3630168" cy="292608"/>
          </a:xfrm>
          <a:prstGeom prst="roundRect">
            <a:avLst>
              <a:gd name="adj" fmla="val 18750"/>
            </a:avLst>
          </a:prstGeom>
          <a:solidFill>
            <a:srgbClr val="17796B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" y="385876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 EL FILTRO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0936" y="416966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74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(Ley N.° 32159, 2024)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932688"/>
            <a:ext cx="4069080" cy="3529584"/>
          </a:xfrm>
          <a:prstGeom prst="roundRect">
            <a:avLst>
              <a:gd name="adj" fmla="val 3109"/>
            </a:avLst>
          </a:prstGeom>
          <a:solidFill>
            <a:srgbClr val="FFF3F0"/>
          </a:solidFill>
          <a:ln w="15875">
            <a:solidFill>
              <a:srgbClr val="FFC9BC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82896" y="1133856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227" y="1222187"/>
            <a:ext cx="207386" cy="20738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76672" y="1133856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DE UNA TIENDA DE VAPEADORES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946136" y="109728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0A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882896" y="1554480"/>
            <a:ext cx="3630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62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«Guía rápida: por qué vapear es 95 % más seguro que fumar»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82896" y="2231136"/>
            <a:ext cx="36301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6B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fecha por ningún lado.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6B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del tema, pero solo del lado que le conviene.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6B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autor, sin credenciales, sin institución detrás.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6B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Suelta un «95 % más seguro» y no enlaza el estudio original.</a:t>
            </a:r>
            <a:endParaRPr lang="en-US" sz="9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6B4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Vender. El botón de compra está al costado del texto.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82896" y="3858768"/>
            <a:ext cx="363016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22" name="Text 18"/>
          <p:cNvSpPr/>
          <p:nvPr/>
        </p:nvSpPr>
        <p:spPr>
          <a:xfrm>
            <a:off x="4882896" y="3858768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DESCARTADA · FALLA EN A Y EN P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82896" y="416966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5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 citamos en ninguna parte del trabajo.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las cinco fuentes, juntas, nos dejaron claro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afirmación va con su cita: si no hay cita, no entra.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84048" y="1152144"/>
            <a:ext cx="4096512" cy="1389888"/>
          </a:xfrm>
          <a:prstGeom prst="roundRect">
            <a:avLst>
              <a:gd name="adj" fmla="val 7895"/>
            </a:avLst>
          </a:prstGeom>
          <a:solidFill>
            <a:srgbClr val="17414E"/>
          </a:solidFill>
          <a:ln w="15875">
            <a:solidFill>
              <a:srgbClr val="27596A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53312"/>
            <a:ext cx="402336" cy="402336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753" y="1445849"/>
            <a:ext cx="217261" cy="2172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3075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vapor de agua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85216" y="1828800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aerosol libera nicotina, partículas finas y compuestos orgánicos volátiles, y genera inflamación y estrés oxidativo en varios tipos de células.  </a:t>
            </a:r>
            <a:pPr indent="0" marL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2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(Accinelli et al., 2020)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1152144"/>
            <a:ext cx="4096512" cy="1389888"/>
          </a:xfrm>
          <a:prstGeom prst="roundRect">
            <a:avLst>
              <a:gd name="adj" fmla="val 7895"/>
            </a:avLst>
          </a:prstGeom>
          <a:solidFill>
            <a:srgbClr val="17414E"/>
          </a:solidFill>
          <a:ln w="15875">
            <a:solidFill>
              <a:srgbClr val="27596A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64608" y="1353312"/>
            <a:ext cx="402336" cy="402336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145" y="1445849"/>
            <a:ext cx="217261" cy="2172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58384" y="13075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adolescentes vapean más que los adultos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864608" y="1828800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todas las regiones de la OMS, el grupo de 13 a 15 años consume más cigarrillos electrónicos que la población adulta.  </a:t>
            </a:r>
            <a:pPr indent="0" marL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2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(OMS, 2023)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84048" y="2670048"/>
            <a:ext cx="4096512" cy="1389888"/>
          </a:xfrm>
          <a:prstGeom prst="roundRect">
            <a:avLst>
              <a:gd name="adj" fmla="val 7895"/>
            </a:avLst>
          </a:prstGeom>
          <a:solidFill>
            <a:srgbClr val="17414E"/>
          </a:solidFill>
          <a:ln w="15875">
            <a:solidFill>
              <a:srgbClr val="27596A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5216" y="2871216"/>
            <a:ext cx="402336" cy="402336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53" y="2963753"/>
            <a:ext cx="217261" cy="2172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" y="28254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dejar de fumar sí hay evidencia, pero es para adultos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85216" y="3346704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revisión Cochrane halla evidencia de certeza alta de que los dispositivos con nicotina logran más abandonos del tabaco que parches o chicles, en personas que ya fumaban.  </a:t>
            </a:r>
            <a:pPr indent="0" marL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2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(Lindson et al., 2025)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63440" y="2670048"/>
            <a:ext cx="4096512" cy="1389888"/>
          </a:xfrm>
          <a:prstGeom prst="roundRect">
            <a:avLst>
              <a:gd name="adj" fmla="val 7895"/>
            </a:avLst>
          </a:prstGeom>
          <a:solidFill>
            <a:srgbClr val="17414E"/>
          </a:solidFill>
          <a:ln w="15875">
            <a:solidFill>
              <a:srgbClr val="27596A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64608" y="2871216"/>
            <a:ext cx="402336" cy="402336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145" y="2963753"/>
            <a:ext cx="217261" cy="2172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58384" y="28254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Perú ya hay reglas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864608" y="3346704"/>
            <a:ext cx="3694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2024 está prohibido vapear en colegios, centros de salud, espacios públicos cerrados y transporte, y venderlos a menores de 18 años.  </a:t>
            </a:r>
            <a:pPr indent="0" marL="0">
              <a:lnSpc>
                <a:spcPct val="98000"/>
              </a:lnSpc>
              <a:buNone/>
            </a:pPr>
            <a:r>
              <a:rPr lang="en-US" sz="950" i="1" dirty="0">
                <a:solidFill>
                  <a:srgbClr val="2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(Ley N.° 32159, 2024)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84048" y="4169664"/>
            <a:ext cx="8375904" cy="566928"/>
          </a:xfrm>
          <a:prstGeom prst="roundRect">
            <a:avLst>
              <a:gd name="adj" fmla="val 19355"/>
            </a:avLst>
          </a:prstGeom>
          <a:solidFill>
            <a:srgbClr val="0A2029"/>
          </a:solidFill>
          <a:ln w="15875">
            <a:solidFill>
              <a:srgbClr val="17796B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21792" y="4169664"/>
            <a:ext cx="7918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que nos sorprendió:  </a:t>
            </a:r>
            <a:pPr indent="0" marL="0">
              <a:buNone/>
            </a:pPr>
            <a:r>
              <a:rPr lang="en-US" sz="1100" dirty="0">
                <a:solidFill>
                  <a:srgbClr val="C6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consumo escolar en EE. UU. bajó de 2,13 a 1,63 millones entre 2023 y 2024, y sigue lejos del pico de 2019 (CDC, 2024).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en APA 7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alfabético, títulos principales en cursiva y enlaces completos.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321040" cy="2852928"/>
          </a:xfrm>
          <a:prstGeom prst="roundRect">
            <a:avLst>
              <a:gd name="adj" fmla="val 3846"/>
            </a:avLst>
          </a:prstGeom>
          <a:solidFill>
            <a:srgbClr val="F7FBFB"/>
          </a:solidFill>
          <a:ln w="15875">
            <a:solidFill>
              <a:srgbClr val="D5E6E8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33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280160"/>
            <a:ext cx="7827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Accinelli, R. A., Lam, J. y Tafur, K. (2020). El cigarrillo electrónico: un problema de salud pública emergente. 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Revista Peruana de Medicina Experimental y Salud Pública, 37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122-128. https://doi.org/10.17843/rpmesp.2020.371.4780</a:t>
            </a:r>
            <a:endParaRPr lang="en-US" sz="1050" dirty="0"/>
          </a:p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for Disease Control and Prevention. (2024, 5 de septiembre). 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e-cigarette use drops to lowest level in a decade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[Comunicado de prensa]. CDC Newsroom. https://www.cdc.gov/media/releases/2024/p0905-youth-ecigarette.html</a:t>
            </a:r>
            <a:endParaRPr lang="en-US" sz="1050" dirty="0"/>
          </a:p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N.° 32159 de 2024. Ley del control del consumo de productos de tabaco, nicotina o sucedáneos de ambos para la protección de la vida y la salud. 12 de noviembre de 2024. Diario Oficial El Peruano. https://busquedas.elperuano.pe/dispositivo/NL/2343203-1</a:t>
            </a:r>
            <a:endParaRPr lang="en-US" sz="1050" dirty="0"/>
          </a:p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Lindson, N., Butler, A. R., McRobbie, H., Bullen, C., Hajek, P., Wu, A. D., Begh, R., Theodoulou, A., Notley, C., Rigotti, N. A., Turner, T., Livingstone-Banks, J., Morris, T. y Hartmann-Boyce, J. (2025). Electronic cigarettes for smoking cessation. 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Cochrane Database of Systematic Reviews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(1), Artículo CD010216. https://doi.org/10.1002/14651858.CD010216.pub9</a:t>
            </a:r>
            <a:endParaRPr lang="en-US" sz="1050" dirty="0"/>
          </a:p>
          <a:p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Mundial de la Salud. (2023, 14 de diciembre). 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actuar con urgencia para evitar que los niños y los jóvenes consuman cigarrillos electrónicos</a:t>
            </a:r>
            <a:pPr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16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Organización Mundial de la Salud. https://www.who.int/es/news/item/14-12-2023-urgent-action-needed-to-protect-children-and-prevent-the-uptake-of-e-cigarettes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4169664"/>
            <a:ext cx="329184" cy="329184"/>
          </a:xfrm>
          <a:prstGeom prst="ellipse">
            <a:avLst/>
          </a:prstGeom>
          <a:solidFill>
            <a:srgbClr val="2FBF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40" y="4242084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41148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que aplicamos: si aparece citada en el texto, tiene que estar en esta lista; y si está en la lista, es porque la citamos.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Cigarro electrónico: 5 fuentes puestas a prueba</dc:title>
  <dc:subject>PptxGenJS Presentation</dc:subject>
  <dc:creator>Proyecto Personal</dc:creator>
  <cp:lastModifiedBy>Proyecto Personal</cp:lastModifiedBy>
  <cp:revision>1</cp:revision>
  <dcterms:created xsi:type="dcterms:W3CDTF">2026-08-20T13:13:00Z</dcterms:created>
  <dcterms:modified xsi:type="dcterms:W3CDTF">2026-08-20T13:13:00Z</dcterms:modified>
</cp:coreProperties>
</file>