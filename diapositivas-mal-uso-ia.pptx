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(habla cualquiera del equipo o todos saludan): Buenos días, profesora y compañeros. Somos un equipo de 5 y hoy vamos a hablar de un tema que nos toca a todos: el mal uso de la inteligencia artificial. Cada integrante dice su nombre rápidamente. Frase para enganchar: 'Al final de esta exposición, van a dudar de más de un video que vieron esta semana'.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ALUMNO 1: Empiezo con la pregunta gancho y dejo que levanten la mano (eso despierta al público). Explico con mis palabras qué es la IA usando ejemplos que todos conocen: el celular, los filtros, los chats. Después aclaro la idea clave: la IA no es mala, el problema es el mal uso. Presento rápido las 4 caras del mal uso (deepfakes, noticias falsas, plagio y estafas) diciendo que mis compañeros las van a explicar. Cierro leyendo nuestro objetivo del Criterio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ALUMNO 2: Lanzo la pregunta gancho y hago una pausa para que se lo imaginen. Explico qué es un deepfake con un ejemplo: un video falso de un famoso o de un presidente diciendo algo que nunca dijo. Luego conecto con las noticias falsas: la IA las fabrica en segundos y la gente las comparte sin verificar. Termino con la idea fuerte de la tarjeta oscura: el daño más grande es que perdemos la confianza. Y leo nuestra pregunta de indagación n.º 1, que salió de nuestro objetivo.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ALUMNO 3: Empiezo con la pregunta gancho sobre la tarea (aquí siempre se ríen o murmuran, ¡aprovecho ese momento!). Explico el plagio escolar: no es ayuda, es trampa, y las consecuencias son reales. Después cuento el ejemplo de la estafa de la 'llamada del familiar' con voz clonada. Cierro en positivo con la tercera tarjeta: la IA usada bien sí ayuda a estudiar, la clave es que sea apoyo y no reemplazo. Leo la pregunta de indagación n.º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ALUMNO 4: Lanzo la pregunta gancho: buscar también se aprende. Explico la matriz de búsqueda fila por fila: primero el concepto, después sus sinónimos, luego cómo lo escribimos en el buscador y dónde buscamos. Doy el mini truco de las comillas, el AND y el OR con un ejemplo hablado: 'si escribo riesgos de la IA AND estudiantes, el buscador me trae páginas que hablan de las dos cosas juntas'. Menciono que todo está anotado en nuestra bitácora, como pidió la profesora.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ALUMNO 5: Hago la pregunta gancho y presento el embudo de la verdad. Explico cada filtro señalándolo en la diapositiva: C de Actualidad (¿es reciente?), R de Relevancia (¿me sirve?), A de Autoridad (¿quién lo escribió?), A de Exactitud (¿se puede comprobar en otro lado?) y P de Propósito (¿me quiere informar o manipular?). Después cuento la prueba real: pasamos la página de la UNESCO por el embudo y sobrevivió a los 5 filtros, por eso es nuestra fuente confiable. Solo lo que sobrevive al embudo entra a nuestro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(todo el equipo al frente): Un integrante lee la frase central. Otros tres leen un compromiso cada uno. El último lanza la pregunta final al público y deja unos segundos de silencio para que piensen. Agradecemos juntos y abrimos la ronda de preguntas. Tip: si nadie pregunta, el Alumno 1 puede preguntar al público: '¿alguien ha visto un deepfake alguna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E342E"/>
        </a:solidFill>
      </p:bgPr>
    </p:bg>
    <p:spTree>
      <p:nvGrpSpPr>
        <p:cNvPr id="1" name=""/>
        <p:cNvGrpSpPr/>
        <p:nvPr/>
      </p:nvGrpSpPr>
      <p:grpSpPr>
        <a:xfrm>
          <a:off x="0" y="0"/>
          <a:ext cx="0" cy="0"/>
          <a:chOff x="0" y="0"/>
          <a:chExt cx="0" cy="0"/>
        </a:xfrm>
      </p:grpSpPr>
      <p:sp>
        <p:nvSpPr>
          <p:cNvPr id="2" name="Shape 0"/>
          <p:cNvSpPr/>
          <p:nvPr/>
        </p:nvSpPr>
        <p:spPr>
          <a:xfrm>
            <a:off x="9509760" y="-1463040"/>
            <a:ext cx="4023360" cy="4023360"/>
          </a:xfrm>
          <a:prstGeom prst="ellipse">
            <a:avLst/>
          </a:prstGeom>
          <a:solidFill>
            <a:srgbClr val="C67B3B">
              <a:alpha val="18000"/>
            </a:srgbClr>
          </a:solidFill>
          <a:ln/>
        </p:spPr>
      </p:sp>
      <p:sp>
        <p:nvSpPr>
          <p:cNvPr id="3" name="Shape 1"/>
          <p:cNvSpPr/>
          <p:nvPr/>
        </p:nvSpPr>
        <p:spPr>
          <a:xfrm>
            <a:off x="-1188720" y="4754880"/>
            <a:ext cx="3291840" cy="3291840"/>
          </a:xfrm>
          <a:prstGeom prst="ellipse">
            <a:avLst/>
          </a:prstGeom>
          <a:solidFill>
            <a:srgbClr val="8D6E63">
              <a:alpha val="25000"/>
            </a:srgbClr>
          </a:solidFill>
          <a:ln/>
        </p:spPr>
      </p:sp>
      <p:sp>
        <p:nvSpPr>
          <p:cNvPr id="4" name="Text 2"/>
          <p:cNvSpPr/>
          <p:nvPr/>
        </p:nvSpPr>
        <p:spPr>
          <a:xfrm>
            <a:off x="731520" y="868680"/>
            <a:ext cx="7498080" cy="365760"/>
          </a:xfrm>
          <a:prstGeom prst="rect">
            <a:avLst/>
          </a:prstGeom>
          <a:noFill/>
          <a:ln/>
        </p:spPr>
        <p:txBody>
          <a:bodyPr wrap="square" lIns="0" tIns="0" rIns="0" bIns="0" rtlCol="0" anchor="ctr"/>
          <a:lstStyle/>
          <a:p>
            <a:pPr indent="0" marL="0">
              <a:buNone/>
            </a:pPr>
            <a:r>
              <a:rPr lang="en-US" sz="1300" b="1" spc="300" kern="0" dirty="0">
                <a:solidFill>
                  <a:srgbClr val="C67B3B"/>
                </a:solidFill>
                <a:latin typeface="Calibri" pitchFamily="34" charset="0"/>
                <a:ea typeface="Calibri" pitchFamily="34" charset="-122"/>
                <a:cs typeface="Calibri" pitchFamily="34" charset="-120"/>
              </a:rPr>
              <a:t>EXPOSICIÓN DE 3.º DE SECUNDARIA  ·  EQUIPO DE 5</a:t>
            </a:r>
            <a:endParaRPr lang="en-US" sz="1300" dirty="0"/>
          </a:p>
        </p:txBody>
      </p:sp>
      <p:sp>
        <p:nvSpPr>
          <p:cNvPr id="5" name="Text 3"/>
          <p:cNvSpPr/>
          <p:nvPr/>
        </p:nvSpPr>
        <p:spPr>
          <a:xfrm>
            <a:off x="731520" y="1280160"/>
            <a:ext cx="7589520" cy="1920240"/>
          </a:xfrm>
          <a:prstGeom prst="rect">
            <a:avLst/>
          </a:prstGeom>
          <a:noFill/>
          <a:ln/>
        </p:spPr>
        <p:txBody>
          <a:bodyPr wrap="square" lIns="0" tIns="0" rIns="0" bIns="0" rtlCol="0" anchor="ctr"/>
          <a:lstStyle/>
          <a:p>
            <a:pPr indent="0" marL="0">
              <a:lnSpc>
                <a:spcPct val="105000"/>
              </a:lnSpc>
              <a:buNone/>
            </a:pPr>
            <a:r>
              <a:rPr lang="en-US" sz="4000" b="1" dirty="0">
                <a:solidFill>
                  <a:srgbClr val="F5EDE0"/>
                </a:solidFill>
                <a:latin typeface="Cambria" pitchFamily="34" charset="0"/>
                <a:ea typeface="Cambria" pitchFamily="34" charset="-122"/>
                <a:cs typeface="Cambria" pitchFamily="34" charset="-120"/>
              </a:rPr>
              <a:t>EL MAL USO DE LA</a:t>
            </a:r>
            <a:endParaRPr lang="en-US" sz="4000" dirty="0"/>
          </a:p>
          <a:p>
            <a:pPr indent="0" marL="0">
              <a:lnSpc>
                <a:spcPct val="105000"/>
              </a:lnSpc>
              <a:buNone/>
            </a:pPr>
            <a:r>
              <a:rPr lang="en-US" sz="4000" b="1" dirty="0">
                <a:solidFill>
                  <a:srgbClr val="F5EDE0"/>
                </a:solidFill>
                <a:latin typeface="Cambria" pitchFamily="34" charset="0"/>
                <a:ea typeface="Cambria" pitchFamily="34" charset="-122"/>
                <a:cs typeface="Cambria" pitchFamily="34" charset="-120"/>
              </a:rPr>
              <a:t>INTELIGENCIA ARTIFICIAL</a:t>
            </a:r>
            <a:endParaRPr lang="en-US" sz="4000" dirty="0"/>
          </a:p>
        </p:txBody>
      </p:sp>
      <p:sp>
        <p:nvSpPr>
          <p:cNvPr id="6" name="Text 4"/>
          <p:cNvSpPr/>
          <p:nvPr/>
        </p:nvSpPr>
        <p:spPr>
          <a:xfrm>
            <a:off x="731520" y="3310128"/>
            <a:ext cx="7223760" cy="685800"/>
          </a:xfrm>
          <a:prstGeom prst="rect">
            <a:avLst/>
          </a:prstGeom>
          <a:noFill/>
          <a:ln/>
        </p:spPr>
        <p:txBody>
          <a:bodyPr wrap="square" lIns="0" tIns="0" rIns="0" bIns="0" rtlCol="0" anchor="ctr"/>
          <a:lstStyle/>
          <a:p>
            <a:pPr indent="0" marL="0">
              <a:buNone/>
            </a:pPr>
            <a:r>
              <a:rPr lang="en-US" sz="1700" i="1" dirty="0">
                <a:solidFill>
                  <a:srgbClr val="D7C4A8"/>
                </a:solidFill>
                <a:latin typeface="Calibri" pitchFamily="34" charset="0"/>
                <a:ea typeface="Calibri" pitchFamily="34" charset="-122"/>
                <a:cs typeface="Calibri" pitchFamily="34" charset="-120"/>
              </a:rPr>
              <a:t>¿Y si ya no pudieras creer ni lo que ves… ni lo que escuchas?</a:t>
            </a:r>
            <a:endParaRPr lang="en-US" sz="1700" dirty="0"/>
          </a:p>
        </p:txBody>
      </p:sp>
      <p:sp>
        <p:nvSpPr>
          <p:cNvPr id="7" name="Shape 5"/>
          <p:cNvSpPr/>
          <p:nvPr/>
        </p:nvSpPr>
        <p:spPr>
          <a:xfrm>
            <a:off x="731520" y="4251960"/>
            <a:ext cx="7223760" cy="960120"/>
          </a:xfrm>
          <a:prstGeom prst="roundRect">
            <a:avLst>
              <a:gd name="adj" fmla="val 8571"/>
            </a:avLst>
          </a:prstGeom>
          <a:solidFill>
            <a:srgbClr val="5D4037"/>
          </a:solidFill>
          <a:ln w="12700">
            <a:solidFill>
              <a:srgbClr val="5D4037"/>
            </a:solidFill>
            <a:prstDash val="solid"/>
          </a:ln>
          <a:effectLst>
            <a:outerShdw sx="100000" sy="100000" kx="0" ky="0" algn="bl" rotWithShape="0" blurRad="88900" dist="25400" dir="5400000">
              <a:srgbClr val="3E2723">
                <a:alpha val="35000"/>
              </a:srgbClr>
            </a:outerShdw>
          </a:effectLst>
        </p:spPr>
      </p:sp>
      <p:sp>
        <p:nvSpPr>
          <p:cNvPr id="8" name="Shape 6"/>
          <p:cNvSpPr/>
          <p:nvPr/>
        </p:nvSpPr>
        <p:spPr>
          <a:xfrm>
            <a:off x="932688" y="4453128"/>
            <a:ext cx="548640" cy="548640"/>
          </a:xfrm>
          <a:prstGeom prst="ellipse">
            <a:avLst/>
          </a:prstGeom>
          <a:solidFill>
            <a:srgbClr val="C67B3B"/>
          </a:solidFill>
          <a:ln/>
        </p:spPr>
      </p:sp>
      <p:pic>
        <p:nvPicPr>
          <p:cNvPr id="9" name="Image 0" descr="preencoded.png">    </p:cNvPr>
          <p:cNvPicPr>
            <a:picLocks noChangeAspect="1"/>
          </p:cNvPicPr>
          <p:nvPr/>
        </p:nvPicPr>
        <p:blipFill>
          <a:blip r:embed="rId1"/>
          <a:stretch>
            <a:fillRect/>
          </a:stretch>
        </p:blipFill>
        <p:spPr>
          <a:xfrm>
            <a:off x="1080821" y="4601261"/>
            <a:ext cx="252374" cy="252374"/>
          </a:xfrm>
          <a:prstGeom prst="rect">
            <a:avLst/>
          </a:prstGeom>
        </p:spPr>
      </p:pic>
      <p:sp>
        <p:nvSpPr>
          <p:cNvPr id="10" name="Text 7"/>
          <p:cNvSpPr/>
          <p:nvPr/>
        </p:nvSpPr>
        <p:spPr>
          <a:xfrm>
            <a:off x="1627632" y="4251960"/>
            <a:ext cx="6126480" cy="960120"/>
          </a:xfrm>
          <a:prstGeom prst="rect">
            <a:avLst/>
          </a:prstGeom>
          <a:noFill/>
          <a:ln/>
        </p:spPr>
        <p:txBody>
          <a:bodyPr wrap="square" lIns="0" tIns="0" rIns="0" bIns="0" rtlCol="0" anchor="ctr"/>
          <a:lstStyle/>
          <a:p>
            <a:pPr indent="0" marL="0">
              <a:buNone/>
            </a:pPr>
            <a:r>
              <a:rPr lang="en-US" sz="1250" b="1" dirty="0">
                <a:solidFill>
                  <a:srgbClr val="F0C89A"/>
                </a:solidFill>
                <a:latin typeface="Calibri" pitchFamily="34" charset="0"/>
                <a:ea typeface="Calibri" pitchFamily="34" charset="-122"/>
                <a:cs typeface="Calibri" pitchFamily="34" charset="-120"/>
              </a:rPr>
              <a:t>EQUIPO:  </a:t>
            </a:r>
            <a:pPr indent="0" marL="0">
              <a:buNone/>
            </a:pPr>
            <a:r>
              <a:rPr lang="en-US" sz="1250" dirty="0">
                <a:solidFill>
                  <a:srgbClr val="FFFFFF"/>
                </a:solidFill>
                <a:latin typeface="Calibri" pitchFamily="34" charset="0"/>
                <a:ea typeface="Calibri" pitchFamily="34" charset="-122"/>
                <a:cs typeface="Calibri" pitchFamily="34" charset="-120"/>
              </a:rPr>
              <a:t>Alumno 1 · Alumno 2 · Alumno 3 · Alumno 4 · Alumno 5</a:t>
            </a:r>
            <a:endParaRPr lang="en-US" sz="1250" dirty="0"/>
          </a:p>
          <a:p>
            <a:pPr indent="0" marL="0">
              <a:buNone/>
            </a:pPr>
            <a:r>
              <a:rPr lang="en-US" sz="1000" i="1" dirty="0">
                <a:solidFill>
                  <a:srgbClr val="D7C4A8"/>
                </a:solidFill>
                <a:latin typeface="Calibri" pitchFamily="34" charset="0"/>
                <a:ea typeface="Calibri" pitchFamily="34" charset="-122"/>
                <a:cs typeface="Calibri" pitchFamily="34" charset="-120"/>
              </a:rPr>
              <a:t>(cambien esta línea por sus nombres)</a:t>
            </a:r>
            <a:endParaRPr lang="en-US" sz="1250" dirty="0"/>
          </a:p>
        </p:txBody>
      </p:sp>
      <p:sp>
        <p:nvSpPr>
          <p:cNvPr id="11" name="Text 8"/>
          <p:cNvSpPr/>
          <p:nvPr/>
        </p:nvSpPr>
        <p:spPr>
          <a:xfrm>
            <a:off x="731520" y="5989320"/>
            <a:ext cx="7315200" cy="365760"/>
          </a:xfrm>
          <a:prstGeom prst="rect">
            <a:avLst/>
          </a:prstGeom>
          <a:noFill/>
          <a:ln/>
        </p:spPr>
        <p:txBody>
          <a:bodyPr wrap="square" lIns="0" tIns="0" rIns="0" bIns="0" rtlCol="0" anchor="ctr"/>
          <a:lstStyle/>
          <a:p>
            <a:pPr indent="0" marL="0">
              <a:buNone/>
            </a:pPr>
            <a:r>
              <a:rPr lang="en-US" sz="1100" dirty="0">
                <a:solidFill>
                  <a:srgbClr val="8D6E63"/>
                </a:solidFill>
                <a:latin typeface="Calibri" pitchFamily="34" charset="0"/>
                <a:ea typeface="Calibri" pitchFamily="34" charset="-122"/>
                <a:cs typeface="Calibri" pitchFamily="34" charset="-120"/>
              </a:rPr>
              <a:t>Bitácora de Investigación  ·  Criterio A.i  ·  Filtro C.R.A.A.P.  ·  2026</a:t>
            </a:r>
            <a:endParaRPr lang="en-US" sz="1100" dirty="0"/>
          </a:p>
        </p:txBody>
      </p:sp>
      <p:sp>
        <p:nvSpPr>
          <p:cNvPr id="12" name="Shape 9"/>
          <p:cNvSpPr/>
          <p:nvPr/>
        </p:nvSpPr>
        <p:spPr>
          <a:xfrm>
            <a:off x="9006840" y="2148840"/>
            <a:ext cx="1828800" cy="1828800"/>
          </a:xfrm>
          <a:prstGeom prst="ellipse">
            <a:avLst/>
          </a:prstGeom>
          <a:solidFill>
            <a:srgbClr val="C67B3B"/>
          </a:solidFill>
          <a:ln/>
        </p:spPr>
      </p:sp>
      <p:pic>
        <p:nvPicPr>
          <p:cNvPr id="13" name="Image 1" descr="preencoded.png">    </p:cNvPr>
          <p:cNvPicPr>
            <a:picLocks noChangeAspect="1"/>
          </p:cNvPicPr>
          <p:nvPr/>
        </p:nvPicPr>
        <p:blipFill>
          <a:blip r:embed="rId2"/>
          <a:stretch>
            <a:fillRect/>
          </a:stretch>
        </p:blipFill>
        <p:spPr>
          <a:xfrm>
            <a:off x="9500616" y="2642616"/>
            <a:ext cx="841248" cy="841248"/>
          </a:xfrm>
          <a:prstGeom prst="rect">
            <a:avLst/>
          </a:prstGeom>
        </p:spPr>
      </p:pic>
      <p:sp>
        <p:nvSpPr>
          <p:cNvPr id="14" name="Shape 10"/>
          <p:cNvSpPr/>
          <p:nvPr/>
        </p:nvSpPr>
        <p:spPr>
          <a:xfrm>
            <a:off x="8412480" y="1417320"/>
            <a:ext cx="566928" cy="566928"/>
          </a:xfrm>
          <a:prstGeom prst="ellipse">
            <a:avLst/>
          </a:prstGeom>
          <a:solidFill>
            <a:srgbClr val="5D4037"/>
          </a:solidFill>
          <a:ln/>
        </p:spPr>
      </p:sp>
      <p:pic>
        <p:nvPicPr>
          <p:cNvPr id="15" name="Image 2" descr="preencoded.png">    </p:cNvPr>
          <p:cNvPicPr>
            <a:picLocks noChangeAspect="1"/>
          </p:cNvPicPr>
          <p:nvPr/>
        </p:nvPicPr>
        <p:blipFill>
          <a:blip r:embed="rId3"/>
          <a:stretch>
            <a:fillRect/>
          </a:stretch>
        </p:blipFill>
        <p:spPr>
          <a:xfrm>
            <a:off x="8565551" y="1570391"/>
            <a:ext cx="260787" cy="260787"/>
          </a:xfrm>
          <a:prstGeom prst="rect">
            <a:avLst/>
          </a:prstGeom>
        </p:spPr>
      </p:pic>
      <p:sp>
        <p:nvSpPr>
          <p:cNvPr id="16" name="Shape 11"/>
          <p:cNvSpPr/>
          <p:nvPr/>
        </p:nvSpPr>
        <p:spPr>
          <a:xfrm>
            <a:off x="10927080" y="1645920"/>
            <a:ext cx="566928" cy="566928"/>
          </a:xfrm>
          <a:prstGeom prst="ellipse">
            <a:avLst/>
          </a:prstGeom>
          <a:solidFill>
            <a:srgbClr val="8D6E63"/>
          </a:solidFill>
          <a:ln/>
        </p:spPr>
      </p:sp>
      <p:pic>
        <p:nvPicPr>
          <p:cNvPr id="17" name="Image 3" descr="preencoded.png">    </p:cNvPr>
          <p:cNvPicPr>
            <a:picLocks noChangeAspect="1"/>
          </p:cNvPicPr>
          <p:nvPr/>
        </p:nvPicPr>
        <p:blipFill>
          <a:blip r:embed="rId4"/>
          <a:stretch>
            <a:fillRect/>
          </a:stretch>
        </p:blipFill>
        <p:spPr>
          <a:xfrm>
            <a:off x="11080151" y="1798991"/>
            <a:ext cx="260787" cy="260787"/>
          </a:xfrm>
          <a:prstGeom prst="rect">
            <a:avLst/>
          </a:prstGeom>
        </p:spPr>
      </p:pic>
      <p:sp>
        <p:nvSpPr>
          <p:cNvPr id="18" name="Shape 12"/>
          <p:cNvSpPr/>
          <p:nvPr/>
        </p:nvSpPr>
        <p:spPr>
          <a:xfrm>
            <a:off x="8503920" y="4069080"/>
            <a:ext cx="566928" cy="566928"/>
          </a:xfrm>
          <a:prstGeom prst="ellipse">
            <a:avLst/>
          </a:prstGeom>
          <a:solidFill>
            <a:srgbClr val="8D6E63"/>
          </a:solidFill>
          <a:ln/>
        </p:spPr>
      </p:sp>
      <p:pic>
        <p:nvPicPr>
          <p:cNvPr id="19" name="Image 4" descr="preencoded.png">    </p:cNvPr>
          <p:cNvPicPr>
            <a:picLocks noChangeAspect="1"/>
          </p:cNvPicPr>
          <p:nvPr/>
        </p:nvPicPr>
        <p:blipFill>
          <a:blip r:embed="rId5"/>
          <a:stretch>
            <a:fillRect/>
          </a:stretch>
        </p:blipFill>
        <p:spPr>
          <a:xfrm>
            <a:off x="8656991" y="4222151"/>
            <a:ext cx="260787" cy="260787"/>
          </a:xfrm>
          <a:prstGeom prst="rect">
            <a:avLst/>
          </a:prstGeom>
        </p:spPr>
      </p:pic>
      <p:sp>
        <p:nvSpPr>
          <p:cNvPr id="20" name="Shape 13"/>
          <p:cNvSpPr/>
          <p:nvPr/>
        </p:nvSpPr>
        <p:spPr>
          <a:xfrm>
            <a:off x="11018520" y="3931920"/>
            <a:ext cx="566928" cy="566928"/>
          </a:xfrm>
          <a:prstGeom prst="ellipse">
            <a:avLst/>
          </a:prstGeom>
          <a:solidFill>
            <a:srgbClr val="5D4037"/>
          </a:solidFill>
          <a:ln/>
        </p:spPr>
      </p:sp>
      <p:pic>
        <p:nvPicPr>
          <p:cNvPr id="21" name="Image 5" descr="preencoded.png">    </p:cNvPr>
          <p:cNvPicPr>
            <a:picLocks noChangeAspect="1"/>
          </p:cNvPicPr>
          <p:nvPr/>
        </p:nvPicPr>
        <p:blipFill>
          <a:blip r:embed="rId6"/>
          <a:stretch>
            <a:fillRect/>
          </a:stretch>
        </p:blipFill>
        <p:spPr>
          <a:xfrm>
            <a:off x="11171591" y="4084991"/>
            <a:ext cx="260787" cy="2607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DE0"/>
        </a:solidFill>
      </p:bgPr>
    </p:bg>
    <p:spTree>
      <p:nvGrpSpPr>
        <p:cNvPr id="1" name=""/>
        <p:cNvGrpSpPr/>
        <p:nvPr/>
      </p:nvGrpSpPr>
      <p:grpSpPr>
        <a:xfrm>
          <a:off x="0" y="0"/>
          <a:ext cx="0" cy="0"/>
          <a:chOff x="0" y="0"/>
          <a:chExt cx="0" cy="0"/>
        </a:xfrm>
      </p:grpSpPr>
      <p:sp>
        <p:nvSpPr>
          <p:cNvPr id="2" name="Shape 0"/>
          <p:cNvSpPr/>
          <p:nvPr/>
        </p:nvSpPr>
        <p:spPr>
          <a:xfrm>
            <a:off x="10835640" y="-1051560"/>
            <a:ext cx="2468880" cy="2468880"/>
          </a:xfrm>
          <a:prstGeom prst="ellipse">
            <a:avLst/>
          </a:prstGeom>
          <a:solidFill>
            <a:srgbClr val="D7C4A8">
              <a:alpha val="55000"/>
            </a:srgbClr>
          </a:solidFill>
          <a:ln/>
        </p:spPr>
      </p:sp>
      <p:sp>
        <p:nvSpPr>
          <p:cNvPr id="3" name="Shape 1"/>
          <p:cNvSpPr/>
          <p:nvPr/>
        </p:nvSpPr>
        <p:spPr>
          <a:xfrm>
            <a:off x="-777240" y="5806440"/>
            <a:ext cx="1920240" cy="1920240"/>
          </a:xfrm>
          <a:prstGeom prst="ellipse">
            <a:avLst/>
          </a:prstGeom>
          <a:solidFill>
            <a:srgbClr val="D7C4A8">
              <a:alpha val="45000"/>
            </a:srgbClr>
          </a:solidFill>
          <a:ln/>
        </p:spPr>
      </p:sp>
      <p:sp>
        <p:nvSpPr>
          <p:cNvPr id="4" name="Shape 2"/>
          <p:cNvSpPr/>
          <p:nvPr/>
        </p:nvSpPr>
        <p:spPr>
          <a:xfrm>
            <a:off x="502920" y="274320"/>
            <a:ext cx="566928" cy="566928"/>
          </a:xfrm>
          <a:prstGeom prst="ellipse">
            <a:avLst/>
          </a:prstGeom>
          <a:solidFill>
            <a:srgbClr val="C67B3B"/>
          </a:solidFill>
          <a:ln/>
        </p:spPr>
      </p:sp>
      <p:sp>
        <p:nvSpPr>
          <p:cNvPr id="5" name="Text 3"/>
          <p:cNvSpPr/>
          <p:nvPr/>
        </p:nvSpPr>
        <p:spPr>
          <a:xfrm>
            <a:off x="502920" y="2743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Text 4"/>
          <p:cNvSpPr/>
          <p:nvPr/>
        </p:nvSpPr>
        <p:spPr>
          <a:xfrm>
            <a:off x="1225296" y="274320"/>
            <a:ext cx="10058400" cy="566928"/>
          </a:xfrm>
          <a:prstGeom prst="rect">
            <a:avLst/>
          </a:prstGeom>
          <a:noFill/>
          <a:ln/>
        </p:spPr>
        <p:txBody>
          <a:bodyPr wrap="square" lIns="0" tIns="0" rIns="0" bIns="0" rtlCol="0" anchor="ctr"/>
          <a:lstStyle/>
          <a:p>
            <a:pPr indent="0" marL="0">
              <a:buNone/>
            </a:pPr>
            <a:r>
              <a:rPr lang="en-US" sz="1300" b="1" spc="200" kern="0" dirty="0">
                <a:solidFill>
                  <a:srgbClr val="4E342E"/>
                </a:solidFill>
                <a:latin typeface="Calibri" pitchFamily="34" charset="0"/>
                <a:ea typeface="Calibri" pitchFamily="34" charset="-122"/>
                <a:cs typeface="Calibri" pitchFamily="34" charset="-120"/>
              </a:rPr>
              <a:t>ALUMNO 1</a:t>
            </a:r>
            <a:pPr indent="0" marL="0">
              <a:buNone/>
            </a:pPr>
            <a:r>
              <a:rPr lang="en-US" sz="1300" b="1" spc="200" kern="0" dirty="0">
                <a:solidFill>
                  <a:srgbClr val="8D6E63"/>
                </a:solidFill>
                <a:latin typeface="Calibri" pitchFamily="34" charset="0"/>
                <a:ea typeface="Calibri" pitchFamily="34" charset="-122"/>
                <a:cs typeface="Calibri" pitchFamily="34" charset="-120"/>
              </a:rPr>
              <a:t>   ·   INTRODUCCIÓN AL TEMA</a:t>
            </a:r>
            <a:endParaRPr lang="en-US" sz="1300" dirty="0"/>
          </a:p>
        </p:txBody>
      </p:sp>
      <p:sp>
        <p:nvSpPr>
          <p:cNvPr id="7" name="Text 5"/>
          <p:cNvSpPr/>
          <p:nvPr/>
        </p:nvSpPr>
        <p:spPr>
          <a:xfrm>
            <a:off x="502920" y="868680"/>
            <a:ext cx="11183112" cy="548640"/>
          </a:xfrm>
          <a:prstGeom prst="rect">
            <a:avLst/>
          </a:prstGeom>
          <a:noFill/>
          <a:ln/>
        </p:spPr>
        <p:txBody>
          <a:bodyPr wrap="square" lIns="0" tIns="0" rIns="0" bIns="0" rtlCol="0" anchor="ctr"/>
          <a:lstStyle/>
          <a:p>
            <a:pPr indent="0" marL="0">
              <a:buNone/>
            </a:pPr>
            <a:r>
              <a:rPr lang="en-US" sz="2800" b="1" dirty="0">
                <a:solidFill>
                  <a:srgbClr val="4E342E"/>
                </a:solidFill>
                <a:latin typeface="Cambria" pitchFamily="34" charset="0"/>
                <a:ea typeface="Cambria" pitchFamily="34" charset="-122"/>
                <a:cs typeface="Cambria" pitchFamily="34" charset="-120"/>
              </a:rPr>
              <a:t>¿Qué es la IA y cuándo se convierte en un problema?</a:t>
            </a:r>
            <a:endParaRPr lang="en-US" sz="2800" dirty="0"/>
          </a:p>
        </p:txBody>
      </p:sp>
      <p:sp>
        <p:nvSpPr>
          <p:cNvPr id="8" name="Shape 6"/>
          <p:cNvSpPr/>
          <p:nvPr/>
        </p:nvSpPr>
        <p:spPr>
          <a:xfrm>
            <a:off x="502920" y="1490472"/>
            <a:ext cx="11183112" cy="932688"/>
          </a:xfrm>
          <a:prstGeom prst="roundRect">
            <a:avLst>
              <a:gd name="adj" fmla="val 8824"/>
            </a:avLst>
          </a:prstGeom>
          <a:solidFill>
            <a:srgbClr val="FFFDF8"/>
          </a:solidFill>
          <a:ln w="9525">
            <a:solidFill>
              <a:srgbClr val="E3D5C3"/>
            </a:solidFill>
            <a:prstDash val="solid"/>
          </a:ln>
          <a:effectLst>
            <a:outerShdw sx="100000" sy="100000" kx="0" ky="0" algn="bl" rotWithShape="0" blurRad="76200" dist="25400" dir="5400000">
              <a:srgbClr val="8D6E63">
                <a:alpha val="25000"/>
              </a:srgbClr>
            </a:outerShdw>
          </a:effectLst>
        </p:spPr>
      </p:sp>
      <p:sp>
        <p:nvSpPr>
          <p:cNvPr id="9" name="Shape 7"/>
          <p:cNvSpPr/>
          <p:nvPr/>
        </p:nvSpPr>
        <p:spPr>
          <a:xfrm>
            <a:off x="722376" y="1682496"/>
            <a:ext cx="548640" cy="548640"/>
          </a:xfrm>
          <a:prstGeom prst="ellipse">
            <a:avLst/>
          </a:prstGeom>
          <a:solidFill>
            <a:srgbClr val="4E342E"/>
          </a:solidFill>
          <a:ln/>
        </p:spPr>
      </p:sp>
      <p:pic>
        <p:nvPicPr>
          <p:cNvPr id="10" name="Image 0" descr="preencoded.png">    </p:cNvPr>
          <p:cNvPicPr>
            <a:picLocks noChangeAspect="1"/>
          </p:cNvPicPr>
          <p:nvPr/>
        </p:nvPicPr>
        <p:blipFill>
          <a:blip r:embed="rId1"/>
          <a:stretch>
            <a:fillRect/>
          </a:stretch>
        </p:blipFill>
        <p:spPr>
          <a:xfrm>
            <a:off x="870509" y="1830629"/>
            <a:ext cx="252374" cy="252374"/>
          </a:xfrm>
          <a:prstGeom prst="rect">
            <a:avLst/>
          </a:prstGeom>
        </p:spPr>
      </p:pic>
      <p:sp>
        <p:nvSpPr>
          <p:cNvPr id="11" name="Text 8"/>
          <p:cNvSpPr/>
          <p:nvPr/>
        </p:nvSpPr>
        <p:spPr>
          <a:xfrm>
            <a:off x="1444752" y="1581912"/>
            <a:ext cx="9966960" cy="256032"/>
          </a:xfrm>
          <a:prstGeom prst="rect">
            <a:avLst/>
          </a:prstGeom>
          <a:noFill/>
          <a:ln/>
        </p:spPr>
        <p:txBody>
          <a:bodyPr wrap="square" lIns="0" tIns="0" rIns="0" bIns="0" rtlCol="0" anchor="ctr"/>
          <a:lstStyle/>
          <a:p>
            <a:pPr indent="0" marL="0">
              <a:buNone/>
            </a:pPr>
            <a:r>
              <a:rPr lang="en-US" sz="950" b="1" spc="300" kern="0" dirty="0">
                <a:solidFill>
                  <a:srgbClr val="C67B3B"/>
                </a:solidFill>
                <a:latin typeface="Calibri" pitchFamily="34" charset="0"/>
                <a:ea typeface="Calibri" pitchFamily="34" charset="-122"/>
                <a:cs typeface="Calibri" pitchFamily="34" charset="-120"/>
              </a:rPr>
              <a:t>PREGUNTA GANCHO · ASÍ EMPIEZA SU PARTE</a:t>
            </a:r>
            <a:endParaRPr lang="en-US" sz="950" dirty="0"/>
          </a:p>
        </p:txBody>
      </p:sp>
      <p:sp>
        <p:nvSpPr>
          <p:cNvPr id="12" name="Text 9"/>
          <p:cNvSpPr/>
          <p:nvPr/>
        </p:nvSpPr>
        <p:spPr>
          <a:xfrm>
            <a:off x="1444752" y="1828800"/>
            <a:ext cx="10012680" cy="548640"/>
          </a:xfrm>
          <a:prstGeom prst="rect">
            <a:avLst/>
          </a:prstGeom>
          <a:noFill/>
          <a:ln/>
        </p:spPr>
        <p:txBody>
          <a:bodyPr wrap="square" lIns="0" tIns="0" rIns="0" bIns="0" rtlCol="0" anchor="t"/>
          <a:lstStyle/>
          <a:p>
            <a:pPr indent="0" marL="0">
              <a:buNone/>
            </a:pPr>
            <a:r>
              <a:rPr lang="en-US" sz="1400" b="1" i="1" dirty="0">
                <a:solidFill>
                  <a:srgbClr val="4E342E"/>
                </a:solidFill>
                <a:latin typeface="Calibri" pitchFamily="34" charset="0"/>
                <a:ea typeface="Calibri" pitchFamily="34" charset="-122"/>
                <a:cs typeface="Calibri" pitchFamily="34" charset="-120"/>
              </a:rPr>
              <a:t>“Levanten la mano los que usaron IA esta semana… ¡casi todos! ¿Y sabían que esa misma IA también puede usarse para engañarnos?”</a:t>
            </a:r>
            <a:endParaRPr lang="en-US" sz="1400" dirty="0"/>
          </a:p>
        </p:txBody>
      </p:sp>
      <p:sp>
        <p:nvSpPr>
          <p:cNvPr id="13" name="Shape 10"/>
          <p:cNvSpPr/>
          <p:nvPr/>
        </p:nvSpPr>
        <p:spPr>
          <a:xfrm>
            <a:off x="502920" y="2606040"/>
            <a:ext cx="5394960" cy="1371600"/>
          </a:xfrm>
          <a:prstGeom prst="roundRect">
            <a:avLst>
              <a:gd name="adj" fmla="val 6000"/>
            </a:avLst>
          </a:prstGeom>
          <a:solidFill>
            <a:srgbClr val="FFFFFF"/>
          </a:solidFill>
          <a:ln w="9525">
            <a:solidFill>
              <a:srgbClr val="E3D5C3"/>
            </a:solidFill>
            <a:prstDash val="solid"/>
          </a:ln>
          <a:effectLst>
            <a:outerShdw sx="100000" sy="100000" kx="0" ky="0" algn="bl" rotWithShape="0" blurRad="76200" dist="25400" dir="5400000">
              <a:srgbClr val="8D6E63">
                <a:alpha val="25000"/>
              </a:srgbClr>
            </a:outerShdw>
          </a:effectLst>
        </p:spPr>
      </p:sp>
      <p:sp>
        <p:nvSpPr>
          <p:cNvPr id="14" name="Shape 11"/>
          <p:cNvSpPr/>
          <p:nvPr/>
        </p:nvSpPr>
        <p:spPr>
          <a:xfrm>
            <a:off x="704088" y="2788920"/>
            <a:ext cx="502920" cy="502920"/>
          </a:xfrm>
          <a:prstGeom prst="ellipse">
            <a:avLst/>
          </a:prstGeom>
          <a:solidFill>
            <a:srgbClr val="C67B3B"/>
          </a:solidFill>
          <a:ln/>
        </p:spPr>
      </p:sp>
      <p:pic>
        <p:nvPicPr>
          <p:cNvPr id="15" name="Image 1" descr="preencoded.png">    </p:cNvPr>
          <p:cNvPicPr>
            <a:picLocks noChangeAspect="1"/>
          </p:cNvPicPr>
          <p:nvPr/>
        </p:nvPicPr>
        <p:blipFill>
          <a:blip r:embed="rId2"/>
          <a:stretch>
            <a:fillRect/>
          </a:stretch>
        </p:blipFill>
        <p:spPr>
          <a:xfrm>
            <a:off x="839876" y="2924708"/>
            <a:ext cx="231343" cy="231343"/>
          </a:xfrm>
          <a:prstGeom prst="rect">
            <a:avLst/>
          </a:prstGeom>
        </p:spPr>
      </p:pic>
      <p:sp>
        <p:nvSpPr>
          <p:cNvPr id="16" name="Text 12"/>
          <p:cNvSpPr/>
          <p:nvPr/>
        </p:nvSpPr>
        <p:spPr>
          <a:xfrm>
            <a:off x="1344168" y="2715768"/>
            <a:ext cx="4434840" cy="274320"/>
          </a:xfrm>
          <a:prstGeom prst="rect">
            <a:avLst/>
          </a:prstGeom>
          <a:noFill/>
          <a:ln/>
        </p:spPr>
        <p:txBody>
          <a:bodyPr wrap="square" lIns="0" tIns="0" rIns="0" bIns="0" rtlCol="0" anchor="ctr"/>
          <a:lstStyle/>
          <a:p>
            <a:pPr indent="0" marL="0">
              <a:buNone/>
            </a:pPr>
            <a:r>
              <a:rPr lang="en-US" sz="1450" b="1" dirty="0">
                <a:solidFill>
                  <a:srgbClr val="4E342E"/>
                </a:solidFill>
                <a:latin typeface="Calibri" pitchFamily="34" charset="0"/>
                <a:ea typeface="Calibri" pitchFamily="34" charset="-122"/>
                <a:cs typeface="Calibri" pitchFamily="34" charset="-120"/>
              </a:rPr>
              <a:t>¿Qué es la inteligencia artificial?</a:t>
            </a:r>
            <a:endParaRPr lang="en-US" sz="1450" dirty="0"/>
          </a:p>
        </p:txBody>
      </p:sp>
      <p:sp>
        <p:nvSpPr>
          <p:cNvPr id="17" name="Text 13"/>
          <p:cNvSpPr/>
          <p:nvPr/>
        </p:nvSpPr>
        <p:spPr>
          <a:xfrm>
            <a:off x="1344168" y="2999232"/>
            <a:ext cx="4389120" cy="868680"/>
          </a:xfrm>
          <a:prstGeom prst="rect">
            <a:avLst/>
          </a:prstGeom>
          <a:noFill/>
          <a:ln/>
        </p:spPr>
        <p:txBody>
          <a:bodyPr wrap="square" lIns="0" tIns="0" rIns="0" bIns="0" rtlCol="0" anchor="ctr"/>
          <a:lstStyle/>
          <a:p>
            <a:pPr indent="0" marL="0">
              <a:buNone/>
            </a:pPr>
            <a:r>
              <a:rPr lang="en-US" sz="1150" dirty="0">
                <a:solidFill>
                  <a:srgbClr val="4E342E"/>
                </a:solidFill>
                <a:latin typeface="Calibri" pitchFamily="34" charset="0"/>
                <a:ea typeface="Calibri" pitchFamily="34" charset="-122"/>
                <a:cs typeface="Calibri" pitchFamily="34" charset="-120"/>
              </a:rPr>
              <a:t>Es una tecnología que aprende de millones de datos para escribir, dibujar y responder casi como una persona. Está en tu celular, en tus juegos y en tus chats.</a:t>
            </a:r>
            <a:endParaRPr lang="en-US" sz="1150" dirty="0"/>
          </a:p>
        </p:txBody>
      </p:sp>
      <p:sp>
        <p:nvSpPr>
          <p:cNvPr id="18" name="Shape 14"/>
          <p:cNvSpPr/>
          <p:nvPr/>
        </p:nvSpPr>
        <p:spPr>
          <a:xfrm>
            <a:off x="502920" y="4114800"/>
            <a:ext cx="5394960" cy="1371600"/>
          </a:xfrm>
          <a:prstGeom prst="roundRect">
            <a:avLst>
              <a:gd name="adj" fmla="val 6000"/>
            </a:avLst>
          </a:prstGeom>
          <a:solidFill>
            <a:srgbClr val="FFFFFF"/>
          </a:solidFill>
          <a:ln w="9525">
            <a:solidFill>
              <a:srgbClr val="E3D5C3"/>
            </a:solidFill>
            <a:prstDash val="solid"/>
          </a:ln>
          <a:effectLst>
            <a:outerShdw sx="100000" sy="100000" kx="0" ky="0" algn="bl" rotWithShape="0" blurRad="76200" dist="25400" dir="5400000">
              <a:srgbClr val="8D6E63">
                <a:alpha val="25000"/>
              </a:srgbClr>
            </a:outerShdw>
          </a:effectLst>
        </p:spPr>
      </p:sp>
      <p:sp>
        <p:nvSpPr>
          <p:cNvPr id="19" name="Shape 15"/>
          <p:cNvSpPr/>
          <p:nvPr/>
        </p:nvSpPr>
        <p:spPr>
          <a:xfrm>
            <a:off x="704088" y="4297680"/>
            <a:ext cx="502920" cy="502920"/>
          </a:xfrm>
          <a:prstGeom prst="ellipse">
            <a:avLst/>
          </a:prstGeom>
          <a:solidFill>
            <a:srgbClr val="8D6E63"/>
          </a:solidFill>
          <a:ln/>
        </p:spPr>
      </p:sp>
      <p:pic>
        <p:nvPicPr>
          <p:cNvPr id="20" name="Image 2" descr="preencoded.png">    </p:cNvPr>
          <p:cNvPicPr>
            <a:picLocks noChangeAspect="1"/>
          </p:cNvPicPr>
          <p:nvPr/>
        </p:nvPicPr>
        <p:blipFill>
          <a:blip r:embed="rId3"/>
          <a:stretch>
            <a:fillRect/>
          </a:stretch>
        </p:blipFill>
        <p:spPr>
          <a:xfrm>
            <a:off x="839876" y="4433468"/>
            <a:ext cx="231343" cy="231343"/>
          </a:xfrm>
          <a:prstGeom prst="rect">
            <a:avLst/>
          </a:prstGeom>
        </p:spPr>
      </p:pic>
      <p:sp>
        <p:nvSpPr>
          <p:cNvPr id="21" name="Text 16"/>
          <p:cNvSpPr/>
          <p:nvPr/>
        </p:nvSpPr>
        <p:spPr>
          <a:xfrm>
            <a:off x="1344168" y="4224528"/>
            <a:ext cx="4434840" cy="274320"/>
          </a:xfrm>
          <a:prstGeom prst="rect">
            <a:avLst/>
          </a:prstGeom>
          <a:noFill/>
          <a:ln/>
        </p:spPr>
        <p:txBody>
          <a:bodyPr wrap="square" lIns="0" tIns="0" rIns="0" bIns="0" rtlCol="0" anchor="ctr"/>
          <a:lstStyle/>
          <a:p>
            <a:pPr indent="0" marL="0">
              <a:buNone/>
            </a:pPr>
            <a:r>
              <a:rPr lang="en-US" sz="1450" b="1" dirty="0">
                <a:solidFill>
                  <a:srgbClr val="4E342E"/>
                </a:solidFill>
                <a:latin typeface="Calibri" pitchFamily="34" charset="0"/>
                <a:ea typeface="Calibri" pitchFamily="34" charset="-122"/>
                <a:cs typeface="Calibri" pitchFamily="34" charset="-120"/>
              </a:rPr>
              <a:t>¿Cuándo se vuelve un problema?</a:t>
            </a:r>
            <a:endParaRPr lang="en-US" sz="1450" dirty="0"/>
          </a:p>
        </p:txBody>
      </p:sp>
      <p:sp>
        <p:nvSpPr>
          <p:cNvPr id="22" name="Text 17"/>
          <p:cNvSpPr/>
          <p:nvPr/>
        </p:nvSpPr>
        <p:spPr>
          <a:xfrm>
            <a:off x="1344168" y="4507992"/>
            <a:ext cx="4389120" cy="868680"/>
          </a:xfrm>
          <a:prstGeom prst="rect">
            <a:avLst/>
          </a:prstGeom>
          <a:noFill/>
          <a:ln/>
        </p:spPr>
        <p:txBody>
          <a:bodyPr wrap="square" lIns="0" tIns="0" rIns="0" bIns="0" rtlCol="0" anchor="ctr"/>
          <a:lstStyle/>
          <a:p>
            <a:pPr indent="0" marL="0">
              <a:buNone/>
            </a:pPr>
            <a:r>
              <a:rPr lang="en-US" sz="1150" dirty="0">
                <a:solidFill>
                  <a:srgbClr val="4E342E"/>
                </a:solidFill>
                <a:latin typeface="Calibri" pitchFamily="34" charset="0"/>
                <a:ea typeface="Calibri" pitchFamily="34" charset="-122"/>
                <a:cs typeface="Calibri" pitchFamily="34" charset="-120"/>
              </a:rPr>
              <a:t>Cuando se usa para engañar, copiar o hacer daño. La herramienta no es mala: el problema aparece cuando las personas la usamos mal.</a:t>
            </a:r>
            <a:endParaRPr lang="en-US" sz="1150" dirty="0"/>
          </a:p>
        </p:txBody>
      </p:sp>
      <p:sp>
        <p:nvSpPr>
          <p:cNvPr id="23" name="Shape 18"/>
          <p:cNvSpPr/>
          <p:nvPr/>
        </p:nvSpPr>
        <p:spPr>
          <a:xfrm>
            <a:off x="6172200" y="2606040"/>
            <a:ext cx="5513832" cy="2880360"/>
          </a:xfrm>
          <a:prstGeom prst="roundRect">
            <a:avLst>
              <a:gd name="adj" fmla="val 2857"/>
            </a:avLst>
          </a:prstGeom>
          <a:solidFill>
            <a:srgbClr val="FFFFFF"/>
          </a:solidFill>
          <a:ln w="9525">
            <a:solidFill>
              <a:srgbClr val="E3D5C3"/>
            </a:solidFill>
            <a:prstDash val="solid"/>
          </a:ln>
          <a:effectLst>
            <a:outerShdw sx="100000" sy="100000" kx="0" ky="0" algn="bl" rotWithShape="0" blurRad="76200" dist="25400" dir="5400000">
              <a:srgbClr val="8D6E63">
                <a:alpha val="25000"/>
              </a:srgbClr>
            </a:outerShdw>
          </a:effectLst>
        </p:spPr>
      </p:sp>
      <p:sp>
        <p:nvSpPr>
          <p:cNvPr id="24" name="Text 19"/>
          <p:cNvSpPr/>
          <p:nvPr/>
        </p:nvSpPr>
        <p:spPr>
          <a:xfrm>
            <a:off x="6400800" y="2715768"/>
            <a:ext cx="5029200" cy="292608"/>
          </a:xfrm>
          <a:prstGeom prst="rect">
            <a:avLst/>
          </a:prstGeom>
          <a:noFill/>
          <a:ln/>
        </p:spPr>
        <p:txBody>
          <a:bodyPr wrap="square" lIns="0" tIns="0" rIns="0" bIns="0" rtlCol="0" anchor="ctr"/>
          <a:lstStyle/>
          <a:p>
            <a:pPr indent="0" marL="0">
              <a:buNone/>
            </a:pPr>
            <a:r>
              <a:rPr lang="en-US" sz="1450" b="1" dirty="0">
                <a:solidFill>
                  <a:srgbClr val="4E342E"/>
                </a:solidFill>
                <a:latin typeface="Calibri" pitchFamily="34" charset="0"/>
                <a:ea typeface="Calibri" pitchFamily="34" charset="-122"/>
                <a:cs typeface="Calibri" pitchFamily="34" charset="-120"/>
              </a:rPr>
              <a:t>Las 4 caras del mal uso</a:t>
            </a:r>
            <a:endParaRPr lang="en-US" sz="1450" dirty="0"/>
          </a:p>
        </p:txBody>
      </p:sp>
      <p:sp>
        <p:nvSpPr>
          <p:cNvPr id="25" name="Shape 20"/>
          <p:cNvSpPr/>
          <p:nvPr/>
        </p:nvSpPr>
        <p:spPr>
          <a:xfrm>
            <a:off x="6400800" y="3090672"/>
            <a:ext cx="420624" cy="420624"/>
          </a:xfrm>
          <a:prstGeom prst="ellipse">
            <a:avLst/>
          </a:prstGeom>
          <a:solidFill>
            <a:srgbClr val="5D4037"/>
          </a:solidFill>
          <a:ln/>
        </p:spPr>
      </p:sp>
      <p:pic>
        <p:nvPicPr>
          <p:cNvPr id="26" name="Image 3" descr="preencoded.png">    </p:cNvPr>
          <p:cNvPicPr>
            <a:picLocks noChangeAspect="1"/>
          </p:cNvPicPr>
          <p:nvPr/>
        </p:nvPicPr>
        <p:blipFill>
          <a:blip r:embed="rId4"/>
          <a:stretch>
            <a:fillRect/>
          </a:stretch>
        </p:blipFill>
        <p:spPr>
          <a:xfrm>
            <a:off x="6514368" y="3204240"/>
            <a:ext cx="193487" cy="193487"/>
          </a:xfrm>
          <a:prstGeom prst="rect">
            <a:avLst/>
          </a:prstGeom>
        </p:spPr>
      </p:pic>
      <p:sp>
        <p:nvSpPr>
          <p:cNvPr id="27" name="Text 21"/>
          <p:cNvSpPr/>
          <p:nvPr/>
        </p:nvSpPr>
        <p:spPr>
          <a:xfrm>
            <a:off x="6967728" y="3026664"/>
            <a:ext cx="4526280" cy="548640"/>
          </a:xfrm>
          <a:prstGeom prst="rect">
            <a:avLst/>
          </a:prstGeom>
          <a:noFill/>
          <a:ln/>
        </p:spPr>
        <p:txBody>
          <a:bodyPr wrap="square" lIns="0" tIns="0" rIns="0" bIns="0" rtlCol="0" anchor="ctr"/>
          <a:lstStyle/>
          <a:p>
            <a:pPr indent="0" marL="0">
              <a:buNone/>
            </a:pPr>
            <a:r>
              <a:rPr lang="en-US" sz="1150" b="1" dirty="0">
                <a:solidFill>
                  <a:srgbClr val="C67B3B"/>
                </a:solidFill>
                <a:latin typeface="Calibri" pitchFamily="34" charset="0"/>
                <a:ea typeface="Calibri" pitchFamily="34" charset="-122"/>
                <a:cs typeface="Calibri" pitchFamily="34" charset="-120"/>
              </a:rPr>
              <a:t>Deepfakes: </a:t>
            </a:r>
            <a:pPr indent="0" marL="0">
              <a:buNone/>
            </a:pPr>
            <a:r>
              <a:rPr lang="en-US" sz="1150" dirty="0">
                <a:solidFill>
                  <a:srgbClr val="4E342E"/>
                </a:solidFill>
                <a:latin typeface="Calibri" pitchFamily="34" charset="0"/>
                <a:ea typeface="Calibri" pitchFamily="34" charset="-122"/>
                <a:cs typeface="Calibri" pitchFamily="34" charset="-120"/>
              </a:rPr>
              <a:t>videos y voces falsas que parecen 100 % reales.</a:t>
            </a:r>
            <a:endParaRPr lang="en-US" sz="1150" dirty="0"/>
          </a:p>
        </p:txBody>
      </p:sp>
      <p:sp>
        <p:nvSpPr>
          <p:cNvPr id="28" name="Shape 22"/>
          <p:cNvSpPr/>
          <p:nvPr/>
        </p:nvSpPr>
        <p:spPr>
          <a:xfrm>
            <a:off x="6400800" y="3675888"/>
            <a:ext cx="420624" cy="420624"/>
          </a:xfrm>
          <a:prstGeom prst="ellipse">
            <a:avLst/>
          </a:prstGeom>
          <a:solidFill>
            <a:srgbClr val="5D4037"/>
          </a:solidFill>
          <a:ln/>
        </p:spPr>
      </p:sp>
      <p:pic>
        <p:nvPicPr>
          <p:cNvPr id="29" name="Image 4" descr="preencoded.png">    </p:cNvPr>
          <p:cNvPicPr>
            <a:picLocks noChangeAspect="1"/>
          </p:cNvPicPr>
          <p:nvPr/>
        </p:nvPicPr>
        <p:blipFill>
          <a:blip r:embed="rId5"/>
          <a:stretch>
            <a:fillRect/>
          </a:stretch>
        </p:blipFill>
        <p:spPr>
          <a:xfrm>
            <a:off x="6514368" y="3789456"/>
            <a:ext cx="193487" cy="193487"/>
          </a:xfrm>
          <a:prstGeom prst="rect">
            <a:avLst/>
          </a:prstGeom>
        </p:spPr>
      </p:pic>
      <p:sp>
        <p:nvSpPr>
          <p:cNvPr id="30" name="Text 23"/>
          <p:cNvSpPr/>
          <p:nvPr/>
        </p:nvSpPr>
        <p:spPr>
          <a:xfrm>
            <a:off x="6967728" y="3611880"/>
            <a:ext cx="4526280" cy="548640"/>
          </a:xfrm>
          <a:prstGeom prst="rect">
            <a:avLst/>
          </a:prstGeom>
          <a:noFill/>
          <a:ln/>
        </p:spPr>
        <p:txBody>
          <a:bodyPr wrap="square" lIns="0" tIns="0" rIns="0" bIns="0" rtlCol="0" anchor="ctr"/>
          <a:lstStyle/>
          <a:p>
            <a:pPr indent="0" marL="0">
              <a:buNone/>
            </a:pPr>
            <a:r>
              <a:rPr lang="en-US" sz="1150" b="1" dirty="0">
                <a:solidFill>
                  <a:srgbClr val="C67B3B"/>
                </a:solidFill>
                <a:latin typeface="Calibri" pitchFamily="34" charset="0"/>
                <a:ea typeface="Calibri" pitchFamily="34" charset="-122"/>
                <a:cs typeface="Calibri" pitchFamily="34" charset="-120"/>
              </a:rPr>
              <a:t>Noticias falsas: </a:t>
            </a:r>
            <a:pPr indent="0" marL="0">
              <a:buNone/>
            </a:pPr>
            <a:r>
              <a:rPr lang="en-US" sz="1150" dirty="0">
                <a:solidFill>
                  <a:srgbClr val="4E342E"/>
                </a:solidFill>
                <a:latin typeface="Calibri" pitchFamily="34" charset="0"/>
                <a:ea typeface="Calibri" pitchFamily="34" charset="-122"/>
                <a:cs typeface="Calibri" pitchFamily="34" charset="-120"/>
              </a:rPr>
              <a:t>mentiras que corren más rápido que la verdad.</a:t>
            </a:r>
            <a:endParaRPr lang="en-US" sz="1150" dirty="0"/>
          </a:p>
        </p:txBody>
      </p:sp>
      <p:sp>
        <p:nvSpPr>
          <p:cNvPr id="31" name="Shape 24"/>
          <p:cNvSpPr/>
          <p:nvPr/>
        </p:nvSpPr>
        <p:spPr>
          <a:xfrm>
            <a:off x="6400800" y="4261104"/>
            <a:ext cx="420624" cy="420624"/>
          </a:xfrm>
          <a:prstGeom prst="ellipse">
            <a:avLst/>
          </a:prstGeom>
          <a:solidFill>
            <a:srgbClr val="5D4037"/>
          </a:solidFill>
          <a:ln/>
        </p:spPr>
      </p:sp>
      <p:pic>
        <p:nvPicPr>
          <p:cNvPr id="32" name="Image 5" descr="preencoded.png">    </p:cNvPr>
          <p:cNvPicPr>
            <a:picLocks noChangeAspect="1"/>
          </p:cNvPicPr>
          <p:nvPr/>
        </p:nvPicPr>
        <p:blipFill>
          <a:blip r:embed="rId6"/>
          <a:stretch>
            <a:fillRect/>
          </a:stretch>
        </p:blipFill>
        <p:spPr>
          <a:xfrm>
            <a:off x="6514368" y="4374672"/>
            <a:ext cx="193487" cy="193487"/>
          </a:xfrm>
          <a:prstGeom prst="rect">
            <a:avLst/>
          </a:prstGeom>
        </p:spPr>
      </p:pic>
      <p:sp>
        <p:nvSpPr>
          <p:cNvPr id="33" name="Text 25"/>
          <p:cNvSpPr/>
          <p:nvPr/>
        </p:nvSpPr>
        <p:spPr>
          <a:xfrm>
            <a:off x="6967728" y="4197096"/>
            <a:ext cx="4526280" cy="548640"/>
          </a:xfrm>
          <a:prstGeom prst="rect">
            <a:avLst/>
          </a:prstGeom>
          <a:noFill/>
          <a:ln/>
        </p:spPr>
        <p:txBody>
          <a:bodyPr wrap="square" lIns="0" tIns="0" rIns="0" bIns="0" rtlCol="0" anchor="ctr"/>
          <a:lstStyle/>
          <a:p>
            <a:pPr indent="0" marL="0">
              <a:buNone/>
            </a:pPr>
            <a:r>
              <a:rPr lang="en-US" sz="1150" b="1" dirty="0">
                <a:solidFill>
                  <a:srgbClr val="C67B3B"/>
                </a:solidFill>
                <a:latin typeface="Calibri" pitchFamily="34" charset="0"/>
                <a:ea typeface="Calibri" pitchFamily="34" charset="-122"/>
                <a:cs typeface="Calibri" pitchFamily="34" charset="-120"/>
              </a:rPr>
              <a:t>Plagio escolar: </a:t>
            </a:r>
            <a:pPr indent="0" marL="0">
              <a:buNone/>
            </a:pPr>
            <a:r>
              <a:rPr lang="en-US" sz="1150" dirty="0">
                <a:solidFill>
                  <a:srgbClr val="4E342E"/>
                </a:solidFill>
                <a:latin typeface="Calibri" pitchFamily="34" charset="0"/>
                <a:ea typeface="Calibri" pitchFamily="34" charset="-122"/>
                <a:cs typeface="Calibri" pitchFamily="34" charset="-120"/>
              </a:rPr>
              <a:t>presentar lo que hizo la IA como si fuera tuyo.</a:t>
            </a:r>
            <a:endParaRPr lang="en-US" sz="1150" dirty="0"/>
          </a:p>
        </p:txBody>
      </p:sp>
      <p:sp>
        <p:nvSpPr>
          <p:cNvPr id="34" name="Shape 26"/>
          <p:cNvSpPr/>
          <p:nvPr/>
        </p:nvSpPr>
        <p:spPr>
          <a:xfrm>
            <a:off x="6400800" y="4846320"/>
            <a:ext cx="420624" cy="420624"/>
          </a:xfrm>
          <a:prstGeom prst="ellipse">
            <a:avLst/>
          </a:prstGeom>
          <a:solidFill>
            <a:srgbClr val="5D4037"/>
          </a:solidFill>
          <a:ln/>
        </p:spPr>
      </p:sp>
      <p:pic>
        <p:nvPicPr>
          <p:cNvPr id="35" name="Image 6" descr="preencoded.png">    </p:cNvPr>
          <p:cNvPicPr>
            <a:picLocks noChangeAspect="1"/>
          </p:cNvPicPr>
          <p:nvPr/>
        </p:nvPicPr>
        <p:blipFill>
          <a:blip r:embed="rId7"/>
          <a:stretch>
            <a:fillRect/>
          </a:stretch>
        </p:blipFill>
        <p:spPr>
          <a:xfrm>
            <a:off x="6514368" y="4959888"/>
            <a:ext cx="193487" cy="193487"/>
          </a:xfrm>
          <a:prstGeom prst="rect">
            <a:avLst/>
          </a:prstGeom>
        </p:spPr>
      </p:pic>
      <p:sp>
        <p:nvSpPr>
          <p:cNvPr id="36" name="Text 27"/>
          <p:cNvSpPr/>
          <p:nvPr/>
        </p:nvSpPr>
        <p:spPr>
          <a:xfrm>
            <a:off x="6967728" y="4782312"/>
            <a:ext cx="4526280" cy="548640"/>
          </a:xfrm>
          <a:prstGeom prst="rect">
            <a:avLst/>
          </a:prstGeom>
          <a:noFill/>
          <a:ln/>
        </p:spPr>
        <p:txBody>
          <a:bodyPr wrap="square" lIns="0" tIns="0" rIns="0" bIns="0" rtlCol="0" anchor="ctr"/>
          <a:lstStyle/>
          <a:p>
            <a:pPr indent="0" marL="0">
              <a:buNone/>
            </a:pPr>
            <a:r>
              <a:rPr lang="en-US" sz="1150" b="1" dirty="0">
                <a:solidFill>
                  <a:srgbClr val="C67B3B"/>
                </a:solidFill>
                <a:latin typeface="Calibri" pitchFamily="34" charset="0"/>
                <a:ea typeface="Calibri" pitchFamily="34" charset="-122"/>
                <a:cs typeface="Calibri" pitchFamily="34" charset="-120"/>
              </a:rPr>
              <a:t>Estafas: </a:t>
            </a:r>
            <a:pPr indent="0" marL="0">
              <a:buNone/>
            </a:pPr>
            <a:r>
              <a:rPr lang="en-US" sz="1150" dirty="0">
                <a:solidFill>
                  <a:srgbClr val="4E342E"/>
                </a:solidFill>
                <a:latin typeface="Calibri" pitchFamily="34" charset="0"/>
                <a:ea typeface="Calibri" pitchFamily="34" charset="-122"/>
                <a:cs typeface="Calibri" pitchFamily="34" charset="-120"/>
              </a:rPr>
              <a:t>voces clonadas para robar dinero y contraseñas.</a:t>
            </a:r>
            <a:endParaRPr lang="en-US" sz="1150" dirty="0"/>
          </a:p>
        </p:txBody>
      </p:sp>
      <p:sp>
        <p:nvSpPr>
          <p:cNvPr id="37" name="Shape 28"/>
          <p:cNvSpPr/>
          <p:nvPr/>
        </p:nvSpPr>
        <p:spPr>
          <a:xfrm>
            <a:off x="502920" y="5650992"/>
            <a:ext cx="11183112" cy="804672"/>
          </a:xfrm>
          <a:prstGeom prst="roundRect">
            <a:avLst>
              <a:gd name="adj" fmla="val 10227"/>
            </a:avLst>
          </a:prstGeom>
          <a:solidFill>
            <a:srgbClr val="5D4037"/>
          </a:solidFill>
          <a:ln w="12700">
            <a:solidFill>
              <a:srgbClr val="5D4037"/>
            </a:solidFill>
            <a:prstDash val="solid"/>
          </a:ln>
          <a:effectLst>
            <a:outerShdw sx="100000" sy="100000" kx="0" ky="0" algn="bl" rotWithShape="0" blurRad="88900" dist="25400" dir="5400000">
              <a:srgbClr val="3E2723">
                <a:alpha val="35000"/>
              </a:srgbClr>
            </a:outerShdw>
          </a:effectLst>
        </p:spPr>
      </p:sp>
      <p:sp>
        <p:nvSpPr>
          <p:cNvPr id="38" name="Shape 29"/>
          <p:cNvSpPr/>
          <p:nvPr/>
        </p:nvSpPr>
        <p:spPr>
          <a:xfrm>
            <a:off x="722376" y="5797296"/>
            <a:ext cx="502920" cy="502920"/>
          </a:xfrm>
          <a:prstGeom prst="ellipse">
            <a:avLst/>
          </a:prstGeom>
          <a:solidFill>
            <a:srgbClr val="C67B3B"/>
          </a:solidFill>
          <a:ln/>
        </p:spPr>
      </p:sp>
      <p:pic>
        <p:nvPicPr>
          <p:cNvPr id="39" name="Image 7" descr="preencoded.png">    </p:cNvPr>
          <p:cNvPicPr>
            <a:picLocks noChangeAspect="1"/>
          </p:cNvPicPr>
          <p:nvPr/>
        </p:nvPicPr>
        <p:blipFill>
          <a:blip r:embed="rId8"/>
          <a:stretch>
            <a:fillRect/>
          </a:stretch>
        </p:blipFill>
        <p:spPr>
          <a:xfrm>
            <a:off x="858164" y="5933084"/>
            <a:ext cx="231343" cy="231343"/>
          </a:xfrm>
          <a:prstGeom prst="rect">
            <a:avLst/>
          </a:prstGeom>
        </p:spPr>
      </p:pic>
      <p:sp>
        <p:nvSpPr>
          <p:cNvPr id="40" name="Text 30"/>
          <p:cNvSpPr/>
          <p:nvPr/>
        </p:nvSpPr>
        <p:spPr>
          <a:xfrm>
            <a:off x="1389888" y="5650992"/>
            <a:ext cx="10104120" cy="804672"/>
          </a:xfrm>
          <a:prstGeom prst="rect">
            <a:avLst/>
          </a:prstGeom>
          <a:noFill/>
          <a:ln/>
        </p:spPr>
        <p:txBody>
          <a:bodyPr wrap="square" lIns="0" tIns="0" rIns="0" bIns="0" rtlCol="0" anchor="ctr"/>
          <a:lstStyle/>
          <a:p>
            <a:pPr indent="0" marL="0">
              <a:buNone/>
            </a:pPr>
            <a:r>
              <a:rPr lang="en-US" sz="1250" b="1" dirty="0">
                <a:solidFill>
                  <a:srgbClr val="F0C89A"/>
                </a:solidFill>
                <a:latin typeface="Calibri" pitchFamily="34" charset="0"/>
                <a:ea typeface="Calibri" pitchFamily="34" charset="-122"/>
                <a:cs typeface="Calibri" pitchFamily="34" charset="-120"/>
              </a:rPr>
              <a:t>NUESTRO OBJETIVO (CRITERIO A.i):  </a:t>
            </a:r>
            <a:pPr indent="0" marL="0">
              <a:buNone/>
            </a:pPr>
            <a:r>
              <a:rPr lang="en-US" sz="1250" dirty="0">
                <a:solidFill>
                  <a:srgbClr val="FFFFFF"/>
                </a:solidFill>
                <a:latin typeface="Calibri" pitchFamily="34" charset="0"/>
                <a:ea typeface="Calibri" pitchFamily="34" charset="-122"/>
                <a:cs typeface="Calibri" pitchFamily="34" charset="-120"/>
              </a:rPr>
              <a:t>explicar y justificar por qué el mal uso de la IA nos afecta a los estudiantes y a la sociedad… y por qué urge investigarlo.</a:t>
            </a:r>
            <a:endParaRPr lang="en-US" sz="1250" dirty="0"/>
          </a:p>
        </p:txBody>
      </p:sp>
      <p:sp>
        <p:nvSpPr>
          <p:cNvPr id="41" name="Text 31"/>
          <p:cNvSpPr/>
          <p:nvPr/>
        </p:nvSpPr>
        <p:spPr>
          <a:xfrm>
            <a:off x="11247120" y="6446520"/>
            <a:ext cx="777240" cy="292608"/>
          </a:xfrm>
          <a:prstGeom prst="rect">
            <a:avLst/>
          </a:prstGeom>
          <a:noFill/>
          <a:ln/>
        </p:spPr>
        <p:txBody>
          <a:bodyPr wrap="square" lIns="0" tIns="0" rIns="0" bIns="0" rtlCol="0" anchor="ctr"/>
          <a:lstStyle/>
          <a:p>
            <a:pPr algn="r" indent="0" marL="0">
              <a:buNone/>
            </a:pPr>
            <a:r>
              <a:rPr lang="en-US" sz="900" dirty="0">
                <a:solidFill>
                  <a:srgbClr val="8D6E63"/>
                </a:solidFill>
                <a:latin typeface="Calibri" pitchFamily="34" charset="0"/>
                <a:ea typeface="Calibri" pitchFamily="34" charset="-122"/>
                <a:cs typeface="Calibri" pitchFamily="34" charset="-120"/>
              </a:rPr>
              <a:t>2 / 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DE0"/>
        </a:solidFill>
      </p:bgPr>
    </p:bg>
    <p:spTree>
      <p:nvGrpSpPr>
        <p:cNvPr id="1" name=""/>
        <p:cNvGrpSpPr/>
        <p:nvPr/>
      </p:nvGrpSpPr>
      <p:grpSpPr>
        <a:xfrm>
          <a:off x="0" y="0"/>
          <a:ext cx="0" cy="0"/>
          <a:chOff x="0" y="0"/>
          <a:chExt cx="0" cy="0"/>
        </a:xfrm>
      </p:grpSpPr>
      <p:sp>
        <p:nvSpPr>
          <p:cNvPr id="2" name="Shape 0"/>
          <p:cNvSpPr/>
          <p:nvPr/>
        </p:nvSpPr>
        <p:spPr>
          <a:xfrm>
            <a:off x="10835640" y="-1051560"/>
            <a:ext cx="2468880" cy="2468880"/>
          </a:xfrm>
          <a:prstGeom prst="ellipse">
            <a:avLst/>
          </a:prstGeom>
          <a:solidFill>
            <a:srgbClr val="D7C4A8">
              <a:alpha val="55000"/>
            </a:srgbClr>
          </a:solidFill>
          <a:ln/>
        </p:spPr>
      </p:sp>
      <p:sp>
        <p:nvSpPr>
          <p:cNvPr id="3" name="Shape 1"/>
          <p:cNvSpPr/>
          <p:nvPr/>
        </p:nvSpPr>
        <p:spPr>
          <a:xfrm>
            <a:off x="-777240" y="5806440"/>
            <a:ext cx="1920240" cy="1920240"/>
          </a:xfrm>
          <a:prstGeom prst="ellipse">
            <a:avLst/>
          </a:prstGeom>
          <a:solidFill>
            <a:srgbClr val="D7C4A8">
              <a:alpha val="45000"/>
            </a:srgbClr>
          </a:solidFill>
          <a:ln/>
        </p:spPr>
      </p:sp>
      <p:sp>
        <p:nvSpPr>
          <p:cNvPr id="4" name="Shape 2"/>
          <p:cNvSpPr/>
          <p:nvPr/>
        </p:nvSpPr>
        <p:spPr>
          <a:xfrm>
            <a:off x="502920" y="274320"/>
            <a:ext cx="566928" cy="566928"/>
          </a:xfrm>
          <a:prstGeom prst="ellipse">
            <a:avLst/>
          </a:prstGeom>
          <a:solidFill>
            <a:srgbClr val="C67B3B"/>
          </a:solidFill>
          <a:ln/>
        </p:spPr>
      </p:sp>
      <p:sp>
        <p:nvSpPr>
          <p:cNvPr id="5" name="Text 3"/>
          <p:cNvSpPr/>
          <p:nvPr/>
        </p:nvSpPr>
        <p:spPr>
          <a:xfrm>
            <a:off x="502920" y="2743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6" name="Text 4"/>
          <p:cNvSpPr/>
          <p:nvPr/>
        </p:nvSpPr>
        <p:spPr>
          <a:xfrm>
            <a:off x="1225296" y="274320"/>
            <a:ext cx="10058400" cy="566928"/>
          </a:xfrm>
          <a:prstGeom prst="rect">
            <a:avLst/>
          </a:prstGeom>
          <a:noFill/>
          <a:ln/>
        </p:spPr>
        <p:txBody>
          <a:bodyPr wrap="square" lIns="0" tIns="0" rIns="0" bIns="0" rtlCol="0" anchor="ctr"/>
          <a:lstStyle/>
          <a:p>
            <a:pPr indent="0" marL="0">
              <a:buNone/>
            </a:pPr>
            <a:r>
              <a:rPr lang="en-US" sz="1300" b="1" spc="200" kern="0" dirty="0">
                <a:solidFill>
                  <a:srgbClr val="4E342E"/>
                </a:solidFill>
                <a:latin typeface="Calibri" pitchFamily="34" charset="0"/>
                <a:ea typeface="Calibri" pitchFamily="34" charset="-122"/>
                <a:cs typeface="Calibri" pitchFamily="34" charset="-120"/>
              </a:rPr>
              <a:t>ALUMNO 2</a:t>
            </a:r>
            <a:pPr indent="0" marL="0">
              <a:buNone/>
            </a:pPr>
            <a:r>
              <a:rPr lang="en-US" sz="1300" b="1" spc="200" kern="0" dirty="0">
                <a:solidFill>
                  <a:srgbClr val="8D6E63"/>
                </a:solidFill>
                <a:latin typeface="Calibri" pitchFamily="34" charset="0"/>
                <a:ea typeface="Calibri" pitchFamily="34" charset="-122"/>
                <a:cs typeface="Calibri" pitchFamily="34" charset="-120"/>
              </a:rPr>
              <a:t>   ·   DEEPFAKES Y NOTICIAS FALSAS</a:t>
            </a:r>
            <a:endParaRPr lang="en-US" sz="1300" dirty="0"/>
          </a:p>
        </p:txBody>
      </p:sp>
      <p:sp>
        <p:nvSpPr>
          <p:cNvPr id="7" name="Text 5"/>
          <p:cNvSpPr/>
          <p:nvPr/>
        </p:nvSpPr>
        <p:spPr>
          <a:xfrm>
            <a:off x="502920" y="868680"/>
            <a:ext cx="11183112" cy="548640"/>
          </a:xfrm>
          <a:prstGeom prst="rect">
            <a:avLst/>
          </a:prstGeom>
          <a:noFill/>
          <a:ln/>
        </p:spPr>
        <p:txBody>
          <a:bodyPr wrap="square" lIns="0" tIns="0" rIns="0" bIns="0" rtlCol="0" anchor="ctr"/>
          <a:lstStyle/>
          <a:p>
            <a:pPr indent="0" marL="0">
              <a:buNone/>
            </a:pPr>
            <a:r>
              <a:rPr lang="en-US" sz="2800" b="1" dirty="0">
                <a:solidFill>
                  <a:srgbClr val="4E342E"/>
                </a:solidFill>
                <a:latin typeface="Cambria" pitchFamily="34" charset="0"/>
                <a:ea typeface="Cambria" pitchFamily="34" charset="-122"/>
                <a:cs typeface="Cambria" pitchFamily="34" charset="-120"/>
              </a:rPr>
              <a:t>Cuando ver ya no es creer</a:t>
            </a:r>
            <a:endParaRPr lang="en-US" sz="2800" dirty="0"/>
          </a:p>
        </p:txBody>
      </p:sp>
      <p:sp>
        <p:nvSpPr>
          <p:cNvPr id="8" name="Shape 6"/>
          <p:cNvSpPr/>
          <p:nvPr/>
        </p:nvSpPr>
        <p:spPr>
          <a:xfrm>
            <a:off x="502920" y="1490472"/>
            <a:ext cx="11183112" cy="932688"/>
          </a:xfrm>
          <a:prstGeom prst="roundRect">
            <a:avLst>
              <a:gd name="adj" fmla="val 8824"/>
            </a:avLst>
          </a:prstGeom>
          <a:solidFill>
            <a:srgbClr val="FFFDF8"/>
          </a:solidFill>
          <a:ln w="9525">
            <a:solidFill>
              <a:srgbClr val="E3D5C3"/>
            </a:solidFill>
            <a:prstDash val="solid"/>
          </a:ln>
          <a:effectLst>
            <a:outerShdw sx="100000" sy="100000" kx="0" ky="0" algn="bl" rotWithShape="0" blurRad="76200" dist="25400" dir="5400000">
              <a:srgbClr val="8D6E63">
                <a:alpha val="25000"/>
              </a:srgbClr>
            </a:outerShdw>
          </a:effectLst>
        </p:spPr>
      </p:sp>
      <p:sp>
        <p:nvSpPr>
          <p:cNvPr id="9" name="Shape 7"/>
          <p:cNvSpPr/>
          <p:nvPr/>
        </p:nvSpPr>
        <p:spPr>
          <a:xfrm>
            <a:off x="722376" y="1682496"/>
            <a:ext cx="548640" cy="548640"/>
          </a:xfrm>
          <a:prstGeom prst="ellipse">
            <a:avLst/>
          </a:prstGeom>
          <a:solidFill>
            <a:srgbClr val="4E342E"/>
          </a:solidFill>
          <a:ln/>
        </p:spPr>
      </p:sp>
      <p:pic>
        <p:nvPicPr>
          <p:cNvPr id="10" name="Image 0" descr="preencoded.png">    </p:cNvPr>
          <p:cNvPicPr>
            <a:picLocks noChangeAspect="1"/>
          </p:cNvPicPr>
          <p:nvPr/>
        </p:nvPicPr>
        <p:blipFill>
          <a:blip r:embed="rId1"/>
          <a:stretch>
            <a:fillRect/>
          </a:stretch>
        </p:blipFill>
        <p:spPr>
          <a:xfrm>
            <a:off x="870509" y="1830629"/>
            <a:ext cx="252374" cy="252374"/>
          </a:xfrm>
          <a:prstGeom prst="rect">
            <a:avLst/>
          </a:prstGeom>
        </p:spPr>
      </p:pic>
      <p:sp>
        <p:nvSpPr>
          <p:cNvPr id="11" name="Text 8"/>
          <p:cNvSpPr/>
          <p:nvPr/>
        </p:nvSpPr>
        <p:spPr>
          <a:xfrm>
            <a:off x="1444752" y="1581912"/>
            <a:ext cx="9966960" cy="256032"/>
          </a:xfrm>
          <a:prstGeom prst="rect">
            <a:avLst/>
          </a:prstGeom>
          <a:noFill/>
          <a:ln/>
        </p:spPr>
        <p:txBody>
          <a:bodyPr wrap="square" lIns="0" tIns="0" rIns="0" bIns="0" rtlCol="0" anchor="ctr"/>
          <a:lstStyle/>
          <a:p>
            <a:pPr indent="0" marL="0">
              <a:buNone/>
            </a:pPr>
            <a:r>
              <a:rPr lang="en-US" sz="950" b="1" spc="300" kern="0" dirty="0">
                <a:solidFill>
                  <a:srgbClr val="C67B3B"/>
                </a:solidFill>
                <a:latin typeface="Calibri" pitchFamily="34" charset="0"/>
                <a:ea typeface="Calibri" pitchFamily="34" charset="-122"/>
                <a:cs typeface="Calibri" pitchFamily="34" charset="-120"/>
              </a:rPr>
              <a:t>PREGUNTA GANCHO · ASÍ EMPIEZA SU PARTE</a:t>
            </a:r>
            <a:endParaRPr lang="en-US" sz="950" dirty="0"/>
          </a:p>
        </p:txBody>
      </p:sp>
      <p:sp>
        <p:nvSpPr>
          <p:cNvPr id="12" name="Text 9"/>
          <p:cNvSpPr/>
          <p:nvPr/>
        </p:nvSpPr>
        <p:spPr>
          <a:xfrm>
            <a:off x="1444752" y="1828800"/>
            <a:ext cx="10012680" cy="548640"/>
          </a:xfrm>
          <a:prstGeom prst="rect">
            <a:avLst/>
          </a:prstGeom>
          <a:noFill/>
          <a:ln/>
        </p:spPr>
        <p:txBody>
          <a:bodyPr wrap="square" lIns="0" tIns="0" rIns="0" bIns="0" rtlCol="0" anchor="t"/>
          <a:lstStyle/>
          <a:p>
            <a:pPr indent="0" marL="0">
              <a:buNone/>
            </a:pPr>
            <a:r>
              <a:rPr lang="en-US" sz="1400" b="1" i="1" dirty="0">
                <a:solidFill>
                  <a:srgbClr val="4E342E"/>
                </a:solidFill>
                <a:latin typeface="Calibri" pitchFamily="34" charset="0"/>
                <a:ea typeface="Calibri" pitchFamily="34" charset="-122"/>
                <a:cs typeface="Calibri" pitchFamily="34" charset="-120"/>
              </a:rPr>
              <a:t>“¿Le creerían a un video donde USTEDES dicen algo que jamás dijeron? Hoy, ese video se puede fabricar en minutos.”</a:t>
            </a:r>
            <a:endParaRPr lang="en-US" sz="1400" dirty="0"/>
          </a:p>
        </p:txBody>
      </p:sp>
      <p:sp>
        <p:nvSpPr>
          <p:cNvPr id="13" name="Shape 10"/>
          <p:cNvSpPr/>
          <p:nvPr/>
        </p:nvSpPr>
        <p:spPr>
          <a:xfrm>
            <a:off x="502920" y="2606040"/>
            <a:ext cx="5394960" cy="1874520"/>
          </a:xfrm>
          <a:prstGeom prst="roundRect">
            <a:avLst>
              <a:gd name="adj" fmla="val 4390"/>
            </a:avLst>
          </a:prstGeom>
          <a:solidFill>
            <a:srgbClr val="FFFFFF"/>
          </a:solidFill>
          <a:ln w="9525">
            <a:solidFill>
              <a:srgbClr val="E3D5C3"/>
            </a:solidFill>
            <a:prstDash val="solid"/>
          </a:ln>
          <a:effectLst>
            <a:outerShdw sx="100000" sy="100000" kx="0" ky="0" algn="bl" rotWithShape="0" blurRad="76200" dist="25400" dir="5400000">
              <a:srgbClr val="8D6E63">
                <a:alpha val="25000"/>
              </a:srgbClr>
            </a:outerShdw>
          </a:effectLst>
        </p:spPr>
      </p:sp>
      <p:sp>
        <p:nvSpPr>
          <p:cNvPr id="14" name="Shape 11"/>
          <p:cNvSpPr/>
          <p:nvPr/>
        </p:nvSpPr>
        <p:spPr>
          <a:xfrm>
            <a:off x="704088" y="2788920"/>
            <a:ext cx="502920" cy="502920"/>
          </a:xfrm>
          <a:prstGeom prst="ellipse">
            <a:avLst/>
          </a:prstGeom>
          <a:solidFill>
            <a:srgbClr val="C67B3B"/>
          </a:solidFill>
          <a:ln/>
        </p:spPr>
      </p:sp>
      <p:pic>
        <p:nvPicPr>
          <p:cNvPr id="15" name="Image 1" descr="preencoded.png">    </p:cNvPr>
          <p:cNvPicPr>
            <a:picLocks noChangeAspect="1"/>
          </p:cNvPicPr>
          <p:nvPr/>
        </p:nvPicPr>
        <p:blipFill>
          <a:blip r:embed="rId2"/>
          <a:stretch>
            <a:fillRect/>
          </a:stretch>
        </p:blipFill>
        <p:spPr>
          <a:xfrm>
            <a:off x="839876" y="2924708"/>
            <a:ext cx="231343" cy="231343"/>
          </a:xfrm>
          <a:prstGeom prst="rect">
            <a:avLst/>
          </a:prstGeom>
        </p:spPr>
      </p:pic>
      <p:sp>
        <p:nvSpPr>
          <p:cNvPr id="16" name="Text 12"/>
          <p:cNvSpPr/>
          <p:nvPr/>
        </p:nvSpPr>
        <p:spPr>
          <a:xfrm>
            <a:off x="1344168" y="2715768"/>
            <a:ext cx="4434840" cy="274320"/>
          </a:xfrm>
          <a:prstGeom prst="rect">
            <a:avLst/>
          </a:prstGeom>
          <a:noFill/>
          <a:ln/>
        </p:spPr>
        <p:txBody>
          <a:bodyPr wrap="square" lIns="0" tIns="0" rIns="0" bIns="0" rtlCol="0" anchor="ctr"/>
          <a:lstStyle/>
          <a:p>
            <a:pPr indent="0" marL="0">
              <a:buNone/>
            </a:pPr>
            <a:r>
              <a:rPr lang="en-US" sz="1450" b="1" dirty="0">
                <a:solidFill>
                  <a:srgbClr val="4E342E"/>
                </a:solidFill>
                <a:latin typeface="Calibri" pitchFamily="34" charset="0"/>
                <a:ea typeface="Calibri" pitchFamily="34" charset="-122"/>
                <a:cs typeface="Calibri" pitchFamily="34" charset="-120"/>
              </a:rPr>
              <a:t>Deepfakes: la mentira con tu cara</a:t>
            </a:r>
            <a:endParaRPr lang="en-US" sz="1450" dirty="0"/>
          </a:p>
        </p:txBody>
      </p:sp>
      <p:sp>
        <p:nvSpPr>
          <p:cNvPr id="17" name="Text 13"/>
          <p:cNvSpPr/>
          <p:nvPr/>
        </p:nvSpPr>
        <p:spPr>
          <a:xfrm>
            <a:off x="1344168" y="2999232"/>
            <a:ext cx="4389120" cy="1371600"/>
          </a:xfrm>
          <a:prstGeom prst="rect">
            <a:avLst/>
          </a:prstGeom>
          <a:noFill/>
          <a:ln/>
        </p:spPr>
        <p:txBody>
          <a:bodyPr wrap="square" lIns="0" tIns="0" rIns="0" bIns="0" rtlCol="0" anchor="ctr"/>
          <a:lstStyle/>
          <a:p>
            <a:pPr indent="0" marL="0">
              <a:buNone/>
            </a:pPr>
            <a:r>
              <a:rPr lang="en-US" sz="1150" dirty="0">
                <a:solidFill>
                  <a:srgbClr val="4E342E"/>
                </a:solidFill>
                <a:latin typeface="Calibri" pitchFamily="34" charset="0"/>
                <a:ea typeface="Calibri" pitchFamily="34" charset="-122"/>
                <a:cs typeface="Calibri" pitchFamily="34" charset="-120"/>
              </a:rPr>
              <a:t>Son videos, fotos o audios creados con IA que imitan la cara y la voz de una persona real. Se usan para burlarse, mentir o dañar la reputación de alguien… incluso de un compañero de clase.</a:t>
            </a:r>
            <a:endParaRPr lang="en-US" sz="1150" dirty="0"/>
          </a:p>
        </p:txBody>
      </p:sp>
      <p:sp>
        <p:nvSpPr>
          <p:cNvPr id="18" name="Shape 14"/>
          <p:cNvSpPr/>
          <p:nvPr/>
        </p:nvSpPr>
        <p:spPr>
          <a:xfrm>
            <a:off x="6172200" y="2606040"/>
            <a:ext cx="5513832" cy="1874520"/>
          </a:xfrm>
          <a:prstGeom prst="roundRect">
            <a:avLst>
              <a:gd name="adj" fmla="val 4390"/>
            </a:avLst>
          </a:prstGeom>
          <a:solidFill>
            <a:srgbClr val="FFFFFF"/>
          </a:solidFill>
          <a:ln w="9525">
            <a:solidFill>
              <a:srgbClr val="E3D5C3"/>
            </a:solidFill>
            <a:prstDash val="solid"/>
          </a:ln>
          <a:effectLst>
            <a:outerShdw sx="100000" sy="100000" kx="0" ky="0" algn="bl" rotWithShape="0" blurRad="76200" dist="25400" dir="5400000">
              <a:srgbClr val="8D6E63">
                <a:alpha val="25000"/>
              </a:srgbClr>
            </a:outerShdw>
          </a:effectLst>
        </p:spPr>
      </p:sp>
      <p:sp>
        <p:nvSpPr>
          <p:cNvPr id="19" name="Shape 15"/>
          <p:cNvSpPr/>
          <p:nvPr/>
        </p:nvSpPr>
        <p:spPr>
          <a:xfrm>
            <a:off x="6373368" y="2788920"/>
            <a:ext cx="502920" cy="502920"/>
          </a:xfrm>
          <a:prstGeom prst="ellipse">
            <a:avLst/>
          </a:prstGeom>
          <a:solidFill>
            <a:srgbClr val="8D6E63"/>
          </a:solidFill>
          <a:ln/>
        </p:spPr>
      </p:sp>
      <p:pic>
        <p:nvPicPr>
          <p:cNvPr id="20" name="Image 2" descr="preencoded.png">    </p:cNvPr>
          <p:cNvPicPr>
            <a:picLocks noChangeAspect="1"/>
          </p:cNvPicPr>
          <p:nvPr/>
        </p:nvPicPr>
        <p:blipFill>
          <a:blip r:embed="rId3"/>
          <a:stretch>
            <a:fillRect/>
          </a:stretch>
        </p:blipFill>
        <p:spPr>
          <a:xfrm>
            <a:off x="6509156" y="2924708"/>
            <a:ext cx="231343" cy="231343"/>
          </a:xfrm>
          <a:prstGeom prst="rect">
            <a:avLst/>
          </a:prstGeom>
        </p:spPr>
      </p:pic>
      <p:sp>
        <p:nvSpPr>
          <p:cNvPr id="21" name="Text 16"/>
          <p:cNvSpPr/>
          <p:nvPr/>
        </p:nvSpPr>
        <p:spPr>
          <a:xfrm>
            <a:off x="7013448" y="2715768"/>
            <a:ext cx="4480560" cy="274320"/>
          </a:xfrm>
          <a:prstGeom prst="rect">
            <a:avLst/>
          </a:prstGeom>
          <a:noFill/>
          <a:ln/>
        </p:spPr>
        <p:txBody>
          <a:bodyPr wrap="square" lIns="0" tIns="0" rIns="0" bIns="0" rtlCol="0" anchor="ctr"/>
          <a:lstStyle/>
          <a:p>
            <a:pPr indent="0" marL="0">
              <a:buNone/>
            </a:pPr>
            <a:r>
              <a:rPr lang="en-US" sz="1450" b="1" dirty="0">
                <a:solidFill>
                  <a:srgbClr val="4E342E"/>
                </a:solidFill>
                <a:latin typeface="Calibri" pitchFamily="34" charset="0"/>
                <a:ea typeface="Calibri" pitchFamily="34" charset="-122"/>
                <a:cs typeface="Calibri" pitchFamily="34" charset="-120"/>
              </a:rPr>
              <a:t>Noticias falsas en cadena</a:t>
            </a:r>
            <a:endParaRPr lang="en-US" sz="1450" dirty="0"/>
          </a:p>
        </p:txBody>
      </p:sp>
      <p:sp>
        <p:nvSpPr>
          <p:cNvPr id="22" name="Text 17"/>
          <p:cNvSpPr/>
          <p:nvPr/>
        </p:nvSpPr>
        <p:spPr>
          <a:xfrm>
            <a:off x="7013448" y="2999232"/>
            <a:ext cx="4526280" cy="1371600"/>
          </a:xfrm>
          <a:prstGeom prst="rect">
            <a:avLst/>
          </a:prstGeom>
          <a:noFill/>
          <a:ln/>
        </p:spPr>
        <p:txBody>
          <a:bodyPr wrap="square" lIns="0" tIns="0" rIns="0" bIns="0" rtlCol="0" anchor="ctr"/>
          <a:lstStyle/>
          <a:p>
            <a:pPr indent="0" marL="0">
              <a:buNone/>
            </a:pPr>
            <a:r>
              <a:rPr lang="en-US" sz="1150" dirty="0">
                <a:solidFill>
                  <a:srgbClr val="4E342E"/>
                </a:solidFill>
                <a:latin typeface="Calibri" pitchFamily="34" charset="0"/>
                <a:ea typeface="Calibri" pitchFamily="34" charset="-122"/>
                <a:cs typeface="Calibri" pitchFamily="34" charset="-120"/>
              </a:rPr>
              <a:t>La IA puede escribir miles de noticias inventadas en segundos, con fotos y todo. Parecen reales, la gente las comparte sin verificar y terminan confundiendo a millones de personas.</a:t>
            </a:r>
            <a:endParaRPr lang="en-US" sz="1150" dirty="0"/>
          </a:p>
        </p:txBody>
      </p:sp>
      <p:sp>
        <p:nvSpPr>
          <p:cNvPr id="23" name="Shape 18"/>
          <p:cNvSpPr/>
          <p:nvPr/>
        </p:nvSpPr>
        <p:spPr>
          <a:xfrm>
            <a:off x="502920" y="4709160"/>
            <a:ext cx="6903720" cy="1280160"/>
          </a:xfrm>
          <a:prstGeom prst="roundRect">
            <a:avLst>
              <a:gd name="adj" fmla="val 6429"/>
            </a:avLst>
          </a:prstGeom>
          <a:solidFill>
            <a:srgbClr val="5D4037"/>
          </a:solidFill>
          <a:ln w="12700">
            <a:solidFill>
              <a:srgbClr val="5D4037"/>
            </a:solidFill>
            <a:prstDash val="solid"/>
          </a:ln>
          <a:effectLst>
            <a:outerShdw sx="100000" sy="100000" kx="0" ky="0" algn="bl" rotWithShape="0" blurRad="88900" dist="25400" dir="5400000">
              <a:srgbClr val="3E2723">
                <a:alpha val="35000"/>
              </a:srgbClr>
            </a:outerShdw>
          </a:effectLst>
        </p:spPr>
      </p:sp>
      <p:sp>
        <p:nvSpPr>
          <p:cNvPr id="24" name="Text 19"/>
          <p:cNvSpPr/>
          <p:nvPr/>
        </p:nvSpPr>
        <p:spPr>
          <a:xfrm>
            <a:off x="777240" y="4846320"/>
            <a:ext cx="6309360" cy="274320"/>
          </a:xfrm>
          <a:prstGeom prst="rect">
            <a:avLst/>
          </a:prstGeom>
          <a:noFill/>
          <a:ln/>
        </p:spPr>
        <p:txBody>
          <a:bodyPr wrap="square" lIns="0" tIns="0" rIns="0" bIns="0" rtlCol="0" anchor="ctr"/>
          <a:lstStyle/>
          <a:p>
            <a:pPr indent="0" marL="0">
              <a:buNone/>
            </a:pPr>
            <a:r>
              <a:rPr lang="en-US" sz="1050" b="1" spc="300" kern="0" dirty="0">
                <a:solidFill>
                  <a:srgbClr val="F0C89A"/>
                </a:solidFill>
                <a:latin typeface="Calibri" pitchFamily="34" charset="0"/>
                <a:ea typeface="Calibri" pitchFamily="34" charset="-122"/>
                <a:cs typeface="Calibri" pitchFamily="34" charset="-120"/>
              </a:rPr>
              <a:t>EL DAÑO MÁS GRANDE</a:t>
            </a:r>
            <a:endParaRPr lang="en-US" sz="1050" dirty="0"/>
          </a:p>
        </p:txBody>
      </p:sp>
      <p:sp>
        <p:nvSpPr>
          <p:cNvPr id="25" name="Text 20"/>
          <p:cNvSpPr/>
          <p:nvPr/>
        </p:nvSpPr>
        <p:spPr>
          <a:xfrm>
            <a:off x="777240" y="5120640"/>
            <a:ext cx="6400800" cy="7772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Perdemos la confianza: si todo puede ser falso,</a:t>
            </a:r>
            <a:endParaRPr lang="en-US" sz="1600" dirty="0"/>
          </a:p>
          <a:p>
            <a:pPr indent="0" marL="0">
              <a:buNone/>
            </a:pPr>
            <a:r>
              <a:rPr lang="en-US" sz="1600" b="1" dirty="0">
                <a:solidFill>
                  <a:srgbClr val="FFFFFF"/>
                </a:solidFill>
                <a:latin typeface="Cambria" pitchFamily="34" charset="0"/>
                <a:ea typeface="Cambria" pitchFamily="34" charset="-122"/>
                <a:cs typeface="Cambria" pitchFamily="34" charset="-120"/>
              </a:rPr>
              <a:t>ya no sabemos qué creer.</a:t>
            </a:r>
            <a:endParaRPr lang="en-US" sz="1600" dirty="0"/>
          </a:p>
        </p:txBody>
      </p:sp>
      <p:sp>
        <p:nvSpPr>
          <p:cNvPr id="26" name="Shape 21"/>
          <p:cNvSpPr/>
          <p:nvPr/>
        </p:nvSpPr>
        <p:spPr>
          <a:xfrm>
            <a:off x="7589520" y="4709160"/>
            <a:ext cx="4096512" cy="1280160"/>
          </a:xfrm>
          <a:prstGeom prst="roundRect">
            <a:avLst>
              <a:gd name="adj" fmla="val 6429"/>
            </a:avLst>
          </a:prstGeom>
          <a:solidFill>
            <a:srgbClr val="FFFDF8"/>
          </a:solidFill>
          <a:ln w="9525">
            <a:solidFill>
              <a:srgbClr val="E3D5C3"/>
            </a:solidFill>
            <a:prstDash val="solid"/>
          </a:ln>
          <a:effectLst>
            <a:outerShdw sx="100000" sy="100000" kx="0" ky="0" algn="bl" rotWithShape="0" blurRad="76200" dist="25400" dir="5400000">
              <a:srgbClr val="8D6E63">
                <a:alpha val="25000"/>
              </a:srgbClr>
            </a:outerShdw>
          </a:effectLst>
        </p:spPr>
      </p:sp>
      <p:sp>
        <p:nvSpPr>
          <p:cNvPr id="27" name="Shape 22"/>
          <p:cNvSpPr/>
          <p:nvPr/>
        </p:nvSpPr>
        <p:spPr>
          <a:xfrm>
            <a:off x="7790688" y="4864608"/>
            <a:ext cx="384048" cy="384048"/>
          </a:xfrm>
          <a:prstGeom prst="ellipse">
            <a:avLst/>
          </a:prstGeom>
          <a:solidFill>
            <a:srgbClr val="C67B3B"/>
          </a:solidFill>
          <a:ln/>
        </p:spPr>
      </p:sp>
      <p:pic>
        <p:nvPicPr>
          <p:cNvPr id="28" name="Image 3" descr="preencoded.png">    </p:cNvPr>
          <p:cNvPicPr>
            <a:picLocks noChangeAspect="1"/>
          </p:cNvPicPr>
          <p:nvPr/>
        </p:nvPicPr>
        <p:blipFill>
          <a:blip r:embed="rId4"/>
          <a:stretch>
            <a:fillRect/>
          </a:stretch>
        </p:blipFill>
        <p:spPr>
          <a:xfrm>
            <a:off x="7894381" y="4968301"/>
            <a:ext cx="176662" cy="176662"/>
          </a:xfrm>
          <a:prstGeom prst="rect">
            <a:avLst/>
          </a:prstGeom>
        </p:spPr>
      </p:pic>
      <p:sp>
        <p:nvSpPr>
          <p:cNvPr id="29" name="Text 23"/>
          <p:cNvSpPr/>
          <p:nvPr/>
        </p:nvSpPr>
        <p:spPr>
          <a:xfrm>
            <a:off x="8321040" y="4864608"/>
            <a:ext cx="3246120" cy="365760"/>
          </a:xfrm>
          <a:prstGeom prst="rect">
            <a:avLst/>
          </a:prstGeom>
          <a:noFill/>
          <a:ln/>
        </p:spPr>
        <p:txBody>
          <a:bodyPr wrap="square" lIns="0" tIns="0" rIns="0" bIns="0" rtlCol="0" anchor="ctr"/>
          <a:lstStyle/>
          <a:p>
            <a:pPr indent="0" marL="0">
              <a:buNone/>
            </a:pPr>
            <a:r>
              <a:rPr lang="en-US" sz="900" b="1" spc="200" kern="0" dirty="0">
                <a:solidFill>
                  <a:srgbClr val="C67B3B"/>
                </a:solidFill>
                <a:latin typeface="Calibri" pitchFamily="34" charset="0"/>
                <a:ea typeface="Calibri" pitchFamily="34" charset="-122"/>
                <a:cs typeface="Calibri" pitchFamily="34" charset="-120"/>
              </a:rPr>
              <a:t>PREGUNTA DE INDAGACIÓN N.º 1</a:t>
            </a:r>
            <a:endParaRPr lang="en-US" sz="900" dirty="0"/>
          </a:p>
        </p:txBody>
      </p:sp>
      <p:sp>
        <p:nvSpPr>
          <p:cNvPr id="30" name="Text 24"/>
          <p:cNvSpPr/>
          <p:nvPr/>
        </p:nvSpPr>
        <p:spPr>
          <a:xfrm>
            <a:off x="7790688" y="5285232"/>
            <a:ext cx="3703320" cy="640080"/>
          </a:xfrm>
          <a:prstGeom prst="rect">
            <a:avLst/>
          </a:prstGeom>
          <a:noFill/>
          <a:ln/>
        </p:spPr>
        <p:txBody>
          <a:bodyPr wrap="square" lIns="0" tIns="0" rIns="0" bIns="0" rtlCol="0" anchor="ctr"/>
          <a:lstStyle/>
          <a:p>
            <a:pPr indent="0" marL="0">
              <a:buNone/>
            </a:pPr>
            <a:r>
              <a:rPr lang="en-US" sz="1050" i="1" dirty="0">
                <a:solidFill>
                  <a:srgbClr val="4E342E"/>
                </a:solidFill>
                <a:latin typeface="Calibri" pitchFamily="34" charset="0"/>
                <a:ea typeface="Calibri" pitchFamily="34" charset="-122"/>
                <a:cs typeface="Calibri" pitchFamily="34" charset="-120"/>
              </a:rPr>
              <a:t>¿Cómo afecta el mal uso de la IA a la confianza de las personas en la información de internet?</a:t>
            </a:r>
            <a:endParaRPr lang="en-US" sz="1050" dirty="0"/>
          </a:p>
        </p:txBody>
      </p:sp>
      <p:sp>
        <p:nvSpPr>
          <p:cNvPr id="31" name="Text 25"/>
          <p:cNvSpPr/>
          <p:nvPr/>
        </p:nvSpPr>
        <p:spPr>
          <a:xfrm>
            <a:off x="11247120" y="6446520"/>
            <a:ext cx="777240" cy="292608"/>
          </a:xfrm>
          <a:prstGeom prst="rect">
            <a:avLst/>
          </a:prstGeom>
          <a:noFill/>
          <a:ln/>
        </p:spPr>
        <p:txBody>
          <a:bodyPr wrap="square" lIns="0" tIns="0" rIns="0" bIns="0" rtlCol="0" anchor="ctr"/>
          <a:lstStyle/>
          <a:p>
            <a:pPr algn="r" indent="0" marL="0">
              <a:buNone/>
            </a:pPr>
            <a:r>
              <a:rPr lang="en-US" sz="900" dirty="0">
                <a:solidFill>
                  <a:srgbClr val="8D6E63"/>
                </a:solidFill>
                <a:latin typeface="Calibri" pitchFamily="34" charset="0"/>
                <a:ea typeface="Calibri" pitchFamily="34" charset="-122"/>
                <a:cs typeface="Calibri" pitchFamily="34" charset="-120"/>
              </a:rPr>
              <a:t>3 / 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DE0"/>
        </a:solidFill>
      </p:bgPr>
    </p:bg>
    <p:spTree>
      <p:nvGrpSpPr>
        <p:cNvPr id="1" name=""/>
        <p:cNvGrpSpPr/>
        <p:nvPr/>
      </p:nvGrpSpPr>
      <p:grpSpPr>
        <a:xfrm>
          <a:off x="0" y="0"/>
          <a:ext cx="0" cy="0"/>
          <a:chOff x="0" y="0"/>
          <a:chExt cx="0" cy="0"/>
        </a:xfrm>
      </p:grpSpPr>
      <p:sp>
        <p:nvSpPr>
          <p:cNvPr id="2" name="Shape 0"/>
          <p:cNvSpPr/>
          <p:nvPr/>
        </p:nvSpPr>
        <p:spPr>
          <a:xfrm>
            <a:off x="10835640" y="-1051560"/>
            <a:ext cx="2468880" cy="2468880"/>
          </a:xfrm>
          <a:prstGeom prst="ellipse">
            <a:avLst/>
          </a:prstGeom>
          <a:solidFill>
            <a:srgbClr val="D7C4A8">
              <a:alpha val="55000"/>
            </a:srgbClr>
          </a:solidFill>
          <a:ln/>
        </p:spPr>
      </p:sp>
      <p:sp>
        <p:nvSpPr>
          <p:cNvPr id="3" name="Shape 1"/>
          <p:cNvSpPr/>
          <p:nvPr/>
        </p:nvSpPr>
        <p:spPr>
          <a:xfrm>
            <a:off x="-777240" y="5806440"/>
            <a:ext cx="1920240" cy="1920240"/>
          </a:xfrm>
          <a:prstGeom prst="ellipse">
            <a:avLst/>
          </a:prstGeom>
          <a:solidFill>
            <a:srgbClr val="D7C4A8">
              <a:alpha val="45000"/>
            </a:srgbClr>
          </a:solidFill>
          <a:ln/>
        </p:spPr>
      </p:sp>
      <p:sp>
        <p:nvSpPr>
          <p:cNvPr id="4" name="Shape 2"/>
          <p:cNvSpPr/>
          <p:nvPr/>
        </p:nvSpPr>
        <p:spPr>
          <a:xfrm>
            <a:off x="502920" y="274320"/>
            <a:ext cx="566928" cy="566928"/>
          </a:xfrm>
          <a:prstGeom prst="ellipse">
            <a:avLst/>
          </a:prstGeom>
          <a:solidFill>
            <a:srgbClr val="C67B3B"/>
          </a:solidFill>
          <a:ln/>
        </p:spPr>
      </p:sp>
      <p:sp>
        <p:nvSpPr>
          <p:cNvPr id="5" name="Text 3"/>
          <p:cNvSpPr/>
          <p:nvPr/>
        </p:nvSpPr>
        <p:spPr>
          <a:xfrm>
            <a:off x="502920" y="2743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6" name="Text 4"/>
          <p:cNvSpPr/>
          <p:nvPr/>
        </p:nvSpPr>
        <p:spPr>
          <a:xfrm>
            <a:off x="1225296" y="274320"/>
            <a:ext cx="10058400" cy="566928"/>
          </a:xfrm>
          <a:prstGeom prst="rect">
            <a:avLst/>
          </a:prstGeom>
          <a:noFill/>
          <a:ln/>
        </p:spPr>
        <p:txBody>
          <a:bodyPr wrap="square" lIns="0" tIns="0" rIns="0" bIns="0" rtlCol="0" anchor="ctr"/>
          <a:lstStyle/>
          <a:p>
            <a:pPr indent="0" marL="0">
              <a:buNone/>
            </a:pPr>
            <a:r>
              <a:rPr lang="en-US" sz="1300" b="1" spc="200" kern="0" dirty="0">
                <a:solidFill>
                  <a:srgbClr val="4E342E"/>
                </a:solidFill>
                <a:latin typeface="Calibri" pitchFamily="34" charset="0"/>
                <a:ea typeface="Calibri" pitchFamily="34" charset="-122"/>
                <a:cs typeface="Calibri" pitchFamily="34" charset="-120"/>
              </a:rPr>
              <a:t>ALUMNO 3</a:t>
            </a:r>
            <a:pPr indent="0" marL="0">
              <a:buNone/>
            </a:pPr>
            <a:r>
              <a:rPr lang="en-US" sz="1300" b="1" spc="200" kern="0" dirty="0">
                <a:solidFill>
                  <a:srgbClr val="8D6E63"/>
                </a:solidFill>
                <a:latin typeface="Calibri" pitchFamily="34" charset="0"/>
                <a:ea typeface="Calibri" pitchFamily="34" charset="-122"/>
                <a:cs typeface="Calibri" pitchFamily="34" charset="-120"/>
              </a:rPr>
              <a:t>   ·   PLAGIO, ESTAFAS Y USO RESPONSABLE</a:t>
            </a:r>
            <a:endParaRPr lang="en-US" sz="1300" dirty="0"/>
          </a:p>
        </p:txBody>
      </p:sp>
      <p:sp>
        <p:nvSpPr>
          <p:cNvPr id="7" name="Text 5"/>
          <p:cNvSpPr/>
          <p:nvPr/>
        </p:nvSpPr>
        <p:spPr>
          <a:xfrm>
            <a:off x="502920" y="868680"/>
            <a:ext cx="11183112" cy="548640"/>
          </a:xfrm>
          <a:prstGeom prst="rect">
            <a:avLst/>
          </a:prstGeom>
          <a:noFill/>
          <a:ln/>
        </p:spPr>
        <p:txBody>
          <a:bodyPr wrap="square" lIns="0" tIns="0" rIns="0" bIns="0" rtlCol="0" anchor="ctr"/>
          <a:lstStyle/>
          <a:p>
            <a:pPr indent="0" marL="0">
              <a:buNone/>
            </a:pPr>
            <a:r>
              <a:rPr lang="en-US" sz="2800" b="1" dirty="0">
                <a:solidFill>
                  <a:srgbClr val="4E342E"/>
                </a:solidFill>
                <a:latin typeface="Cambria" pitchFamily="34" charset="0"/>
                <a:ea typeface="Cambria" pitchFamily="34" charset="-122"/>
                <a:cs typeface="Cambria" pitchFamily="34" charset="-120"/>
              </a:rPr>
              <a:t>El mal uso más cerca de lo que crees</a:t>
            </a:r>
            <a:endParaRPr lang="en-US" sz="2800" dirty="0"/>
          </a:p>
        </p:txBody>
      </p:sp>
      <p:sp>
        <p:nvSpPr>
          <p:cNvPr id="8" name="Shape 6"/>
          <p:cNvSpPr/>
          <p:nvPr/>
        </p:nvSpPr>
        <p:spPr>
          <a:xfrm>
            <a:off x="502920" y="1490472"/>
            <a:ext cx="11183112" cy="932688"/>
          </a:xfrm>
          <a:prstGeom prst="roundRect">
            <a:avLst>
              <a:gd name="adj" fmla="val 8824"/>
            </a:avLst>
          </a:prstGeom>
          <a:solidFill>
            <a:srgbClr val="FFFDF8"/>
          </a:solidFill>
          <a:ln w="9525">
            <a:solidFill>
              <a:srgbClr val="E3D5C3"/>
            </a:solidFill>
            <a:prstDash val="solid"/>
          </a:ln>
          <a:effectLst>
            <a:outerShdw sx="100000" sy="100000" kx="0" ky="0" algn="bl" rotWithShape="0" blurRad="76200" dist="25400" dir="5400000">
              <a:srgbClr val="8D6E63">
                <a:alpha val="25000"/>
              </a:srgbClr>
            </a:outerShdw>
          </a:effectLst>
        </p:spPr>
      </p:sp>
      <p:sp>
        <p:nvSpPr>
          <p:cNvPr id="9" name="Shape 7"/>
          <p:cNvSpPr/>
          <p:nvPr/>
        </p:nvSpPr>
        <p:spPr>
          <a:xfrm>
            <a:off x="722376" y="1682496"/>
            <a:ext cx="548640" cy="548640"/>
          </a:xfrm>
          <a:prstGeom prst="ellipse">
            <a:avLst/>
          </a:prstGeom>
          <a:solidFill>
            <a:srgbClr val="4E342E"/>
          </a:solidFill>
          <a:ln/>
        </p:spPr>
      </p:sp>
      <p:pic>
        <p:nvPicPr>
          <p:cNvPr id="10" name="Image 0" descr="preencoded.png">    </p:cNvPr>
          <p:cNvPicPr>
            <a:picLocks noChangeAspect="1"/>
          </p:cNvPicPr>
          <p:nvPr/>
        </p:nvPicPr>
        <p:blipFill>
          <a:blip r:embed="rId1"/>
          <a:stretch>
            <a:fillRect/>
          </a:stretch>
        </p:blipFill>
        <p:spPr>
          <a:xfrm>
            <a:off x="870509" y="1830629"/>
            <a:ext cx="252374" cy="252374"/>
          </a:xfrm>
          <a:prstGeom prst="rect">
            <a:avLst/>
          </a:prstGeom>
        </p:spPr>
      </p:pic>
      <p:sp>
        <p:nvSpPr>
          <p:cNvPr id="11" name="Text 8"/>
          <p:cNvSpPr/>
          <p:nvPr/>
        </p:nvSpPr>
        <p:spPr>
          <a:xfrm>
            <a:off x="1444752" y="1581912"/>
            <a:ext cx="9966960" cy="256032"/>
          </a:xfrm>
          <a:prstGeom prst="rect">
            <a:avLst/>
          </a:prstGeom>
          <a:noFill/>
          <a:ln/>
        </p:spPr>
        <p:txBody>
          <a:bodyPr wrap="square" lIns="0" tIns="0" rIns="0" bIns="0" rtlCol="0" anchor="ctr"/>
          <a:lstStyle/>
          <a:p>
            <a:pPr indent="0" marL="0">
              <a:buNone/>
            </a:pPr>
            <a:r>
              <a:rPr lang="en-US" sz="950" b="1" spc="300" kern="0" dirty="0">
                <a:solidFill>
                  <a:srgbClr val="C67B3B"/>
                </a:solidFill>
                <a:latin typeface="Calibri" pitchFamily="34" charset="0"/>
                <a:ea typeface="Calibri" pitchFamily="34" charset="-122"/>
                <a:cs typeface="Calibri" pitchFamily="34" charset="-120"/>
              </a:rPr>
              <a:t>PREGUNTA GANCHO · ASÍ EMPIEZA SU PARTE</a:t>
            </a:r>
            <a:endParaRPr lang="en-US" sz="950" dirty="0"/>
          </a:p>
        </p:txBody>
      </p:sp>
      <p:sp>
        <p:nvSpPr>
          <p:cNvPr id="12" name="Text 9"/>
          <p:cNvSpPr/>
          <p:nvPr/>
        </p:nvSpPr>
        <p:spPr>
          <a:xfrm>
            <a:off x="1444752" y="1828800"/>
            <a:ext cx="10012680" cy="548640"/>
          </a:xfrm>
          <a:prstGeom prst="rect">
            <a:avLst/>
          </a:prstGeom>
          <a:noFill/>
          <a:ln/>
        </p:spPr>
        <p:txBody>
          <a:bodyPr wrap="square" lIns="0" tIns="0" rIns="0" bIns="0" rtlCol="0" anchor="t"/>
          <a:lstStyle/>
          <a:p>
            <a:pPr indent="0" marL="0">
              <a:buNone/>
            </a:pPr>
            <a:r>
              <a:rPr lang="en-US" sz="1400" b="1" i="1" dirty="0">
                <a:solidFill>
                  <a:srgbClr val="4E342E"/>
                </a:solidFill>
                <a:latin typeface="Calibri" pitchFamily="34" charset="0"/>
                <a:ea typeface="Calibri" pitchFamily="34" charset="-122"/>
                <a:cs typeface="Calibri" pitchFamily="34" charset="-120"/>
              </a:rPr>
              <a:t>“Seamos honestos: ¿pedirle a la IA que haga TODA tu tarea es estudiar… o es hacerte trampa a ti mismo?”</a:t>
            </a:r>
            <a:endParaRPr lang="en-US" sz="1400" dirty="0"/>
          </a:p>
        </p:txBody>
      </p:sp>
      <p:sp>
        <p:nvSpPr>
          <p:cNvPr id="13" name="Shape 10"/>
          <p:cNvSpPr/>
          <p:nvPr/>
        </p:nvSpPr>
        <p:spPr>
          <a:xfrm>
            <a:off x="502920" y="2606040"/>
            <a:ext cx="3602736" cy="2331720"/>
          </a:xfrm>
          <a:prstGeom prst="roundRect">
            <a:avLst>
              <a:gd name="adj" fmla="val 3529"/>
            </a:avLst>
          </a:prstGeom>
          <a:solidFill>
            <a:srgbClr val="FFFFFF"/>
          </a:solidFill>
          <a:ln w="9525">
            <a:solidFill>
              <a:srgbClr val="E3D5C3"/>
            </a:solidFill>
            <a:prstDash val="solid"/>
          </a:ln>
          <a:effectLst>
            <a:outerShdw sx="100000" sy="100000" kx="0" ky="0" algn="bl" rotWithShape="0" blurRad="76200" dist="25400" dir="5400000">
              <a:srgbClr val="8D6E63">
                <a:alpha val="25000"/>
              </a:srgbClr>
            </a:outerShdw>
          </a:effectLst>
        </p:spPr>
      </p:sp>
      <p:sp>
        <p:nvSpPr>
          <p:cNvPr id="14" name="Shape 11"/>
          <p:cNvSpPr/>
          <p:nvPr/>
        </p:nvSpPr>
        <p:spPr>
          <a:xfrm>
            <a:off x="731520" y="2807208"/>
            <a:ext cx="502920" cy="502920"/>
          </a:xfrm>
          <a:prstGeom prst="ellipse">
            <a:avLst/>
          </a:prstGeom>
          <a:solidFill>
            <a:srgbClr val="C67B3B"/>
          </a:solidFill>
          <a:ln/>
        </p:spPr>
      </p:sp>
      <p:pic>
        <p:nvPicPr>
          <p:cNvPr id="15" name="Image 1" descr="preencoded.png">    </p:cNvPr>
          <p:cNvPicPr>
            <a:picLocks noChangeAspect="1"/>
          </p:cNvPicPr>
          <p:nvPr/>
        </p:nvPicPr>
        <p:blipFill>
          <a:blip r:embed="rId2"/>
          <a:stretch>
            <a:fillRect/>
          </a:stretch>
        </p:blipFill>
        <p:spPr>
          <a:xfrm>
            <a:off x="867308" y="2942996"/>
            <a:ext cx="231343" cy="231343"/>
          </a:xfrm>
          <a:prstGeom prst="rect">
            <a:avLst/>
          </a:prstGeom>
        </p:spPr>
      </p:pic>
      <p:sp>
        <p:nvSpPr>
          <p:cNvPr id="16" name="Text 12"/>
          <p:cNvSpPr/>
          <p:nvPr/>
        </p:nvSpPr>
        <p:spPr>
          <a:xfrm>
            <a:off x="1371600" y="2807208"/>
            <a:ext cx="2606040" cy="502920"/>
          </a:xfrm>
          <a:prstGeom prst="rect">
            <a:avLst/>
          </a:prstGeom>
          <a:noFill/>
          <a:ln/>
        </p:spPr>
        <p:txBody>
          <a:bodyPr wrap="square" lIns="0" tIns="0" rIns="0" bIns="0" rtlCol="0" anchor="ctr"/>
          <a:lstStyle/>
          <a:p>
            <a:pPr indent="0" marL="0">
              <a:buNone/>
            </a:pPr>
            <a:r>
              <a:rPr lang="en-US" sz="1400" b="1" dirty="0">
                <a:solidFill>
                  <a:srgbClr val="4E342E"/>
                </a:solidFill>
                <a:latin typeface="Calibri" pitchFamily="34" charset="0"/>
                <a:ea typeface="Calibri" pitchFamily="34" charset="-122"/>
                <a:cs typeface="Calibri" pitchFamily="34" charset="-120"/>
              </a:rPr>
              <a:t>Plagio escolar</a:t>
            </a:r>
            <a:endParaRPr lang="en-US" sz="1400" dirty="0"/>
          </a:p>
        </p:txBody>
      </p:sp>
      <p:sp>
        <p:nvSpPr>
          <p:cNvPr id="17" name="Text 13"/>
          <p:cNvSpPr/>
          <p:nvPr/>
        </p:nvSpPr>
        <p:spPr>
          <a:xfrm>
            <a:off x="731520" y="3456432"/>
            <a:ext cx="3145536" cy="1325880"/>
          </a:xfrm>
          <a:prstGeom prst="rect">
            <a:avLst/>
          </a:prstGeom>
          <a:noFill/>
          <a:ln/>
        </p:spPr>
        <p:txBody>
          <a:bodyPr wrap="square" lIns="0" tIns="0" rIns="0" bIns="0" rtlCol="0" anchor="ctr"/>
          <a:lstStyle/>
          <a:p>
            <a:pPr indent="0" marL="0">
              <a:buNone/>
            </a:pPr>
            <a:r>
              <a:rPr lang="en-US" sz="1150" dirty="0">
                <a:solidFill>
                  <a:srgbClr val="4E342E"/>
                </a:solidFill>
                <a:latin typeface="Calibri" pitchFamily="34" charset="0"/>
                <a:ea typeface="Calibri" pitchFamily="34" charset="-122"/>
                <a:cs typeface="Calibri" pitchFamily="34" charset="-120"/>
              </a:rPr>
              <a:t>Copiar lo que hace la IA y ponerle tu nombre es plagio. Tu cerebro no aprende y puedes reprobar o ser sancionado en el colegio.</a:t>
            </a:r>
            <a:endParaRPr lang="en-US" sz="1150" dirty="0"/>
          </a:p>
        </p:txBody>
      </p:sp>
      <p:sp>
        <p:nvSpPr>
          <p:cNvPr id="18" name="Shape 14"/>
          <p:cNvSpPr/>
          <p:nvPr/>
        </p:nvSpPr>
        <p:spPr>
          <a:xfrm>
            <a:off x="4288536" y="2606040"/>
            <a:ext cx="3602736" cy="2331720"/>
          </a:xfrm>
          <a:prstGeom prst="roundRect">
            <a:avLst>
              <a:gd name="adj" fmla="val 3529"/>
            </a:avLst>
          </a:prstGeom>
          <a:solidFill>
            <a:srgbClr val="FFFFFF"/>
          </a:solidFill>
          <a:ln w="9525">
            <a:solidFill>
              <a:srgbClr val="E3D5C3"/>
            </a:solidFill>
            <a:prstDash val="solid"/>
          </a:ln>
          <a:effectLst>
            <a:outerShdw sx="100000" sy="100000" kx="0" ky="0" algn="bl" rotWithShape="0" blurRad="76200" dist="25400" dir="5400000">
              <a:srgbClr val="8D6E63">
                <a:alpha val="25000"/>
              </a:srgbClr>
            </a:outerShdw>
          </a:effectLst>
        </p:spPr>
      </p:sp>
      <p:sp>
        <p:nvSpPr>
          <p:cNvPr id="19" name="Shape 15"/>
          <p:cNvSpPr/>
          <p:nvPr/>
        </p:nvSpPr>
        <p:spPr>
          <a:xfrm>
            <a:off x="4517136" y="2807208"/>
            <a:ext cx="502920" cy="502920"/>
          </a:xfrm>
          <a:prstGeom prst="ellipse">
            <a:avLst/>
          </a:prstGeom>
          <a:solidFill>
            <a:srgbClr val="5D4037"/>
          </a:solidFill>
          <a:ln/>
        </p:spPr>
      </p:sp>
      <p:pic>
        <p:nvPicPr>
          <p:cNvPr id="20" name="Image 2" descr="preencoded.png">    </p:cNvPr>
          <p:cNvPicPr>
            <a:picLocks noChangeAspect="1"/>
          </p:cNvPicPr>
          <p:nvPr/>
        </p:nvPicPr>
        <p:blipFill>
          <a:blip r:embed="rId3"/>
          <a:stretch>
            <a:fillRect/>
          </a:stretch>
        </p:blipFill>
        <p:spPr>
          <a:xfrm>
            <a:off x="4652924" y="2942996"/>
            <a:ext cx="231343" cy="231343"/>
          </a:xfrm>
          <a:prstGeom prst="rect">
            <a:avLst/>
          </a:prstGeom>
        </p:spPr>
      </p:pic>
      <p:sp>
        <p:nvSpPr>
          <p:cNvPr id="21" name="Text 16"/>
          <p:cNvSpPr/>
          <p:nvPr/>
        </p:nvSpPr>
        <p:spPr>
          <a:xfrm>
            <a:off x="5157216" y="2807208"/>
            <a:ext cx="2606040" cy="502920"/>
          </a:xfrm>
          <a:prstGeom prst="rect">
            <a:avLst/>
          </a:prstGeom>
          <a:noFill/>
          <a:ln/>
        </p:spPr>
        <p:txBody>
          <a:bodyPr wrap="square" lIns="0" tIns="0" rIns="0" bIns="0" rtlCol="0" anchor="ctr"/>
          <a:lstStyle/>
          <a:p>
            <a:pPr indent="0" marL="0">
              <a:buNone/>
            </a:pPr>
            <a:r>
              <a:rPr lang="en-US" sz="1400" b="1" dirty="0">
                <a:solidFill>
                  <a:srgbClr val="4E342E"/>
                </a:solidFill>
                <a:latin typeface="Calibri" pitchFamily="34" charset="0"/>
                <a:ea typeface="Calibri" pitchFamily="34" charset="-122"/>
                <a:cs typeface="Calibri" pitchFamily="34" charset="-120"/>
              </a:rPr>
              <a:t>Estafas con IA</a:t>
            </a:r>
            <a:endParaRPr lang="en-US" sz="1400" dirty="0"/>
          </a:p>
        </p:txBody>
      </p:sp>
      <p:sp>
        <p:nvSpPr>
          <p:cNvPr id="22" name="Text 17"/>
          <p:cNvSpPr/>
          <p:nvPr/>
        </p:nvSpPr>
        <p:spPr>
          <a:xfrm>
            <a:off x="4517136" y="3456432"/>
            <a:ext cx="3145536" cy="1325880"/>
          </a:xfrm>
          <a:prstGeom prst="rect">
            <a:avLst/>
          </a:prstGeom>
          <a:noFill/>
          <a:ln/>
        </p:spPr>
        <p:txBody>
          <a:bodyPr wrap="square" lIns="0" tIns="0" rIns="0" bIns="0" rtlCol="0" anchor="ctr"/>
          <a:lstStyle/>
          <a:p>
            <a:pPr indent="0" marL="0">
              <a:buNone/>
            </a:pPr>
            <a:r>
              <a:rPr lang="en-US" sz="1150" dirty="0">
                <a:solidFill>
                  <a:srgbClr val="4E342E"/>
                </a:solidFill>
                <a:latin typeface="Calibri" pitchFamily="34" charset="0"/>
                <a:ea typeface="Calibri" pitchFamily="34" charset="-122"/>
                <a:cs typeface="Calibri" pitchFamily="34" charset="-120"/>
              </a:rPr>
              <a:t>Con voces clonadas y mensajes falsos, los estafadores fingen ser tu familia o tu banco para robarte dinero y contraseñas.</a:t>
            </a:r>
            <a:endParaRPr lang="en-US" sz="1150" dirty="0"/>
          </a:p>
        </p:txBody>
      </p:sp>
      <p:sp>
        <p:nvSpPr>
          <p:cNvPr id="23" name="Shape 18"/>
          <p:cNvSpPr/>
          <p:nvPr/>
        </p:nvSpPr>
        <p:spPr>
          <a:xfrm>
            <a:off x="8074152" y="2606040"/>
            <a:ext cx="3602736" cy="2331720"/>
          </a:xfrm>
          <a:prstGeom prst="roundRect">
            <a:avLst>
              <a:gd name="adj" fmla="val 3529"/>
            </a:avLst>
          </a:prstGeom>
          <a:solidFill>
            <a:srgbClr val="FFFFFF"/>
          </a:solidFill>
          <a:ln w="9525">
            <a:solidFill>
              <a:srgbClr val="E3D5C3"/>
            </a:solidFill>
            <a:prstDash val="solid"/>
          </a:ln>
          <a:effectLst>
            <a:outerShdw sx="100000" sy="100000" kx="0" ky="0" algn="bl" rotWithShape="0" blurRad="76200" dist="25400" dir="5400000">
              <a:srgbClr val="8D6E63">
                <a:alpha val="25000"/>
              </a:srgbClr>
            </a:outerShdw>
          </a:effectLst>
        </p:spPr>
      </p:sp>
      <p:sp>
        <p:nvSpPr>
          <p:cNvPr id="24" name="Shape 19"/>
          <p:cNvSpPr/>
          <p:nvPr/>
        </p:nvSpPr>
        <p:spPr>
          <a:xfrm>
            <a:off x="8302752" y="2807208"/>
            <a:ext cx="502920" cy="502920"/>
          </a:xfrm>
          <a:prstGeom prst="ellipse">
            <a:avLst/>
          </a:prstGeom>
          <a:solidFill>
            <a:srgbClr val="8D6E63"/>
          </a:solidFill>
          <a:ln/>
        </p:spPr>
      </p:sp>
      <p:pic>
        <p:nvPicPr>
          <p:cNvPr id="25" name="Image 3" descr="preencoded.png">    </p:cNvPr>
          <p:cNvPicPr>
            <a:picLocks noChangeAspect="1"/>
          </p:cNvPicPr>
          <p:nvPr/>
        </p:nvPicPr>
        <p:blipFill>
          <a:blip r:embed="rId4"/>
          <a:stretch>
            <a:fillRect/>
          </a:stretch>
        </p:blipFill>
        <p:spPr>
          <a:xfrm>
            <a:off x="8438540" y="2942996"/>
            <a:ext cx="231343" cy="231343"/>
          </a:xfrm>
          <a:prstGeom prst="rect">
            <a:avLst/>
          </a:prstGeom>
        </p:spPr>
      </p:pic>
      <p:sp>
        <p:nvSpPr>
          <p:cNvPr id="26" name="Text 20"/>
          <p:cNvSpPr/>
          <p:nvPr/>
        </p:nvSpPr>
        <p:spPr>
          <a:xfrm>
            <a:off x="8942832" y="2807208"/>
            <a:ext cx="2606040" cy="502920"/>
          </a:xfrm>
          <a:prstGeom prst="rect">
            <a:avLst/>
          </a:prstGeom>
          <a:noFill/>
          <a:ln/>
        </p:spPr>
        <p:txBody>
          <a:bodyPr wrap="square" lIns="0" tIns="0" rIns="0" bIns="0" rtlCol="0" anchor="ctr"/>
          <a:lstStyle/>
          <a:p>
            <a:pPr indent="0" marL="0">
              <a:buNone/>
            </a:pPr>
            <a:r>
              <a:rPr lang="en-US" sz="1400" b="1" dirty="0">
                <a:solidFill>
                  <a:srgbClr val="4E342E"/>
                </a:solidFill>
                <a:latin typeface="Calibri" pitchFamily="34" charset="0"/>
                <a:ea typeface="Calibri" pitchFamily="34" charset="-122"/>
                <a:cs typeface="Calibri" pitchFamily="34" charset="-120"/>
              </a:rPr>
              <a:t>¿La solución? Usarla bien</a:t>
            </a:r>
            <a:endParaRPr lang="en-US" sz="1400" dirty="0"/>
          </a:p>
        </p:txBody>
      </p:sp>
      <p:sp>
        <p:nvSpPr>
          <p:cNvPr id="27" name="Text 21"/>
          <p:cNvSpPr/>
          <p:nvPr/>
        </p:nvSpPr>
        <p:spPr>
          <a:xfrm>
            <a:off x="8302752" y="3456432"/>
            <a:ext cx="3145536" cy="1325880"/>
          </a:xfrm>
          <a:prstGeom prst="rect">
            <a:avLst/>
          </a:prstGeom>
          <a:noFill/>
          <a:ln/>
        </p:spPr>
        <p:txBody>
          <a:bodyPr wrap="square" lIns="0" tIns="0" rIns="0" bIns="0" rtlCol="0" anchor="ctr"/>
          <a:lstStyle/>
          <a:p>
            <a:pPr indent="0" marL="0">
              <a:buNone/>
            </a:pPr>
            <a:r>
              <a:rPr lang="en-US" sz="1150" dirty="0">
                <a:solidFill>
                  <a:srgbClr val="4E342E"/>
                </a:solidFill>
                <a:latin typeface="Calibri" pitchFamily="34" charset="0"/>
                <a:ea typeface="Calibri" pitchFamily="34" charset="-122"/>
                <a:cs typeface="Calibri" pitchFamily="34" charset="-120"/>
              </a:rPr>
              <a:t>La IA sí ayuda: sirve para entender temas, practicar y ordenar ideas. Úsala como apoyo, nunca como reemplazo de tu esfuerzo.</a:t>
            </a:r>
            <a:endParaRPr lang="en-US" sz="1150" dirty="0"/>
          </a:p>
        </p:txBody>
      </p:sp>
      <p:sp>
        <p:nvSpPr>
          <p:cNvPr id="28" name="Shape 22"/>
          <p:cNvSpPr/>
          <p:nvPr/>
        </p:nvSpPr>
        <p:spPr>
          <a:xfrm>
            <a:off x="502920" y="5166360"/>
            <a:ext cx="11183112" cy="868680"/>
          </a:xfrm>
          <a:prstGeom prst="roundRect">
            <a:avLst>
              <a:gd name="adj" fmla="val 9474"/>
            </a:avLst>
          </a:prstGeom>
          <a:solidFill>
            <a:srgbClr val="FFFDF8"/>
          </a:solidFill>
          <a:ln w="9525">
            <a:solidFill>
              <a:srgbClr val="E3D5C3"/>
            </a:solidFill>
            <a:prstDash val="solid"/>
          </a:ln>
          <a:effectLst>
            <a:outerShdw sx="100000" sy="100000" kx="0" ky="0" algn="bl" rotWithShape="0" blurRad="76200" dist="25400" dir="5400000">
              <a:srgbClr val="8D6E63">
                <a:alpha val="25000"/>
              </a:srgbClr>
            </a:outerShdw>
          </a:effectLst>
        </p:spPr>
      </p:sp>
      <p:sp>
        <p:nvSpPr>
          <p:cNvPr id="29" name="Shape 23"/>
          <p:cNvSpPr/>
          <p:nvPr/>
        </p:nvSpPr>
        <p:spPr>
          <a:xfrm>
            <a:off x="722376" y="5321808"/>
            <a:ext cx="384048" cy="384048"/>
          </a:xfrm>
          <a:prstGeom prst="ellipse">
            <a:avLst/>
          </a:prstGeom>
          <a:solidFill>
            <a:srgbClr val="C67B3B"/>
          </a:solidFill>
          <a:ln/>
        </p:spPr>
      </p:sp>
      <p:pic>
        <p:nvPicPr>
          <p:cNvPr id="30" name="Image 4" descr="preencoded.png">    </p:cNvPr>
          <p:cNvPicPr>
            <a:picLocks noChangeAspect="1"/>
          </p:cNvPicPr>
          <p:nvPr/>
        </p:nvPicPr>
        <p:blipFill>
          <a:blip r:embed="rId5"/>
          <a:stretch>
            <a:fillRect/>
          </a:stretch>
        </p:blipFill>
        <p:spPr>
          <a:xfrm>
            <a:off x="826069" y="5425501"/>
            <a:ext cx="176662" cy="176662"/>
          </a:xfrm>
          <a:prstGeom prst="rect">
            <a:avLst/>
          </a:prstGeom>
        </p:spPr>
      </p:pic>
      <p:sp>
        <p:nvSpPr>
          <p:cNvPr id="31" name="Text 24"/>
          <p:cNvSpPr/>
          <p:nvPr/>
        </p:nvSpPr>
        <p:spPr>
          <a:xfrm>
            <a:off x="1261872" y="5248656"/>
            <a:ext cx="9966960" cy="237744"/>
          </a:xfrm>
          <a:prstGeom prst="rect">
            <a:avLst/>
          </a:prstGeom>
          <a:noFill/>
          <a:ln/>
        </p:spPr>
        <p:txBody>
          <a:bodyPr wrap="square" lIns="0" tIns="0" rIns="0" bIns="0" rtlCol="0" anchor="ctr"/>
          <a:lstStyle/>
          <a:p>
            <a:pPr indent="0" marL="0">
              <a:buNone/>
            </a:pPr>
            <a:r>
              <a:rPr lang="en-US" sz="900" b="1" spc="200" kern="0" dirty="0">
                <a:solidFill>
                  <a:srgbClr val="C67B3B"/>
                </a:solidFill>
                <a:latin typeface="Calibri" pitchFamily="34" charset="0"/>
                <a:ea typeface="Calibri" pitchFamily="34" charset="-122"/>
                <a:cs typeface="Calibri" pitchFamily="34" charset="-120"/>
              </a:rPr>
              <a:t>PREGUNTA DE INDAGACIÓN N.º 2</a:t>
            </a:r>
            <a:endParaRPr lang="en-US" sz="900" dirty="0"/>
          </a:p>
        </p:txBody>
      </p:sp>
      <p:sp>
        <p:nvSpPr>
          <p:cNvPr id="32" name="Text 25"/>
          <p:cNvSpPr/>
          <p:nvPr/>
        </p:nvSpPr>
        <p:spPr>
          <a:xfrm>
            <a:off x="1261872" y="5486400"/>
            <a:ext cx="10241280" cy="457200"/>
          </a:xfrm>
          <a:prstGeom prst="rect">
            <a:avLst/>
          </a:prstGeom>
          <a:noFill/>
          <a:ln/>
        </p:spPr>
        <p:txBody>
          <a:bodyPr wrap="square" lIns="0" tIns="0" rIns="0" bIns="0" rtlCol="0" anchor="ctr"/>
          <a:lstStyle/>
          <a:p>
            <a:pPr indent="0" marL="0">
              <a:buNone/>
            </a:pPr>
            <a:r>
              <a:rPr lang="en-US" sz="1250" b="1" i="1" dirty="0">
                <a:solidFill>
                  <a:srgbClr val="4E342E"/>
                </a:solidFill>
                <a:latin typeface="Calibri" pitchFamily="34" charset="0"/>
                <a:ea typeface="Calibri" pitchFamily="34" charset="-122"/>
                <a:cs typeface="Calibri" pitchFamily="34" charset="-120"/>
              </a:rPr>
              <a:t>¿Por qué es necesario que los estudiantes aprendamos a usar la IA de forma responsable… y qué consecuencias trae usarla mal?</a:t>
            </a:r>
            <a:endParaRPr lang="en-US" sz="1250" dirty="0"/>
          </a:p>
        </p:txBody>
      </p:sp>
      <p:sp>
        <p:nvSpPr>
          <p:cNvPr id="33" name="Text 26"/>
          <p:cNvSpPr/>
          <p:nvPr/>
        </p:nvSpPr>
        <p:spPr>
          <a:xfrm>
            <a:off x="11247120" y="6446520"/>
            <a:ext cx="777240" cy="292608"/>
          </a:xfrm>
          <a:prstGeom prst="rect">
            <a:avLst/>
          </a:prstGeom>
          <a:noFill/>
          <a:ln/>
        </p:spPr>
        <p:txBody>
          <a:bodyPr wrap="square" lIns="0" tIns="0" rIns="0" bIns="0" rtlCol="0" anchor="ctr"/>
          <a:lstStyle/>
          <a:p>
            <a:pPr algn="r" indent="0" marL="0">
              <a:buNone/>
            </a:pPr>
            <a:r>
              <a:rPr lang="en-US" sz="900" dirty="0">
                <a:solidFill>
                  <a:srgbClr val="8D6E63"/>
                </a:solidFill>
                <a:latin typeface="Calibri" pitchFamily="34" charset="0"/>
                <a:ea typeface="Calibri" pitchFamily="34" charset="-122"/>
                <a:cs typeface="Calibri" pitchFamily="34" charset="-120"/>
              </a:rPr>
              <a:t>4 / 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EDE0"/>
        </a:solidFill>
      </p:bgPr>
    </p:bg>
    <p:spTree>
      <p:nvGrpSpPr>
        <p:cNvPr id="1" name=""/>
        <p:cNvGrpSpPr/>
        <p:nvPr/>
      </p:nvGrpSpPr>
      <p:grpSpPr>
        <a:xfrm>
          <a:off x="0" y="0"/>
          <a:ext cx="0" cy="0"/>
          <a:chOff x="0" y="0"/>
          <a:chExt cx="0" cy="0"/>
        </a:xfrm>
      </p:grpSpPr>
      <p:sp>
        <p:nvSpPr>
          <p:cNvPr id="2" name="Shape 0"/>
          <p:cNvSpPr/>
          <p:nvPr/>
        </p:nvSpPr>
        <p:spPr>
          <a:xfrm>
            <a:off x="10835640" y="-1051560"/>
            <a:ext cx="2468880" cy="2468880"/>
          </a:xfrm>
          <a:prstGeom prst="ellipse">
            <a:avLst/>
          </a:prstGeom>
          <a:solidFill>
            <a:srgbClr val="D7C4A8">
              <a:alpha val="55000"/>
            </a:srgbClr>
          </a:solidFill>
          <a:ln/>
        </p:spPr>
      </p:sp>
      <p:sp>
        <p:nvSpPr>
          <p:cNvPr id="3" name="Shape 1"/>
          <p:cNvSpPr/>
          <p:nvPr/>
        </p:nvSpPr>
        <p:spPr>
          <a:xfrm>
            <a:off x="-777240" y="5806440"/>
            <a:ext cx="1920240" cy="1920240"/>
          </a:xfrm>
          <a:prstGeom prst="ellipse">
            <a:avLst/>
          </a:prstGeom>
          <a:solidFill>
            <a:srgbClr val="D7C4A8">
              <a:alpha val="45000"/>
            </a:srgbClr>
          </a:solidFill>
          <a:ln/>
        </p:spPr>
      </p:sp>
      <p:sp>
        <p:nvSpPr>
          <p:cNvPr id="4" name="Shape 2"/>
          <p:cNvSpPr/>
          <p:nvPr/>
        </p:nvSpPr>
        <p:spPr>
          <a:xfrm>
            <a:off x="502920" y="274320"/>
            <a:ext cx="566928" cy="566928"/>
          </a:xfrm>
          <a:prstGeom prst="ellipse">
            <a:avLst/>
          </a:prstGeom>
          <a:solidFill>
            <a:srgbClr val="C67B3B"/>
          </a:solidFill>
          <a:ln/>
        </p:spPr>
      </p:sp>
      <p:sp>
        <p:nvSpPr>
          <p:cNvPr id="5" name="Text 3"/>
          <p:cNvSpPr/>
          <p:nvPr/>
        </p:nvSpPr>
        <p:spPr>
          <a:xfrm>
            <a:off x="502920" y="2743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6" name="Text 4"/>
          <p:cNvSpPr/>
          <p:nvPr/>
        </p:nvSpPr>
        <p:spPr>
          <a:xfrm>
            <a:off x="1225296" y="274320"/>
            <a:ext cx="10058400" cy="566928"/>
          </a:xfrm>
          <a:prstGeom prst="rect">
            <a:avLst/>
          </a:prstGeom>
          <a:noFill/>
          <a:ln/>
        </p:spPr>
        <p:txBody>
          <a:bodyPr wrap="square" lIns="0" tIns="0" rIns="0" bIns="0" rtlCol="0" anchor="ctr"/>
          <a:lstStyle/>
          <a:p>
            <a:pPr indent="0" marL="0">
              <a:buNone/>
            </a:pPr>
            <a:r>
              <a:rPr lang="en-US" sz="1300" b="1" spc="200" kern="0" dirty="0">
                <a:solidFill>
                  <a:srgbClr val="4E342E"/>
                </a:solidFill>
                <a:latin typeface="Calibri" pitchFamily="34" charset="0"/>
                <a:ea typeface="Calibri" pitchFamily="34" charset="-122"/>
                <a:cs typeface="Calibri" pitchFamily="34" charset="-120"/>
              </a:rPr>
              <a:t>ALUMNO 4</a:t>
            </a:r>
            <a:pPr indent="0" marL="0">
              <a:buNone/>
            </a:pPr>
            <a:r>
              <a:rPr lang="en-US" sz="1300" b="1" spc="200" kern="0" dirty="0">
                <a:solidFill>
                  <a:srgbClr val="8D6E63"/>
                </a:solidFill>
                <a:latin typeface="Calibri" pitchFamily="34" charset="0"/>
                <a:ea typeface="Calibri" pitchFamily="34" charset="-122"/>
                <a:cs typeface="Calibri" pitchFamily="34" charset="-120"/>
              </a:rPr>
              <a:t>   ·   NUESTRA INVESTIGACIÓN</a:t>
            </a:r>
            <a:endParaRPr lang="en-US" sz="1300" dirty="0"/>
          </a:p>
        </p:txBody>
      </p:sp>
      <p:sp>
        <p:nvSpPr>
          <p:cNvPr id="7" name="Text 5"/>
          <p:cNvSpPr/>
          <p:nvPr/>
        </p:nvSpPr>
        <p:spPr>
          <a:xfrm>
            <a:off x="502920" y="868680"/>
            <a:ext cx="11183112" cy="548640"/>
          </a:xfrm>
          <a:prstGeom prst="rect">
            <a:avLst/>
          </a:prstGeom>
          <a:noFill/>
          <a:ln/>
        </p:spPr>
        <p:txBody>
          <a:bodyPr wrap="square" lIns="0" tIns="0" rIns="0" bIns="0" rtlCol="0" anchor="ctr"/>
          <a:lstStyle/>
          <a:p>
            <a:pPr indent="0" marL="0">
              <a:buNone/>
            </a:pPr>
            <a:r>
              <a:rPr lang="en-US" sz="2800" b="1" dirty="0">
                <a:solidFill>
                  <a:srgbClr val="4E342E"/>
                </a:solidFill>
                <a:latin typeface="Cambria" pitchFamily="34" charset="0"/>
                <a:ea typeface="Cambria" pitchFamily="34" charset="-122"/>
                <a:cs typeface="Cambria" pitchFamily="34" charset="-120"/>
              </a:rPr>
              <a:t>Así investigamos: la matriz de búsqueda</a:t>
            </a:r>
            <a:endParaRPr lang="en-US" sz="2800" dirty="0"/>
          </a:p>
        </p:txBody>
      </p:sp>
      <p:sp>
        <p:nvSpPr>
          <p:cNvPr id="8" name="Shape 6"/>
          <p:cNvSpPr/>
          <p:nvPr/>
        </p:nvSpPr>
        <p:spPr>
          <a:xfrm>
            <a:off x="502920" y="1490472"/>
            <a:ext cx="11183112" cy="932688"/>
          </a:xfrm>
          <a:prstGeom prst="roundRect">
            <a:avLst>
              <a:gd name="adj" fmla="val 8824"/>
            </a:avLst>
          </a:prstGeom>
          <a:solidFill>
            <a:srgbClr val="FFFDF8"/>
          </a:solidFill>
          <a:ln w="9525">
            <a:solidFill>
              <a:srgbClr val="E3D5C3"/>
            </a:solidFill>
            <a:prstDash val="solid"/>
          </a:ln>
          <a:effectLst>
            <a:outerShdw sx="100000" sy="100000" kx="0" ky="0" algn="bl" rotWithShape="0" blurRad="76200" dist="25400" dir="5400000">
              <a:srgbClr val="8D6E63">
                <a:alpha val="25000"/>
              </a:srgbClr>
            </a:outerShdw>
          </a:effectLst>
        </p:spPr>
      </p:sp>
      <p:sp>
        <p:nvSpPr>
          <p:cNvPr id="9" name="Shape 7"/>
          <p:cNvSpPr/>
          <p:nvPr/>
        </p:nvSpPr>
        <p:spPr>
          <a:xfrm>
            <a:off x="722376" y="1682496"/>
            <a:ext cx="548640" cy="548640"/>
          </a:xfrm>
          <a:prstGeom prst="ellipse">
            <a:avLst/>
          </a:prstGeom>
          <a:solidFill>
            <a:srgbClr val="4E342E"/>
          </a:solidFill>
          <a:ln/>
        </p:spPr>
      </p:sp>
      <p:pic>
        <p:nvPicPr>
          <p:cNvPr id="10" name="Image 0" descr="preencoded.png">    </p:cNvPr>
          <p:cNvPicPr>
            <a:picLocks noChangeAspect="1"/>
          </p:cNvPicPr>
          <p:nvPr/>
        </p:nvPicPr>
        <p:blipFill>
          <a:blip r:embed="rId1"/>
          <a:stretch>
            <a:fillRect/>
          </a:stretch>
        </p:blipFill>
        <p:spPr>
          <a:xfrm>
            <a:off x="870509" y="1830629"/>
            <a:ext cx="252374" cy="252374"/>
          </a:xfrm>
          <a:prstGeom prst="rect">
            <a:avLst/>
          </a:prstGeom>
        </p:spPr>
      </p:pic>
      <p:sp>
        <p:nvSpPr>
          <p:cNvPr id="11" name="Text 8"/>
          <p:cNvSpPr/>
          <p:nvPr/>
        </p:nvSpPr>
        <p:spPr>
          <a:xfrm>
            <a:off x="1444752" y="1581912"/>
            <a:ext cx="9966960" cy="256032"/>
          </a:xfrm>
          <a:prstGeom prst="rect">
            <a:avLst/>
          </a:prstGeom>
          <a:noFill/>
          <a:ln/>
        </p:spPr>
        <p:txBody>
          <a:bodyPr wrap="square" lIns="0" tIns="0" rIns="0" bIns="0" rtlCol="0" anchor="ctr"/>
          <a:lstStyle/>
          <a:p>
            <a:pPr indent="0" marL="0">
              <a:buNone/>
            </a:pPr>
            <a:r>
              <a:rPr lang="en-US" sz="950" b="1" spc="300" kern="0" dirty="0">
                <a:solidFill>
                  <a:srgbClr val="C67B3B"/>
                </a:solidFill>
                <a:latin typeface="Calibri" pitchFamily="34" charset="0"/>
                <a:ea typeface="Calibri" pitchFamily="34" charset="-122"/>
                <a:cs typeface="Calibri" pitchFamily="34" charset="-120"/>
              </a:rPr>
              <a:t>PREGUNTA GANCHO · ASÍ EMPIEZA SU PARTE</a:t>
            </a:r>
            <a:endParaRPr lang="en-US" sz="950" dirty="0"/>
          </a:p>
        </p:txBody>
      </p:sp>
      <p:sp>
        <p:nvSpPr>
          <p:cNvPr id="12" name="Text 9"/>
          <p:cNvSpPr/>
          <p:nvPr/>
        </p:nvSpPr>
        <p:spPr>
          <a:xfrm>
            <a:off x="1444752" y="1828800"/>
            <a:ext cx="10012680" cy="548640"/>
          </a:xfrm>
          <a:prstGeom prst="rect">
            <a:avLst/>
          </a:prstGeom>
          <a:noFill/>
          <a:ln/>
        </p:spPr>
        <p:txBody>
          <a:bodyPr wrap="square" lIns="0" tIns="0" rIns="0" bIns="0" rtlCol="0" anchor="t"/>
          <a:lstStyle/>
          <a:p>
            <a:pPr indent="0" marL="0">
              <a:buNone/>
            </a:pPr>
            <a:r>
              <a:rPr lang="en-US" sz="1400" b="1" i="1" dirty="0">
                <a:solidFill>
                  <a:srgbClr val="4E342E"/>
                </a:solidFill>
                <a:latin typeface="Calibri" pitchFamily="34" charset="0"/>
                <a:ea typeface="Calibri" pitchFamily="34" charset="-122"/>
                <a:cs typeface="Calibri" pitchFamily="34" charset="-120"/>
              </a:rPr>
              <a:t>“¿Sabían que buscar en internet también se aprende? Nosotros no buscamos “a lo loco”: usamos una matriz de búsqueda.”</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2633472"/>
          <a:ext cx="11183112" cy="914400"/>
        </p:xfrm>
        <a:graphic>
          <a:graphicData uri="http://schemas.openxmlformats.org/drawingml/2006/table">
            <a:tbl>
              <a:tblPr/>
              <a:tblGrid>
                <a:gridCol w="2286000"/>
                <a:gridCol w="2377440"/>
                <a:gridCol w="3931920"/>
                <a:gridCol w="2587752"/>
              </a:tblGrid>
              <a:tr h="41148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Concepto clave</a:t>
                      </a:r>
                      <a:endParaRPr lang="en-US" sz="1200" dirty="0">
                        <a:latin typeface="Calibri" charset="0"/>
                        <a:ea typeface="Calibri" charset="0"/>
                        <a:cs typeface="Calibri" charset="0"/>
                      </a:endParaRPr>
                    </a:p>
                  </a:txBody>
                  <a:tcPr marL="73152" marR="73152" marT="73152" marB="73152" anchor="ctr">
                    <a:lnL w="9525" cap="flat" cmpd="sng" algn="ctr">
                      <a:solidFill>
                        <a:srgbClr val="E3D5C3"/>
                      </a:solidFill>
                      <a:prstDash val="solid"/>
                      <a:round/>
                      <a:headEnd type="none" w="med" len="med"/>
                      <a:tailEnd type="none" w="med" len="med"/>
                    </a:lnL>
                    <a:lnR w="9525" cap="flat" cmpd="sng" algn="ctr">
                      <a:solidFill>
                        <a:srgbClr val="E3D5C3"/>
                      </a:solidFill>
                      <a:prstDash val="solid"/>
                      <a:round/>
                      <a:headEnd type="none" w="med" len="med"/>
                      <a:tailEnd type="none" w="med" len="med"/>
                    </a:lnR>
                    <a:lnT w="9525" cap="flat" cmpd="sng" algn="ctr">
                      <a:solidFill>
                        <a:srgbClr val="E3D5C3"/>
                      </a:solidFill>
                      <a:prstDash val="solid"/>
                      <a:round/>
                      <a:headEnd type="none" w="med" len="med"/>
                      <a:tailEnd type="none" w="med" len="med"/>
                    </a:lnT>
                    <a:lnB w="9525" cap="flat" cmpd="sng" algn="ctr">
                      <a:solidFill>
                        <a:srgbClr val="E3D5C3"/>
                      </a:solidFill>
                      <a:prstDash val="solid"/>
                      <a:round/>
                      <a:headEnd type="none" w="med" len="med"/>
                      <a:tailEnd type="none" w="med" len="med"/>
                    </a:lnB>
                    <a:solidFill>
                      <a:srgbClr val="5D4037"/>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Sinónimos</a:t>
                      </a:r>
                      <a:endParaRPr lang="en-US" sz="1200" dirty="0">
                        <a:latin typeface="Calibri" charset="0"/>
                        <a:ea typeface="Calibri" charset="0"/>
                        <a:cs typeface="Calibri" charset="0"/>
                      </a:endParaRPr>
                    </a:p>
                  </a:txBody>
                  <a:tcPr marL="73152" marR="73152" marT="73152" marB="73152" anchor="ctr">
                    <a:lnL w="9525" cap="flat" cmpd="sng" algn="ctr">
                      <a:solidFill>
                        <a:srgbClr val="E3D5C3"/>
                      </a:solidFill>
                      <a:prstDash val="solid"/>
                      <a:round/>
                      <a:headEnd type="none" w="med" len="med"/>
                      <a:tailEnd type="none" w="med" len="med"/>
                    </a:lnL>
                    <a:lnR w="9525" cap="flat" cmpd="sng" algn="ctr">
                      <a:solidFill>
                        <a:srgbClr val="E3D5C3"/>
                      </a:solidFill>
                      <a:prstDash val="solid"/>
                      <a:round/>
                      <a:headEnd type="none" w="med" len="med"/>
                      <a:tailEnd type="none" w="med" len="med"/>
                    </a:lnR>
                    <a:lnT w="9525" cap="flat" cmpd="sng" algn="ctr">
                      <a:solidFill>
                        <a:srgbClr val="E3D5C3"/>
                      </a:solidFill>
                      <a:prstDash val="solid"/>
                      <a:round/>
                      <a:headEnd type="none" w="med" len="med"/>
                      <a:tailEnd type="none" w="med" len="med"/>
                    </a:lnT>
                    <a:lnB w="9525" cap="flat" cmpd="sng" algn="ctr">
                      <a:solidFill>
                        <a:srgbClr val="E3D5C3"/>
                      </a:solidFill>
                      <a:prstDash val="solid"/>
                      <a:round/>
                      <a:headEnd type="none" w="med" len="med"/>
                      <a:tailEnd type="none" w="med" len="med"/>
                    </a:lnB>
                    <a:solidFill>
                      <a:srgbClr val="5D4037"/>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Así lo buscamos</a:t>
                      </a:r>
                      <a:endParaRPr lang="en-US" sz="1200" dirty="0">
                        <a:latin typeface="Calibri" charset="0"/>
                        <a:ea typeface="Calibri" charset="0"/>
                        <a:cs typeface="Calibri" charset="0"/>
                      </a:endParaRPr>
                    </a:p>
                  </a:txBody>
                  <a:tcPr marL="73152" marR="73152" marT="73152" marB="73152" anchor="ctr">
                    <a:lnL w="9525" cap="flat" cmpd="sng" algn="ctr">
                      <a:solidFill>
                        <a:srgbClr val="E3D5C3"/>
                      </a:solidFill>
                      <a:prstDash val="solid"/>
                      <a:round/>
                      <a:headEnd type="none" w="med" len="med"/>
                      <a:tailEnd type="none" w="med" len="med"/>
                    </a:lnL>
                    <a:lnR w="9525" cap="flat" cmpd="sng" algn="ctr">
                      <a:solidFill>
                        <a:srgbClr val="E3D5C3"/>
                      </a:solidFill>
                      <a:prstDash val="solid"/>
                      <a:round/>
                      <a:headEnd type="none" w="med" len="med"/>
                      <a:tailEnd type="none" w="med" len="med"/>
                    </a:lnR>
                    <a:lnT w="9525" cap="flat" cmpd="sng" algn="ctr">
                      <a:solidFill>
                        <a:srgbClr val="E3D5C3"/>
                      </a:solidFill>
                      <a:prstDash val="solid"/>
                      <a:round/>
                      <a:headEnd type="none" w="med" len="med"/>
                      <a:tailEnd type="none" w="med" len="med"/>
                    </a:lnT>
                    <a:lnB w="9525" cap="flat" cmpd="sng" algn="ctr">
                      <a:solidFill>
                        <a:srgbClr val="E3D5C3"/>
                      </a:solidFill>
                      <a:prstDash val="solid"/>
                      <a:round/>
                      <a:headEnd type="none" w="med" len="med"/>
                      <a:tailEnd type="none" w="med" len="med"/>
                    </a:lnB>
                    <a:solidFill>
                      <a:srgbClr val="5D4037"/>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¿Dónde?</a:t>
                      </a:r>
                      <a:endParaRPr lang="en-US" sz="1200" dirty="0">
                        <a:latin typeface="Calibri" charset="0"/>
                        <a:ea typeface="Calibri" charset="0"/>
                        <a:cs typeface="Calibri" charset="0"/>
                      </a:endParaRPr>
                    </a:p>
                  </a:txBody>
                  <a:tcPr marL="73152" marR="73152" marT="73152" marB="73152" anchor="ctr">
                    <a:lnL w="9525" cap="flat" cmpd="sng" algn="ctr">
                      <a:solidFill>
                        <a:srgbClr val="E3D5C3"/>
                      </a:solidFill>
                      <a:prstDash val="solid"/>
                      <a:round/>
                      <a:headEnd type="none" w="med" len="med"/>
                      <a:tailEnd type="none" w="med" len="med"/>
                    </a:lnL>
                    <a:lnR w="9525" cap="flat" cmpd="sng" algn="ctr">
                      <a:solidFill>
                        <a:srgbClr val="E3D5C3"/>
                      </a:solidFill>
                      <a:prstDash val="solid"/>
                      <a:round/>
                      <a:headEnd type="none" w="med" len="med"/>
                      <a:tailEnd type="none" w="med" len="med"/>
                    </a:lnR>
                    <a:lnT w="9525" cap="flat" cmpd="sng" algn="ctr">
                      <a:solidFill>
                        <a:srgbClr val="E3D5C3"/>
                      </a:solidFill>
                      <a:prstDash val="solid"/>
                      <a:round/>
                      <a:headEnd type="none" w="med" len="med"/>
                      <a:tailEnd type="none" w="med" len="med"/>
                    </a:lnT>
                    <a:lnB w="9525" cap="flat" cmpd="sng" algn="ctr">
                      <a:solidFill>
                        <a:srgbClr val="E3D5C3"/>
                      </a:solidFill>
                      <a:prstDash val="solid"/>
                      <a:round/>
                      <a:headEnd type="none" w="med" len="med"/>
                      <a:tailEnd type="none" w="med" len="med"/>
                    </a:lnB>
                    <a:solidFill>
                      <a:srgbClr val="5D4037"/>
                    </a:solidFill>
                  </a:tcPr>
                </a:tc>
              </a:tr>
              <a:tr h="475488">
                <a:tc>
                  <a:txBody>
                    <a:bodyPr/>
                    <a:lstStyle/>
                    <a:p>
                      <a:pPr algn="l" indent="0" marL="0">
                        <a:buNone/>
                      </a:pPr>
                      <a:r>
                        <a:rPr lang="en-US" sz="1100" dirty="0">
                          <a:solidFill>
                            <a:srgbClr val="4E342E"/>
                          </a:solidFill>
                          <a:latin typeface="Calibri" pitchFamily="34" charset="0"/>
                          <a:ea typeface="Calibri" pitchFamily="34" charset="-122"/>
                          <a:cs typeface="Calibri" pitchFamily="34" charset="-120"/>
                        </a:rPr>
                        <a:t>Inteligencia artificial</a:t>
                      </a:r>
                      <a:endParaRPr lang="en-US" sz="1100" dirty="0">
                        <a:latin typeface="Calibri" charset="0"/>
                        <a:ea typeface="Calibri" charset="0"/>
                        <a:cs typeface="Calibri" charset="0"/>
                      </a:endParaRPr>
                    </a:p>
                  </a:txBody>
                  <a:tcPr marL="73152" marR="73152" marT="73152" marB="73152" anchor="ctr">
                    <a:lnL w="9525" cap="flat" cmpd="sng" algn="ctr">
                      <a:solidFill>
                        <a:srgbClr val="E3D5C3"/>
                      </a:solidFill>
                      <a:prstDash val="solid"/>
                      <a:round/>
                      <a:headEnd type="none" w="med" len="med"/>
                      <a:tailEnd type="none" w="med" len="med"/>
                    </a:lnL>
                    <a:lnR w="9525" cap="flat" cmpd="sng" algn="ctr">
                      <a:solidFill>
                        <a:srgbClr val="E3D5C3"/>
                      </a:solidFill>
                      <a:prstDash val="solid"/>
                      <a:round/>
                      <a:headEnd type="none" w="med" len="med"/>
                      <a:tailEnd type="none" w="med" len="med"/>
                    </a:lnR>
                    <a:lnT w="9525" cap="flat" cmpd="sng" algn="ctr">
                      <a:solidFill>
                        <a:srgbClr val="E3D5C3"/>
                      </a:solidFill>
                      <a:prstDash val="solid"/>
                      <a:round/>
                      <a:headEnd type="none" w="med" len="med"/>
                      <a:tailEnd type="none" w="med" len="med"/>
                    </a:lnT>
                    <a:lnB w="9525" cap="flat" cmpd="sng" algn="ctr">
                      <a:solidFill>
                        <a:srgbClr val="E3D5C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E342E"/>
                          </a:solidFill>
                          <a:latin typeface="Calibri" pitchFamily="34" charset="0"/>
                          <a:ea typeface="Calibri" pitchFamily="34" charset="-122"/>
                          <a:cs typeface="Calibri" pitchFamily="34" charset="-120"/>
                        </a:rPr>
                        <a:t>IA, algoritmos, chatbots</a:t>
                      </a:r>
                      <a:endParaRPr lang="en-US" sz="1100" dirty="0">
                        <a:latin typeface="Calibri" charset="0"/>
                        <a:ea typeface="Calibri" charset="0"/>
                        <a:cs typeface="Calibri" charset="0"/>
                      </a:endParaRPr>
                    </a:p>
                  </a:txBody>
                  <a:tcPr marL="73152" marR="73152" marT="73152" marB="73152" anchor="ctr">
                    <a:lnL w="9525" cap="flat" cmpd="sng" algn="ctr">
                      <a:solidFill>
                        <a:srgbClr val="E3D5C3"/>
                      </a:solidFill>
                      <a:prstDash val="solid"/>
                      <a:round/>
                      <a:headEnd type="none" w="med" len="med"/>
                      <a:tailEnd type="none" w="med" len="med"/>
                    </a:lnL>
                    <a:lnR w="9525" cap="flat" cmpd="sng" algn="ctr">
                      <a:solidFill>
                        <a:srgbClr val="E3D5C3"/>
                      </a:solidFill>
                      <a:prstDash val="solid"/>
                      <a:round/>
                      <a:headEnd type="none" w="med" len="med"/>
                      <a:tailEnd type="none" w="med" len="med"/>
                    </a:lnR>
                    <a:lnT w="9525" cap="flat" cmpd="sng" algn="ctr">
                      <a:solidFill>
                        <a:srgbClr val="E3D5C3"/>
                      </a:solidFill>
                      <a:prstDash val="solid"/>
                      <a:round/>
                      <a:headEnd type="none" w="med" len="med"/>
                      <a:tailEnd type="none" w="med" len="med"/>
                    </a:lnT>
                    <a:lnB w="9525" cap="flat" cmpd="sng" algn="ctr">
                      <a:solidFill>
                        <a:srgbClr val="E3D5C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E342E"/>
                          </a:solidFill>
                          <a:latin typeface="Calibri" pitchFamily="34" charset="0"/>
                          <a:ea typeface="Calibri" pitchFamily="34" charset="-122"/>
                          <a:cs typeface="Calibri" pitchFamily="34" charset="-120"/>
                        </a:rPr>
                        <a:t>“inteligencia artificial” AND “mal uso”</a:t>
                      </a:r>
                      <a:endParaRPr lang="en-US" sz="1100" dirty="0">
                        <a:latin typeface="Calibri" charset="0"/>
                        <a:ea typeface="Calibri" charset="0"/>
                        <a:cs typeface="Calibri" charset="0"/>
                      </a:endParaRPr>
                    </a:p>
                  </a:txBody>
                  <a:tcPr marL="73152" marR="73152" marT="73152" marB="73152" anchor="ctr">
                    <a:lnL w="9525" cap="flat" cmpd="sng" algn="ctr">
                      <a:solidFill>
                        <a:srgbClr val="E3D5C3"/>
                      </a:solidFill>
                      <a:prstDash val="solid"/>
                      <a:round/>
                      <a:headEnd type="none" w="med" len="med"/>
                      <a:tailEnd type="none" w="med" len="med"/>
                    </a:lnL>
                    <a:lnR w="9525" cap="flat" cmpd="sng" algn="ctr">
                      <a:solidFill>
                        <a:srgbClr val="E3D5C3"/>
                      </a:solidFill>
                      <a:prstDash val="solid"/>
                      <a:round/>
                      <a:headEnd type="none" w="med" len="med"/>
                      <a:tailEnd type="none" w="med" len="med"/>
                    </a:lnR>
                    <a:lnT w="9525" cap="flat" cmpd="sng" algn="ctr">
                      <a:solidFill>
                        <a:srgbClr val="E3D5C3"/>
                      </a:solidFill>
                      <a:prstDash val="solid"/>
                      <a:round/>
                      <a:headEnd type="none" w="med" len="med"/>
                      <a:tailEnd type="none" w="med" len="med"/>
                    </a:lnT>
                    <a:lnB w="9525" cap="flat" cmpd="sng" algn="ctr">
                      <a:solidFill>
                        <a:srgbClr val="E3D5C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E342E"/>
                          </a:solidFill>
                          <a:latin typeface="Calibri" pitchFamily="34" charset="0"/>
                          <a:ea typeface="Calibri" pitchFamily="34" charset="-122"/>
                          <a:cs typeface="Calibri" pitchFamily="34" charset="-120"/>
                        </a:rPr>
                        <a:t>Google Académico</a:t>
                      </a:r>
                      <a:endParaRPr lang="en-US" sz="1100" dirty="0">
                        <a:latin typeface="Calibri" charset="0"/>
                        <a:ea typeface="Calibri" charset="0"/>
                        <a:cs typeface="Calibri" charset="0"/>
                      </a:endParaRPr>
                    </a:p>
                  </a:txBody>
                  <a:tcPr marL="73152" marR="73152" marT="73152" marB="73152" anchor="ctr">
                    <a:lnL w="9525" cap="flat" cmpd="sng" algn="ctr">
                      <a:solidFill>
                        <a:srgbClr val="E3D5C3"/>
                      </a:solidFill>
                      <a:prstDash val="solid"/>
                      <a:round/>
                      <a:headEnd type="none" w="med" len="med"/>
                      <a:tailEnd type="none" w="med" len="med"/>
                    </a:lnL>
                    <a:lnR w="9525" cap="flat" cmpd="sng" algn="ctr">
                      <a:solidFill>
                        <a:srgbClr val="E3D5C3"/>
                      </a:solidFill>
                      <a:prstDash val="solid"/>
                      <a:round/>
                      <a:headEnd type="none" w="med" len="med"/>
                      <a:tailEnd type="none" w="med" len="med"/>
                    </a:lnR>
                    <a:lnT w="9525" cap="flat" cmpd="sng" algn="ctr">
                      <a:solidFill>
                        <a:srgbClr val="E3D5C3"/>
                      </a:solidFill>
                      <a:prstDash val="solid"/>
                      <a:round/>
                      <a:headEnd type="none" w="med" len="med"/>
                      <a:tailEnd type="none" w="med" len="med"/>
                    </a:lnT>
                    <a:lnB w="9525" cap="flat" cmpd="sng" algn="ctr">
                      <a:solidFill>
                        <a:srgbClr val="E3D5C3"/>
                      </a:solidFill>
                      <a:prstDash val="solid"/>
                      <a:round/>
                      <a:headEnd type="none" w="med" len="med"/>
                      <a:tailEnd type="none" w="med" len="med"/>
                    </a:lnB>
                    <a:solidFill>
                      <a:srgbClr val="FFFFFF"/>
                    </a:solidFill>
                  </a:tcPr>
                </a:tc>
              </a:tr>
              <a:tr h="475488">
                <a:tc>
                  <a:txBody>
                    <a:bodyPr/>
                    <a:lstStyle/>
                    <a:p>
                      <a:pPr algn="l" indent="0" marL="0">
                        <a:buNone/>
                      </a:pPr>
                      <a:r>
                        <a:rPr lang="en-US" sz="1100" dirty="0">
                          <a:solidFill>
                            <a:srgbClr val="4E342E"/>
                          </a:solidFill>
                          <a:latin typeface="Calibri" pitchFamily="34" charset="0"/>
                          <a:ea typeface="Calibri" pitchFamily="34" charset="-122"/>
                          <a:cs typeface="Calibri" pitchFamily="34" charset="-120"/>
                        </a:rPr>
                        <a:t>Mal uso</a:t>
                      </a:r>
                      <a:endParaRPr lang="en-US" sz="1100" dirty="0">
                        <a:latin typeface="Calibri" charset="0"/>
                        <a:ea typeface="Calibri" charset="0"/>
                        <a:cs typeface="Calibri" charset="0"/>
                      </a:endParaRPr>
                    </a:p>
                  </a:txBody>
                  <a:tcPr marL="73152" marR="73152" marT="73152" marB="73152" anchor="ctr">
                    <a:lnL w="9525" cap="flat" cmpd="sng" algn="ctr">
                      <a:solidFill>
                        <a:srgbClr val="E3D5C3"/>
                      </a:solidFill>
                      <a:prstDash val="solid"/>
                      <a:round/>
                      <a:headEnd type="none" w="med" len="med"/>
                      <a:tailEnd type="none" w="med" len="med"/>
                    </a:lnL>
                    <a:lnR w="9525" cap="flat" cmpd="sng" algn="ctr">
                      <a:solidFill>
                        <a:srgbClr val="E3D5C3"/>
                      </a:solidFill>
                      <a:prstDash val="solid"/>
                      <a:round/>
                      <a:headEnd type="none" w="med" len="med"/>
                      <a:tailEnd type="none" w="med" len="med"/>
                    </a:lnR>
                    <a:lnT w="9525" cap="flat" cmpd="sng" algn="ctr">
                      <a:solidFill>
                        <a:srgbClr val="E3D5C3"/>
                      </a:solidFill>
                      <a:prstDash val="solid"/>
                      <a:round/>
                      <a:headEnd type="none" w="med" len="med"/>
                      <a:tailEnd type="none" w="med" len="med"/>
                    </a:lnT>
                    <a:lnB w="9525" cap="flat" cmpd="sng" algn="ctr">
                      <a:solidFill>
                        <a:srgbClr val="E3D5C3"/>
                      </a:solidFill>
                      <a:prstDash val="solid"/>
                      <a:round/>
                      <a:headEnd type="none" w="med" len="med"/>
                      <a:tailEnd type="none" w="med" len="med"/>
                    </a:lnB>
                    <a:solidFill>
                      <a:srgbClr val="FAF5EC"/>
                    </a:solidFill>
                  </a:tcPr>
                </a:tc>
                <a:tc>
                  <a:txBody>
                    <a:bodyPr/>
                    <a:lstStyle/>
                    <a:p>
                      <a:pPr algn="l" indent="0" marL="0">
                        <a:buNone/>
                      </a:pPr>
                      <a:r>
                        <a:rPr lang="en-US" sz="1100" dirty="0">
                          <a:solidFill>
                            <a:srgbClr val="4E342E"/>
                          </a:solidFill>
                          <a:latin typeface="Calibri" pitchFamily="34" charset="0"/>
                          <a:ea typeface="Calibri" pitchFamily="34" charset="-122"/>
                          <a:cs typeface="Calibri" pitchFamily="34" charset="-120"/>
                        </a:rPr>
                        <a:t>riesgos, peligros, ética</a:t>
                      </a:r>
                      <a:endParaRPr lang="en-US" sz="1100" dirty="0">
                        <a:latin typeface="Calibri" charset="0"/>
                        <a:ea typeface="Calibri" charset="0"/>
                        <a:cs typeface="Calibri" charset="0"/>
                      </a:endParaRPr>
                    </a:p>
                  </a:txBody>
                  <a:tcPr marL="73152" marR="73152" marT="73152" marB="73152" anchor="ctr">
                    <a:lnL w="9525" cap="flat" cmpd="sng" algn="ctr">
                      <a:solidFill>
                        <a:srgbClr val="E3D5C3"/>
                      </a:solidFill>
                      <a:prstDash val="solid"/>
                      <a:round/>
                      <a:headEnd type="none" w="med" len="med"/>
                      <a:tailEnd type="none" w="med" len="med"/>
                    </a:lnL>
                    <a:lnR w="9525" cap="flat" cmpd="sng" algn="ctr">
                      <a:solidFill>
                        <a:srgbClr val="E3D5C3"/>
                      </a:solidFill>
                      <a:prstDash val="solid"/>
                      <a:round/>
                      <a:headEnd type="none" w="med" len="med"/>
                      <a:tailEnd type="none" w="med" len="med"/>
                    </a:lnR>
                    <a:lnT w="9525" cap="flat" cmpd="sng" algn="ctr">
                      <a:solidFill>
                        <a:srgbClr val="E3D5C3"/>
                      </a:solidFill>
                      <a:prstDash val="solid"/>
                      <a:round/>
                      <a:headEnd type="none" w="med" len="med"/>
                      <a:tailEnd type="none" w="med" len="med"/>
                    </a:lnT>
                    <a:lnB w="9525" cap="flat" cmpd="sng" algn="ctr">
                      <a:solidFill>
                        <a:srgbClr val="E3D5C3"/>
                      </a:solidFill>
                      <a:prstDash val="solid"/>
                      <a:round/>
                      <a:headEnd type="none" w="med" len="med"/>
                      <a:tailEnd type="none" w="med" len="med"/>
                    </a:lnB>
                    <a:solidFill>
                      <a:srgbClr val="FAF5EC"/>
                    </a:solidFill>
                  </a:tcPr>
                </a:tc>
                <a:tc>
                  <a:txBody>
                    <a:bodyPr/>
                    <a:lstStyle/>
                    <a:p>
                      <a:pPr algn="l" indent="0" marL="0">
                        <a:buNone/>
                      </a:pPr>
                      <a:r>
                        <a:rPr lang="en-US" sz="1100" dirty="0">
                          <a:solidFill>
                            <a:srgbClr val="4E342E"/>
                          </a:solidFill>
                          <a:latin typeface="Calibri" pitchFamily="34" charset="0"/>
                          <a:ea typeface="Calibri" pitchFamily="34" charset="-122"/>
                          <a:cs typeface="Calibri" pitchFamily="34" charset="-120"/>
                        </a:rPr>
                        <a:t>“riesgos de la IA” AND estudiantes</a:t>
                      </a:r>
                      <a:endParaRPr lang="en-US" sz="1100" dirty="0">
                        <a:latin typeface="Calibri" charset="0"/>
                        <a:ea typeface="Calibri" charset="0"/>
                        <a:cs typeface="Calibri" charset="0"/>
                      </a:endParaRPr>
                    </a:p>
                  </a:txBody>
                  <a:tcPr marL="73152" marR="73152" marT="73152" marB="73152" anchor="ctr">
                    <a:lnL w="9525" cap="flat" cmpd="sng" algn="ctr">
                      <a:solidFill>
                        <a:srgbClr val="E3D5C3"/>
                      </a:solidFill>
                      <a:prstDash val="solid"/>
                      <a:round/>
                      <a:headEnd type="none" w="med" len="med"/>
                      <a:tailEnd type="none" w="med" len="med"/>
                    </a:lnL>
                    <a:lnR w="9525" cap="flat" cmpd="sng" algn="ctr">
                      <a:solidFill>
                        <a:srgbClr val="E3D5C3"/>
                      </a:solidFill>
                      <a:prstDash val="solid"/>
                      <a:round/>
                      <a:headEnd type="none" w="med" len="med"/>
                      <a:tailEnd type="none" w="med" len="med"/>
                    </a:lnR>
                    <a:lnT w="9525" cap="flat" cmpd="sng" algn="ctr">
                      <a:solidFill>
                        <a:srgbClr val="E3D5C3"/>
                      </a:solidFill>
                      <a:prstDash val="solid"/>
                      <a:round/>
                      <a:headEnd type="none" w="med" len="med"/>
                      <a:tailEnd type="none" w="med" len="med"/>
                    </a:lnT>
                    <a:lnB w="9525" cap="flat" cmpd="sng" algn="ctr">
                      <a:solidFill>
                        <a:srgbClr val="E3D5C3"/>
                      </a:solidFill>
                      <a:prstDash val="solid"/>
                      <a:round/>
                      <a:headEnd type="none" w="med" len="med"/>
                      <a:tailEnd type="none" w="med" len="med"/>
                    </a:lnB>
                    <a:solidFill>
                      <a:srgbClr val="FAF5EC"/>
                    </a:solidFill>
                  </a:tcPr>
                </a:tc>
                <a:tc>
                  <a:txBody>
                    <a:bodyPr/>
                    <a:lstStyle/>
                    <a:p>
                      <a:pPr algn="l" indent="0" marL="0">
                        <a:buNone/>
                      </a:pPr>
                      <a:r>
                        <a:rPr lang="en-US" sz="1100" dirty="0">
                          <a:solidFill>
                            <a:srgbClr val="4E342E"/>
                          </a:solidFill>
                          <a:latin typeface="Calibri" pitchFamily="34" charset="0"/>
                          <a:ea typeface="Calibri" pitchFamily="34" charset="-122"/>
                          <a:cs typeface="Calibri" pitchFamily="34" charset="-120"/>
                        </a:rPr>
                        <a:t>Páginas .org, .edu y .gob</a:t>
                      </a:r>
                      <a:endParaRPr lang="en-US" sz="1100" dirty="0">
                        <a:latin typeface="Calibri" charset="0"/>
                        <a:ea typeface="Calibri" charset="0"/>
                        <a:cs typeface="Calibri" charset="0"/>
                      </a:endParaRPr>
                    </a:p>
                  </a:txBody>
                  <a:tcPr marL="73152" marR="73152" marT="73152" marB="73152" anchor="ctr">
                    <a:lnL w="9525" cap="flat" cmpd="sng" algn="ctr">
                      <a:solidFill>
                        <a:srgbClr val="E3D5C3"/>
                      </a:solidFill>
                      <a:prstDash val="solid"/>
                      <a:round/>
                      <a:headEnd type="none" w="med" len="med"/>
                      <a:tailEnd type="none" w="med" len="med"/>
                    </a:lnL>
                    <a:lnR w="9525" cap="flat" cmpd="sng" algn="ctr">
                      <a:solidFill>
                        <a:srgbClr val="E3D5C3"/>
                      </a:solidFill>
                      <a:prstDash val="solid"/>
                      <a:round/>
                      <a:headEnd type="none" w="med" len="med"/>
                      <a:tailEnd type="none" w="med" len="med"/>
                    </a:lnR>
                    <a:lnT w="9525" cap="flat" cmpd="sng" algn="ctr">
                      <a:solidFill>
                        <a:srgbClr val="E3D5C3"/>
                      </a:solidFill>
                      <a:prstDash val="solid"/>
                      <a:round/>
                      <a:headEnd type="none" w="med" len="med"/>
                      <a:tailEnd type="none" w="med" len="med"/>
                    </a:lnT>
                    <a:lnB w="9525" cap="flat" cmpd="sng" algn="ctr">
                      <a:solidFill>
                        <a:srgbClr val="E3D5C3"/>
                      </a:solidFill>
                      <a:prstDash val="solid"/>
                      <a:round/>
                      <a:headEnd type="none" w="med" len="med"/>
                      <a:tailEnd type="none" w="med" len="med"/>
                    </a:lnB>
                    <a:solidFill>
                      <a:srgbClr val="FAF5EC"/>
                    </a:solidFill>
                  </a:tcPr>
                </a:tc>
              </a:tr>
              <a:tr h="475488">
                <a:tc>
                  <a:txBody>
                    <a:bodyPr/>
                    <a:lstStyle/>
                    <a:p>
                      <a:pPr algn="l" indent="0" marL="0">
                        <a:buNone/>
                      </a:pPr>
                      <a:r>
                        <a:rPr lang="en-US" sz="1100" dirty="0">
                          <a:solidFill>
                            <a:srgbClr val="4E342E"/>
                          </a:solidFill>
                          <a:latin typeface="Calibri" pitchFamily="34" charset="0"/>
                          <a:ea typeface="Calibri" pitchFamily="34" charset="-122"/>
                          <a:cs typeface="Calibri" pitchFamily="34" charset="-120"/>
                        </a:rPr>
                        <a:t>Consecuencias</a:t>
                      </a:r>
                      <a:endParaRPr lang="en-US" sz="1100" dirty="0">
                        <a:latin typeface="Calibri" charset="0"/>
                        <a:ea typeface="Calibri" charset="0"/>
                        <a:cs typeface="Calibri" charset="0"/>
                      </a:endParaRPr>
                    </a:p>
                  </a:txBody>
                  <a:tcPr marL="73152" marR="73152" marT="73152" marB="73152" anchor="ctr">
                    <a:lnL w="9525" cap="flat" cmpd="sng" algn="ctr">
                      <a:solidFill>
                        <a:srgbClr val="E3D5C3"/>
                      </a:solidFill>
                      <a:prstDash val="solid"/>
                      <a:round/>
                      <a:headEnd type="none" w="med" len="med"/>
                      <a:tailEnd type="none" w="med" len="med"/>
                    </a:lnL>
                    <a:lnR w="9525" cap="flat" cmpd="sng" algn="ctr">
                      <a:solidFill>
                        <a:srgbClr val="E3D5C3"/>
                      </a:solidFill>
                      <a:prstDash val="solid"/>
                      <a:round/>
                      <a:headEnd type="none" w="med" len="med"/>
                      <a:tailEnd type="none" w="med" len="med"/>
                    </a:lnR>
                    <a:lnT w="9525" cap="flat" cmpd="sng" algn="ctr">
                      <a:solidFill>
                        <a:srgbClr val="E3D5C3"/>
                      </a:solidFill>
                      <a:prstDash val="solid"/>
                      <a:round/>
                      <a:headEnd type="none" w="med" len="med"/>
                      <a:tailEnd type="none" w="med" len="med"/>
                    </a:lnT>
                    <a:lnB w="9525" cap="flat" cmpd="sng" algn="ctr">
                      <a:solidFill>
                        <a:srgbClr val="E3D5C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E342E"/>
                          </a:solidFill>
                          <a:latin typeface="Calibri" pitchFamily="34" charset="0"/>
                          <a:ea typeface="Calibri" pitchFamily="34" charset="-122"/>
                          <a:cs typeface="Calibri" pitchFamily="34" charset="-120"/>
                        </a:rPr>
                        <a:t>efectos, impacto, daños</a:t>
                      </a:r>
                      <a:endParaRPr lang="en-US" sz="1100" dirty="0">
                        <a:latin typeface="Calibri" charset="0"/>
                        <a:ea typeface="Calibri" charset="0"/>
                        <a:cs typeface="Calibri" charset="0"/>
                      </a:endParaRPr>
                    </a:p>
                  </a:txBody>
                  <a:tcPr marL="73152" marR="73152" marT="73152" marB="73152" anchor="ctr">
                    <a:lnL w="9525" cap="flat" cmpd="sng" algn="ctr">
                      <a:solidFill>
                        <a:srgbClr val="E3D5C3"/>
                      </a:solidFill>
                      <a:prstDash val="solid"/>
                      <a:round/>
                      <a:headEnd type="none" w="med" len="med"/>
                      <a:tailEnd type="none" w="med" len="med"/>
                    </a:lnL>
                    <a:lnR w="9525" cap="flat" cmpd="sng" algn="ctr">
                      <a:solidFill>
                        <a:srgbClr val="E3D5C3"/>
                      </a:solidFill>
                      <a:prstDash val="solid"/>
                      <a:round/>
                      <a:headEnd type="none" w="med" len="med"/>
                      <a:tailEnd type="none" w="med" len="med"/>
                    </a:lnR>
                    <a:lnT w="9525" cap="flat" cmpd="sng" algn="ctr">
                      <a:solidFill>
                        <a:srgbClr val="E3D5C3"/>
                      </a:solidFill>
                      <a:prstDash val="solid"/>
                      <a:round/>
                      <a:headEnd type="none" w="med" len="med"/>
                      <a:tailEnd type="none" w="med" len="med"/>
                    </a:lnT>
                    <a:lnB w="9525" cap="flat" cmpd="sng" algn="ctr">
                      <a:solidFill>
                        <a:srgbClr val="E3D5C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E342E"/>
                          </a:solidFill>
                          <a:latin typeface="Calibri" pitchFamily="34" charset="0"/>
                          <a:ea typeface="Calibri" pitchFamily="34" charset="-122"/>
                          <a:cs typeface="Calibri" pitchFamily="34" charset="-120"/>
                        </a:rPr>
                        <a:t>(deepfakes OR “noticias falsas”) AND IA</a:t>
                      </a:r>
                      <a:endParaRPr lang="en-US" sz="1100" dirty="0">
                        <a:latin typeface="Calibri" charset="0"/>
                        <a:ea typeface="Calibri" charset="0"/>
                        <a:cs typeface="Calibri" charset="0"/>
                      </a:endParaRPr>
                    </a:p>
                  </a:txBody>
                  <a:tcPr marL="73152" marR="73152" marT="73152" marB="73152" anchor="ctr">
                    <a:lnL w="9525" cap="flat" cmpd="sng" algn="ctr">
                      <a:solidFill>
                        <a:srgbClr val="E3D5C3"/>
                      </a:solidFill>
                      <a:prstDash val="solid"/>
                      <a:round/>
                      <a:headEnd type="none" w="med" len="med"/>
                      <a:tailEnd type="none" w="med" len="med"/>
                    </a:lnL>
                    <a:lnR w="9525" cap="flat" cmpd="sng" algn="ctr">
                      <a:solidFill>
                        <a:srgbClr val="E3D5C3"/>
                      </a:solidFill>
                      <a:prstDash val="solid"/>
                      <a:round/>
                      <a:headEnd type="none" w="med" len="med"/>
                      <a:tailEnd type="none" w="med" len="med"/>
                    </a:lnR>
                    <a:lnT w="9525" cap="flat" cmpd="sng" algn="ctr">
                      <a:solidFill>
                        <a:srgbClr val="E3D5C3"/>
                      </a:solidFill>
                      <a:prstDash val="solid"/>
                      <a:round/>
                      <a:headEnd type="none" w="med" len="med"/>
                      <a:tailEnd type="none" w="med" len="med"/>
                    </a:lnT>
                    <a:lnB w="9525" cap="flat" cmpd="sng" algn="ctr">
                      <a:solidFill>
                        <a:srgbClr val="E3D5C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E342E"/>
                          </a:solidFill>
                          <a:latin typeface="Calibri" pitchFamily="34" charset="0"/>
                          <a:ea typeface="Calibri" pitchFamily="34" charset="-122"/>
                          <a:cs typeface="Calibri" pitchFamily="34" charset="-120"/>
                        </a:rPr>
                        <a:t>UNESCO y prensa seria</a:t>
                      </a:r>
                      <a:endParaRPr lang="en-US" sz="1100" dirty="0">
                        <a:latin typeface="Calibri" charset="0"/>
                        <a:ea typeface="Calibri" charset="0"/>
                        <a:cs typeface="Calibri" charset="0"/>
                      </a:endParaRPr>
                    </a:p>
                  </a:txBody>
                  <a:tcPr marL="73152" marR="73152" marT="73152" marB="73152" anchor="ctr">
                    <a:lnL w="9525" cap="flat" cmpd="sng" algn="ctr">
                      <a:solidFill>
                        <a:srgbClr val="E3D5C3"/>
                      </a:solidFill>
                      <a:prstDash val="solid"/>
                      <a:round/>
                      <a:headEnd type="none" w="med" len="med"/>
                      <a:tailEnd type="none" w="med" len="med"/>
                    </a:lnL>
                    <a:lnR w="9525" cap="flat" cmpd="sng" algn="ctr">
                      <a:solidFill>
                        <a:srgbClr val="E3D5C3"/>
                      </a:solidFill>
                      <a:prstDash val="solid"/>
                      <a:round/>
                      <a:headEnd type="none" w="med" len="med"/>
                      <a:tailEnd type="none" w="med" len="med"/>
                    </a:lnR>
                    <a:lnT w="9525" cap="flat" cmpd="sng" algn="ctr">
                      <a:solidFill>
                        <a:srgbClr val="E3D5C3"/>
                      </a:solidFill>
                      <a:prstDash val="solid"/>
                      <a:round/>
                      <a:headEnd type="none" w="med" len="med"/>
                      <a:tailEnd type="none" w="med" len="med"/>
                    </a:lnT>
                    <a:lnB w="9525" cap="flat" cmpd="sng" algn="ctr">
                      <a:solidFill>
                        <a:srgbClr val="E3D5C3"/>
                      </a:solidFill>
                      <a:prstDash val="solid"/>
                      <a:round/>
                      <a:headEnd type="none" w="med" len="med"/>
                      <a:tailEnd type="none" w="med" len="med"/>
                    </a:lnB>
                    <a:solidFill>
                      <a:srgbClr val="FFFFFF"/>
                    </a:solidFill>
                  </a:tcPr>
                </a:tc>
              </a:tr>
            </a:tbl>
          </a:graphicData>
        </a:graphic>
      </p:graphicFrame>
      <p:sp>
        <p:nvSpPr>
          <p:cNvPr id="14" name="Shape 10"/>
          <p:cNvSpPr/>
          <p:nvPr/>
        </p:nvSpPr>
        <p:spPr>
          <a:xfrm>
            <a:off x="502920" y="4800600"/>
            <a:ext cx="3602736" cy="713232"/>
          </a:xfrm>
          <a:prstGeom prst="roundRect">
            <a:avLst>
              <a:gd name="adj" fmla="val 11538"/>
            </a:avLst>
          </a:prstGeom>
          <a:solidFill>
            <a:srgbClr val="FFFDF8"/>
          </a:solidFill>
          <a:ln w="9525">
            <a:solidFill>
              <a:srgbClr val="E3D5C3"/>
            </a:solidFill>
            <a:prstDash val="solid"/>
          </a:ln>
          <a:effectLst>
            <a:outerShdw sx="100000" sy="100000" kx="0" ky="0" algn="bl" rotWithShape="0" blurRad="76200" dist="25400" dir="5400000">
              <a:srgbClr val="8D6E63">
                <a:alpha val="25000"/>
              </a:srgbClr>
            </a:outerShdw>
          </a:effectLst>
        </p:spPr>
      </p:sp>
      <p:sp>
        <p:nvSpPr>
          <p:cNvPr id="15" name="Shape 11"/>
          <p:cNvSpPr/>
          <p:nvPr/>
        </p:nvSpPr>
        <p:spPr>
          <a:xfrm>
            <a:off x="667512" y="4928616"/>
            <a:ext cx="457200" cy="457200"/>
          </a:xfrm>
          <a:prstGeom prst="ellipse">
            <a:avLst/>
          </a:prstGeom>
          <a:solidFill>
            <a:srgbClr val="8D6E63"/>
          </a:solidFill>
          <a:ln/>
        </p:spPr>
      </p:sp>
      <p:pic>
        <p:nvPicPr>
          <p:cNvPr id="16" name="Image 1" descr="preencoded.png">    </p:cNvPr>
          <p:cNvPicPr>
            <a:picLocks noChangeAspect="1"/>
          </p:cNvPicPr>
          <p:nvPr/>
        </p:nvPicPr>
        <p:blipFill>
          <a:blip r:embed="rId2"/>
          <a:stretch>
            <a:fillRect/>
          </a:stretch>
        </p:blipFill>
        <p:spPr>
          <a:xfrm>
            <a:off x="790956" y="5052060"/>
            <a:ext cx="210312" cy="210312"/>
          </a:xfrm>
          <a:prstGeom prst="rect">
            <a:avLst/>
          </a:prstGeom>
        </p:spPr>
      </p:pic>
      <p:sp>
        <p:nvSpPr>
          <p:cNvPr id="17" name="Text 12"/>
          <p:cNvSpPr/>
          <p:nvPr/>
        </p:nvSpPr>
        <p:spPr>
          <a:xfrm>
            <a:off x="1252728" y="4800600"/>
            <a:ext cx="2743200" cy="713232"/>
          </a:xfrm>
          <a:prstGeom prst="rect">
            <a:avLst/>
          </a:prstGeom>
          <a:noFill/>
          <a:ln/>
        </p:spPr>
        <p:txBody>
          <a:bodyPr wrap="square" lIns="0" tIns="0" rIns="0" bIns="0" rtlCol="0" anchor="ctr"/>
          <a:lstStyle/>
          <a:p>
            <a:pPr indent="0" marL="0">
              <a:buNone/>
            </a:pPr>
            <a:r>
              <a:rPr lang="en-US" sz="1150" b="1" dirty="0">
                <a:solidFill>
                  <a:srgbClr val="C67B3B"/>
                </a:solidFill>
                <a:latin typeface="Calibri" pitchFamily="34" charset="0"/>
                <a:ea typeface="Calibri" pitchFamily="34" charset="-122"/>
                <a:cs typeface="Calibri" pitchFamily="34" charset="-120"/>
              </a:rPr>
              <a:t>“comillas”</a:t>
            </a:r>
            <a:pPr indent="0" marL="0">
              <a:buNone/>
            </a:pPr>
            <a:r>
              <a:rPr lang="en-US" sz="1150" dirty="0">
                <a:solidFill>
                  <a:srgbClr val="4E342E"/>
                </a:solidFill>
                <a:latin typeface="Calibri" pitchFamily="34" charset="0"/>
                <a:ea typeface="Calibri" pitchFamily="34" charset="-122"/>
                <a:cs typeface="Calibri" pitchFamily="34" charset="-120"/>
              </a:rPr>
              <a:t> = busca la frase exacta</a:t>
            </a:r>
            <a:endParaRPr lang="en-US" sz="1150" dirty="0"/>
          </a:p>
        </p:txBody>
      </p:sp>
      <p:sp>
        <p:nvSpPr>
          <p:cNvPr id="18" name="Shape 13"/>
          <p:cNvSpPr/>
          <p:nvPr/>
        </p:nvSpPr>
        <p:spPr>
          <a:xfrm>
            <a:off x="4288536" y="4800600"/>
            <a:ext cx="3602736" cy="713232"/>
          </a:xfrm>
          <a:prstGeom prst="roundRect">
            <a:avLst>
              <a:gd name="adj" fmla="val 11538"/>
            </a:avLst>
          </a:prstGeom>
          <a:solidFill>
            <a:srgbClr val="FFFDF8"/>
          </a:solidFill>
          <a:ln w="9525">
            <a:solidFill>
              <a:srgbClr val="E3D5C3"/>
            </a:solidFill>
            <a:prstDash val="solid"/>
          </a:ln>
          <a:effectLst>
            <a:outerShdw sx="100000" sy="100000" kx="0" ky="0" algn="bl" rotWithShape="0" blurRad="76200" dist="25400" dir="5400000">
              <a:srgbClr val="8D6E63">
                <a:alpha val="25000"/>
              </a:srgbClr>
            </a:outerShdw>
          </a:effectLst>
        </p:spPr>
      </p:sp>
      <p:sp>
        <p:nvSpPr>
          <p:cNvPr id="19" name="Shape 14"/>
          <p:cNvSpPr/>
          <p:nvPr/>
        </p:nvSpPr>
        <p:spPr>
          <a:xfrm>
            <a:off x="4453128" y="4928616"/>
            <a:ext cx="457200" cy="457200"/>
          </a:xfrm>
          <a:prstGeom prst="ellipse">
            <a:avLst/>
          </a:prstGeom>
          <a:solidFill>
            <a:srgbClr val="8D6E63"/>
          </a:solidFill>
          <a:ln/>
        </p:spPr>
      </p:sp>
      <p:pic>
        <p:nvPicPr>
          <p:cNvPr id="20" name="Image 2" descr="preencoded.png">    </p:cNvPr>
          <p:cNvPicPr>
            <a:picLocks noChangeAspect="1"/>
          </p:cNvPicPr>
          <p:nvPr/>
        </p:nvPicPr>
        <p:blipFill>
          <a:blip r:embed="rId3"/>
          <a:stretch>
            <a:fillRect/>
          </a:stretch>
        </p:blipFill>
        <p:spPr>
          <a:xfrm>
            <a:off x="4576572" y="5052060"/>
            <a:ext cx="210312" cy="210312"/>
          </a:xfrm>
          <a:prstGeom prst="rect">
            <a:avLst/>
          </a:prstGeom>
        </p:spPr>
      </p:pic>
      <p:sp>
        <p:nvSpPr>
          <p:cNvPr id="21" name="Text 15"/>
          <p:cNvSpPr/>
          <p:nvPr/>
        </p:nvSpPr>
        <p:spPr>
          <a:xfrm>
            <a:off x="5038344" y="4800600"/>
            <a:ext cx="2743200" cy="713232"/>
          </a:xfrm>
          <a:prstGeom prst="rect">
            <a:avLst/>
          </a:prstGeom>
          <a:noFill/>
          <a:ln/>
        </p:spPr>
        <p:txBody>
          <a:bodyPr wrap="square" lIns="0" tIns="0" rIns="0" bIns="0" rtlCol="0" anchor="ctr"/>
          <a:lstStyle/>
          <a:p>
            <a:pPr indent="0" marL="0">
              <a:buNone/>
            </a:pPr>
            <a:r>
              <a:rPr lang="en-US" sz="1150" b="1" dirty="0">
                <a:solidFill>
                  <a:srgbClr val="C67B3B"/>
                </a:solidFill>
                <a:latin typeface="Calibri" pitchFamily="34" charset="0"/>
                <a:ea typeface="Calibri" pitchFamily="34" charset="-122"/>
                <a:cs typeface="Calibri" pitchFamily="34" charset="-120"/>
              </a:rPr>
              <a:t>AND</a:t>
            </a:r>
            <a:pPr indent="0" marL="0">
              <a:buNone/>
            </a:pPr>
            <a:r>
              <a:rPr lang="en-US" sz="1150" dirty="0">
                <a:solidFill>
                  <a:srgbClr val="4E342E"/>
                </a:solidFill>
                <a:latin typeface="Calibri" pitchFamily="34" charset="0"/>
                <a:ea typeface="Calibri" pitchFamily="34" charset="-122"/>
                <a:cs typeface="Calibri" pitchFamily="34" charset="-120"/>
              </a:rPr>
              <a:t> = junta dos ideas</a:t>
            </a:r>
            <a:endParaRPr lang="en-US" sz="1150" dirty="0"/>
          </a:p>
        </p:txBody>
      </p:sp>
      <p:sp>
        <p:nvSpPr>
          <p:cNvPr id="22" name="Shape 16"/>
          <p:cNvSpPr/>
          <p:nvPr/>
        </p:nvSpPr>
        <p:spPr>
          <a:xfrm>
            <a:off x="8074152" y="4800600"/>
            <a:ext cx="3602736" cy="713232"/>
          </a:xfrm>
          <a:prstGeom prst="roundRect">
            <a:avLst>
              <a:gd name="adj" fmla="val 11538"/>
            </a:avLst>
          </a:prstGeom>
          <a:solidFill>
            <a:srgbClr val="FFFDF8"/>
          </a:solidFill>
          <a:ln w="9525">
            <a:solidFill>
              <a:srgbClr val="E3D5C3"/>
            </a:solidFill>
            <a:prstDash val="solid"/>
          </a:ln>
          <a:effectLst>
            <a:outerShdw sx="100000" sy="100000" kx="0" ky="0" algn="bl" rotWithShape="0" blurRad="76200" dist="25400" dir="5400000">
              <a:srgbClr val="8D6E63">
                <a:alpha val="25000"/>
              </a:srgbClr>
            </a:outerShdw>
          </a:effectLst>
        </p:spPr>
      </p:sp>
      <p:sp>
        <p:nvSpPr>
          <p:cNvPr id="23" name="Shape 17"/>
          <p:cNvSpPr/>
          <p:nvPr/>
        </p:nvSpPr>
        <p:spPr>
          <a:xfrm>
            <a:off x="8238744" y="4928616"/>
            <a:ext cx="457200" cy="457200"/>
          </a:xfrm>
          <a:prstGeom prst="ellipse">
            <a:avLst/>
          </a:prstGeom>
          <a:solidFill>
            <a:srgbClr val="8D6E63"/>
          </a:solidFill>
          <a:ln/>
        </p:spPr>
      </p:sp>
      <p:pic>
        <p:nvPicPr>
          <p:cNvPr id="24" name="Image 3" descr="preencoded.png">    </p:cNvPr>
          <p:cNvPicPr>
            <a:picLocks noChangeAspect="1"/>
          </p:cNvPicPr>
          <p:nvPr/>
        </p:nvPicPr>
        <p:blipFill>
          <a:blip r:embed="rId4"/>
          <a:stretch>
            <a:fillRect/>
          </a:stretch>
        </p:blipFill>
        <p:spPr>
          <a:xfrm>
            <a:off x="8362188" y="5052060"/>
            <a:ext cx="210312" cy="210312"/>
          </a:xfrm>
          <a:prstGeom prst="rect">
            <a:avLst/>
          </a:prstGeom>
        </p:spPr>
      </p:pic>
      <p:sp>
        <p:nvSpPr>
          <p:cNvPr id="25" name="Text 18"/>
          <p:cNvSpPr/>
          <p:nvPr/>
        </p:nvSpPr>
        <p:spPr>
          <a:xfrm>
            <a:off x="8823960" y="4800600"/>
            <a:ext cx="2743200" cy="713232"/>
          </a:xfrm>
          <a:prstGeom prst="rect">
            <a:avLst/>
          </a:prstGeom>
          <a:noFill/>
          <a:ln/>
        </p:spPr>
        <p:txBody>
          <a:bodyPr wrap="square" lIns="0" tIns="0" rIns="0" bIns="0" rtlCol="0" anchor="ctr"/>
          <a:lstStyle/>
          <a:p>
            <a:pPr indent="0" marL="0">
              <a:buNone/>
            </a:pPr>
            <a:r>
              <a:rPr lang="en-US" sz="1150" b="1" dirty="0">
                <a:solidFill>
                  <a:srgbClr val="C67B3B"/>
                </a:solidFill>
                <a:latin typeface="Calibri" pitchFamily="34" charset="0"/>
                <a:ea typeface="Calibri" pitchFamily="34" charset="-122"/>
                <a:cs typeface="Calibri" pitchFamily="34" charset="-120"/>
              </a:rPr>
              <a:t>OR</a:t>
            </a:r>
            <a:pPr indent="0" marL="0">
              <a:buNone/>
            </a:pPr>
            <a:r>
              <a:rPr lang="en-US" sz="1150" dirty="0">
                <a:solidFill>
                  <a:srgbClr val="4E342E"/>
                </a:solidFill>
                <a:latin typeface="Calibri" pitchFamily="34" charset="0"/>
                <a:ea typeface="Calibri" pitchFamily="34" charset="-122"/>
                <a:cs typeface="Calibri" pitchFamily="34" charset="-120"/>
              </a:rPr>
              <a:t> = me da opciones parecidas</a:t>
            </a:r>
            <a:endParaRPr lang="en-US" sz="1150" dirty="0"/>
          </a:p>
        </p:txBody>
      </p:sp>
      <p:sp>
        <p:nvSpPr>
          <p:cNvPr id="26" name="Shape 19"/>
          <p:cNvSpPr/>
          <p:nvPr/>
        </p:nvSpPr>
        <p:spPr>
          <a:xfrm>
            <a:off x="530352" y="5806440"/>
            <a:ext cx="457200" cy="457200"/>
          </a:xfrm>
          <a:prstGeom prst="ellipse">
            <a:avLst/>
          </a:prstGeom>
          <a:solidFill>
            <a:srgbClr val="C67B3B"/>
          </a:solidFill>
          <a:ln/>
        </p:spPr>
      </p:sp>
      <p:pic>
        <p:nvPicPr>
          <p:cNvPr id="27" name="Image 4" descr="preencoded.png">    </p:cNvPr>
          <p:cNvPicPr>
            <a:picLocks noChangeAspect="1"/>
          </p:cNvPicPr>
          <p:nvPr/>
        </p:nvPicPr>
        <p:blipFill>
          <a:blip r:embed="rId5"/>
          <a:stretch>
            <a:fillRect/>
          </a:stretch>
        </p:blipFill>
        <p:spPr>
          <a:xfrm>
            <a:off x="653796" y="5929884"/>
            <a:ext cx="210312" cy="210312"/>
          </a:xfrm>
          <a:prstGeom prst="rect">
            <a:avLst/>
          </a:prstGeom>
        </p:spPr>
      </p:pic>
      <p:sp>
        <p:nvSpPr>
          <p:cNvPr id="28" name="Text 20"/>
          <p:cNvSpPr/>
          <p:nvPr/>
        </p:nvSpPr>
        <p:spPr>
          <a:xfrm>
            <a:off x="1143000" y="5806440"/>
            <a:ext cx="10332720" cy="457200"/>
          </a:xfrm>
          <a:prstGeom prst="rect">
            <a:avLst/>
          </a:prstGeom>
          <a:noFill/>
          <a:ln/>
        </p:spPr>
        <p:txBody>
          <a:bodyPr wrap="square" lIns="0" tIns="0" rIns="0" bIns="0" rtlCol="0" anchor="ctr"/>
          <a:lstStyle/>
          <a:p>
            <a:pPr indent="0" marL="0">
              <a:buNone/>
            </a:pPr>
            <a:r>
              <a:rPr lang="en-US" sz="1200" i="1" dirty="0">
                <a:solidFill>
                  <a:srgbClr val="8D6E63"/>
                </a:solidFill>
                <a:latin typeface="Calibri" pitchFamily="34" charset="0"/>
                <a:ea typeface="Calibri" pitchFamily="34" charset="-122"/>
                <a:cs typeface="Calibri" pitchFamily="34" charset="-120"/>
              </a:rPr>
              <a:t>Todo este proceso quedó registrado en nuestra bitácora de investigación (nuestro diario de trabajo). ✔</a:t>
            </a:r>
            <a:endParaRPr lang="en-US" sz="1200" dirty="0"/>
          </a:p>
        </p:txBody>
      </p:sp>
      <p:sp>
        <p:nvSpPr>
          <p:cNvPr id="29" name="Text 21"/>
          <p:cNvSpPr/>
          <p:nvPr/>
        </p:nvSpPr>
        <p:spPr>
          <a:xfrm>
            <a:off x="11247120" y="6446520"/>
            <a:ext cx="777240" cy="292608"/>
          </a:xfrm>
          <a:prstGeom prst="rect">
            <a:avLst/>
          </a:prstGeom>
          <a:noFill/>
          <a:ln/>
        </p:spPr>
        <p:txBody>
          <a:bodyPr wrap="square" lIns="0" tIns="0" rIns="0" bIns="0" rtlCol="0" anchor="ctr"/>
          <a:lstStyle/>
          <a:p>
            <a:pPr algn="r" indent="0" marL="0">
              <a:buNone/>
            </a:pPr>
            <a:r>
              <a:rPr lang="en-US" sz="900" dirty="0">
                <a:solidFill>
                  <a:srgbClr val="8D6E63"/>
                </a:solidFill>
                <a:latin typeface="Calibri" pitchFamily="34" charset="0"/>
                <a:ea typeface="Calibri" pitchFamily="34" charset="-122"/>
                <a:cs typeface="Calibri" pitchFamily="34" charset="-120"/>
              </a:rPr>
              <a:t>5 / 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EDE0"/>
        </a:solidFill>
      </p:bgPr>
    </p:bg>
    <p:spTree>
      <p:nvGrpSpPr>
        <p:cNvPr id="1" name=""/>
        <p:cNvGrpSpPr/>
        <p:nvPr/>
      </p:nvGrpSpPr>
      <p:grpSpPr>
        <a:xfrm>
          <a:off x="0" y="0"/>
          <a:ext cx="0" cy="0"/>
          <a:chOff x="0" y="0"/>
          <a:chExt cx="0" cy="0"/>
        </a:xfrm>
      </p:grpSpPr>
      <p:sp>
        <p:nvSpPr>
          <p:cNvPr id="2" name="Shape 0"/>
          <p:cNvSpPr/>
          <p:nvPr/>
        </p:nvSpPr>
        <p:spPr>
          <a:xfrm>
            <a:off x="10835640" y="-1051560"/>
            <a:ext cx="2468880" cy="2468880"/>
          </a:xfrm>
          <a:prstGeom prst="ellipse">
            <a:avLst/>
          </a:prstGeom>
          <a:solidFill>
            <a:srgbClr val="D7C4A8">
              <a:alpha val="55000"/>
            </a:srgbClr>
          </a:solidFill>
          <a:ln/>
        </p:spPr>
      </p:sp>
      <p:sp>
        <p:nvSpPr>
          <p:cNvPr id="3" name="Shape 1"/>
          <p:cNvSpPr/>
          <p:nvPr/>
        </p:nvSpPr>
        <p:spPr>
          <a:xfrm>
            <a:off x="-777240" y="5806440"/>
            <a:ext cx="1920240" cy="1920240"/>
          </a:xfrm>
          <a:prstGeom prst="ellipse">
            <a:avLst/>
          </a:prstGeom>
          <a:solidFill>
            <a:srgbClr val="D7C4A8">
              <a:alpha val="45000"/>
            </a:srgbClr>
          </a:solidFill>
          <a:ln/>
        </p:spPr>
      </p:sp>
      <p:sp>
        <p:nvSpPr>
          <p:cNvPr id="4" name="Shape 2"/>
          <p:cNvSpPr/>
          <p:nvPr/>
        </p:nvSpPr>
        <p:spPr>
          <a:xfrm>
            <a:off x="502920" y="274320"/>
            <a:ext cx="566928" cy="566928"/>
          </a:xfrm>
          <a:prstGeom prst="ellipse">
            <a:avLst/>
          </a:prstGeom>
          <a:solidFill>
            <a:srgbClr val="C67B3B"/>
          </a:solidFill>
          <a:ln/>
        </p:spPr>
      </p:sp>
      <p:sp>
        <p:nvSpPr>
          <p:cNvPr id="5" name="Text 3"/>
          <p:cNvSpPr/>
          <p:nvPr/>
        </p:nvSpPr>
        <p:spPr>
          <a:xfrm>
            <a:off x="502920" y="2743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6" name="Text 4"/>
          <p:cNvSpPr/>
          <p:nvPr/>
        </p:nvSpPr>
        <p:spPr>
          <a:xfrm>
            <a:off x="1225296" y="274320"/>
            <a:ext cx="10058400" cy="566928"/>
          </a:xfrm>
          <a:prstGeom prst="rect">
            <a:avLst/>
          </a:prstGeom>
          <a:noFill/>
          <a:ln/>
        </p:spPr>
        <p:txBody>
          <a:bodyPr wrap="square" lIns="0" tIns="0" rIns="0" bIns="0" rtlCol="0" anchor="ctr"/>
          <a:lstStyle/>
          <a:p>
            <a:pPr indent="0" marL="0">
              <a:buNone/>
            </a:pPr>
            <a:r>
              <a:rPr lang="en-US" sz="1300" b="1" spc="200" kern="0" dirty="0">
                <a:solidFill>
                  <a:srgbClr val="4E342E"/>
                </a:solidFill>
                <a:latin typeface="Calibri" pitchFamily="34" charset="0"/>
                <a:ea typeface="Calibri" pitchFamily="34" charset="-122"/>
                <a:cs typeface="Calibri" pitchFamily="34" charset="-120"/>
              </a:rPr>
              <a:t>ALUMNO 5</a:t>
            </a:r>
            <a:pPr indent="0" marL="0">
              <a:buNone/>
            </a:pPr>
            <a:r>
              <a:rPr lang="en-US" sz="1300" b="1" spc="200" kern="0" dirty="0">
                <a:solidFill>
                  <a:srgbClr val="8D6E63"/>
                </a:solidFill>
                <a:latin typeface="Calibri" pitchFamily="34" charset="0"/>
                <a:ea typeface="Calibri" pitchFamily="34" charset="-122"/>
                <a:cs typeface="Calibri" pitchFamily="34" charset="-120"/>
              </a:rPr>
              <a:t>   ·   EL EMBUDO DE LA VERDAD</a:t>
            </a:r>
            <a:endParaRPr lang="en-US" sz="1300" dirty="0"/>
          </a:p>
        </p:txBody>
      </p:sp>
      <p:sp>
        <p:nvSpPr>
          <p:cNvPr id="7" name="Text 5"/>
          <p:cNvSpPr/>
          <p:nvPr/>
        </p:nvSpPr>
        <p:spPr>
          <a:xfrm>
            <a:off x="502920" y="868680"/>
            <a:ext cx="11183112" cy="548640"/>
          </a:xfrm>
          <a:prstGeom prst="rect">
            <a:avLst/>
          </a:prstGeom>
          <a:noFill/>
          <a:ln/>
        </p:spPr>
        <p:txBody>
          <a:bodyPr wrap="square" lIns="0" tIns="0" rIns="0" bIns="0" rtlCol="0" anchor="ctr"/>
          <a:lstStyle/>
          <a:p>
            <a:pPr indent="0" marL="0">
              <a:buNone/>
            </a:pPr>
            <a:r>
              <a:rPr lang="en-US" sz="2800" b="1" dirty="0">
                <a:solidFill>
                  <a:srgbClr val="4E342E"/>
                </a:solidFill>
                <a:latin typeface="Cambria" pitchFamily="34" charset="0"/>
                <a:ea typeface="Cambria" pitchFamily="34" charset="-122"/>
                <a:cs typeface="Cambria" pitchFamily="34" charset="-120"/>
              </a:rPr>
              <a:t>Filtro C.R.A.A.P.: ¿esta fuente dice la verdad?</a:t>
            </a:r>
            <a:endParaRPr lang="en-US" sz="2800" dirty="0"/>
          </a:p>
        </p:txBody>
      </p:sp>
      <p:sp>
        <p:nvSpPr>
          <p:cNvPr id="8" name="Shape 6"/>
          <p:cNvSpPr/>
          <p:nvPr/>
        </p:nvSpPr>
        <p:spPr>
          <a:xfrm>
            <a:off x="502920" y="1490472"/>
            <a:ext cx="11183112" cy="932688"/>
          </a:xfrm>
          <a:prstGeom prst="roundRect">
            <a:avLst>
              <a:gd name="adj" fmla="val 8824"/>
            </a:avLst>
          </a:prstGeom>
          <a:solidFill>
            <a:srgbClr val="FFFDF8"/>
          </a:solidFill>
          <a:ln w="9525">
            <a:solidFill>
              <a:srgbClr val="E3D5C3"/>
            </a:solidFill>
            <a:prstDash val="solid"/>
          </a:ln>
          <a:effectLst>
            <a:outerShdw sx="100000" sy="100000" kx="0" ky="0" algn="bl" rotWithShape="0" blurRad="76200" dist="25400" dir="5400000">
              <a:srgbClr val="8D6E63">
                <a:alpha val="25000"/>
              </a:srgbClr>
            </a:outerShdw>
          </a:effectLst>
        </p:spPr>
      </p:sp>
      <p:sp>
        <p:nvSpPr>
          <p:cNvPr id="9" name="Shape 7"/>
          <p:cNvSpPr/>
          <p:nvPr/>
        </p:nvSpPr>
        <p:spPr>
          <a:xfrm>
            <a:off x="722376" y="1682496"/>
            <a:ext cx="548640" cy="548640"/>
          </a:xfrm>
          <a:prstGeom prst="ellipse">
            <a:avLst/>
          </a:prstGeom>
          <a:solidFill>
            <a:srgbClr val="4E342E"/>
          </a:solidFill>
          <a:ln/>
        </p:spPr>
      </p:sp>
      <p:pic>
        <p:nvPicPr>
          <p:cNvPr id="10" name="Image 0" descr="preencoded.png">    </p:cNvPr>
          <p:cNvPicPr>
            <a:picLocks noChangeAspect="1"/>
          </p:cNvPicPr>
          <p:nvPr/>
        </p:nvPicPr>
        <p:blipFill>
          <a:blip r:embed="rId1"/>
          <a:stretch>
            <a:fillRect/>
          </a:stretch>
        </p:blipFill>
        <p:spPr>
          <a:xfrm>
            <a:off x="870509" y="1830629"/>
            <a:ext cx="252374" cy="252374"/>
          </a:xfrm>
          <a:prstGeom prst="rect">
            <a:avLst/>
          </a:prstGeom>
        </p:spPr>
      </p:pic>
      <p:sp>
        <p:nvSpPr>
          <p:cNvPr id="11" name="Text 8"/>
          <p:cNvSpPr/>
          <p:nvPr/>
        </p:nvSpPr>
        <p:spPr>
          <a:xfrm>
            <a:off x="1444752" y="1581912"/>
            <a:ext cx="9966960" cy="256032"/>
          </a:xfrm>
          <a:prstGeom prst="rect">
            <a:avLst/>
          </a:prstGeom>
          <a:noFill/>
          <a:ln/>
        </p:spPr>
        <p:txBody>
          <a:bodyPr wrap="square" lIns="0" tIns="0" rIns="0" bIns="0" rtlCol="0" anchor="ctr"/>
          <a:lstStyle/>
          <a:p>
            <a:pPr indent="0" marL="0">
              <a:buNone/>
            </a:pPr>
            <a:r>
              <a:rPr lang="en-US" sz="950" b="1" spc="300" kern="0" dirty="0">
                <a:solidFill>
                  <a:srgbClr val="C67B3B"/>
                </a:solidFill>
                <a:latin typeface="Calibri" pitchFamily="34" charset="0"/>
                <a:ea typeface="Calibri" pitchFamily="34" charset="-122"/>
                <a:cs typeface="Calibri" pitchFamily="34" charset="-120"/>
              </a:rPr>
              <a:t>PREGUNTA GANCHO · ASÍ EMPIEZA SU PARTE</a:t>
            </a:r>
            <a:endParaRPr lang="en-US" sz="950" dirty="0"/>
          </a:p>
        </p:txBody>
      </p:sp>
      <p:sp>
        <p:nvSpPr>
          <p:cNvPr id="12" name="Text 9"/>
          <p:cNvSpPr/>
          <p:nvPr/>
        </p:nvSpPr>
        <p:spPr>
          <a:xfrm>
            <a:off x="1444752" y="1828800"/>
            <a:ext cx="10012680" cy="548640"/>
          </a:xfrm>
          <a:prstGeom prst="rect">
            <a:avLst/>
          </a:prstGeom>
          <a:noFill/>
          <a:ln/>
        </p:spPr>
        <p:txBody>
          <a:bodyPr wrap="square" lIns="0" tIns="0" rIns="0" bIns="0" rtlCol="0" anchor="t"/>
          <a:lstStyle/>
          <a:p>
            <a:pPr indent="0" marL="0">
              <a:buNone/>
            </a:pPr>
            <a:r>
              <a:rPr lang="en-US" sz="1400" b="1" i="1" dirty="0">
                <a:solidFill>
                  <a:srgbClr val="4E342E"/>
                </a:solidFill>
                <a:latin typeface="Calibri" pitchFamily="34" charset="0"/>
                <a:ea typeface="Calibri" pitchFamily="34" charset="-122"/>
                <a:cs typeface="Calibri" pitchFamily="34" charset="-120"/>
              </a:rPr>
              <a:t>“Última pregunta del equipo: ¿cómo saben si internet les dice la verdad… o los está manipulando? Nosotros usamos un embudo.”</a:t>
            </a:r>
            <a:endParaRPr lang="en-US" sz="1400" dirty="0"/>
          </a:p>
        </p:txBody>
      </p:sp>
      <p:sp>
        <p:nvSpPr>
          <p:cNvPr id="13" name="Shape 10"/>
          <p:cNvSpPr/>
          <p:nvPr/>
        </p:nvSpPr>
        <p:spPr>
          <a:xfrm>
            <a:off x="1175004" y="2542032"/>
            <a:ext cx="438912" cy="438912"/>
          </a:xfrm>
          <a:prstGeom prst="ellipse">
            <a:avLst/>
          </a:prstGeom>
          <a:solidFill>
            <a:srgbClr val="A1887F"/>
          </a:solidFill>
          <a:ln/>
        </p:spPr>
      </p:sp>
      <p:pic>
        <p:nvPicPr>
          <p:cNvPr id="14" name="Image 1" descr="preencoded.png">    </p:cNvPr>
          <p:cNvPicPr>
            <a:picLocks noChangeAspect="1"/>
          </p:cNvPicPr>
          <p:nvPr/>
        </p:nvPicPr>
        <p:blipFill>
          <a:blip r:embed="rId2"/>
          <a:stretch>
            <a:fillRect/>
          </a:stretch>
        </p:blipFill>
        <p:spPr>
          <a:xfrm>
            <a:off x="1293510" y="2660538"/>
            <a:ext cx="201900" cy="201900"/>
          </a:xfrm>
          <a:prstGeom prst="rect">
            <a:avLst/>
          </a:prstGeom>
        </p:spPr>
      </p:pic>
      <p:sp>
        <p:nvSpPr>
          <p:cNvPr id="15" name="Shape 11"/>
          <p:cNvSpPr/>
          <p:nvPr/>
        </p:nvSpPr>
        <p:spPr>
          <a:xfrm>
            <a:off x="457200" y="3063240"/>
            <a:ext cx="1874520" cy="1005840"/>
          </a:xfrm>
          <a:prstGeom prst="chevron">
            <a:avLst/>
          </a:prstGeom>
          <a:solidFill>
            <a:srgbClr val="A1887F"/>
          </a:solidFill>
          <a:ln/>
        </p:spPr>
      </p:sp>
      <p:sp>
        <p:nvSpPr>
          <p:cNvPr id="16" name="Text 12"/>
          <p:cNvSpPr/>
          <p:nvPr/>
        </p:nvSpPr>
        <p:spPr>
          <a:xfrm>
            <a:off x="640080" y="3063240"/>
            <a:ext cx="1645920" cy="10058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a:p>
            <a:pPr algn="ctr" indent="0" marL="0">
              <a:buNone/>
            </a:pPr>
            <a:r>
              <a:rPr lang="en-US" sz="1100" b="1" dirty="0">
                <a:solidFill>
                  <a:srgbClr val="FFFFFF"/>
                </a:solidFill>
                <a:latin typeface="Calibri" pitchFamily="34" charset="0"/>
                <a:ea typeface="Calibri" pitchFamily="34" charset="-122"/>
                <a:cs typeface="Calibri" pitchFamily="34" charset="-120"/>
              </a:rPr>
              <a:t>Actualidad</a:t>
            </a:r>
            <a:endParaRPr lang="en-US" sz="1800" dirty="0"/>
          </a:p>
        </p:txBody>
      </p:sp>
      <p:sp>
        <p:nvSpPr>
          <p:cNvPr id="17" name="Text 13"/>
          <p:cNvSpPr/>
          <p:nvPr/>
        </p:nvSpPr>
        <p:spPr>
          <a:xfrm>
            <a:off x="461772" y="4160520"/>
            <a:ext cx="1865376" cy="502920"/>
          </a:xfrm>
          <a:prstGeom prst="rect">
            <a:avLst/>
          </a:prstGeom>
          <a:noFill/>
          <a:ln/>
        </p:spPr>
        <p:txBody>
          <a:bodyPr wrap="square" lIns="0" tIns="0" rIns="0" bIns="0" rtlCol="0" anchor="ctr"/>
          <a:lstStyle/>
          <a:p>
            <a:pPr algn="ctr" indent="0" marL="0">
              <a:buNone/>
            </a:pPr>
            <a:r>
              <a:rPr lang="en-US" sz="950" i="1" dirty="0">
                <a:solidFill>
                  <a:srgbClr val="8D6E63"/>
                </a:solidFill>
                <a:latin typeface="Calibri" pitchFamily="34" charset="0"/>
                <a:ea typeface="Calibri" pitchFamily="34" charset="-122"/>
                <a:cs typeface="Calibri" pitchFamily="34" charset="-120"/>
              </a:rPr>
              <a:t>¿Es reciente?</a:t>
            </a:r>
            <a:endParaRPr lang="en-US" sz="950" dirty="0"/>
          </a:p>
        </p:txBody>
      </p:sp>
      <p:sp>
        <p:nvSpPr>
          <p:cNvPr id="18" name="Shape 14"/>
          <p:cNvSpPr/>
          <p:nvPr/>
        </p:nvSpPr>
        <p:spPr>
          <a:xfrm>
            <a:off x="3076956" y="2542032"/>
            <a:ext cx="438912" cy="438912"/>
          </a:xfrm>
          <a:prstGeom prst="ellipse">
            <a:avLst/>
          </a:prstGeom>
          <a:solidFill>
            <a:srgbClr val="8D6E63"/>
          </a:solidFill>
          <a:ln/>
        </p:spPr>
      </p:sp>
      <p:pic>
        <p:nvPicPr>
          <p:cNvPr id="19" name="Image 2" descr="preencoded.png">    </p:cNvPr>
          <p:cNvPicPr>
            <a:picLocks noChangeAspect="1"/>
          </p:cNvPicPr>
          <p:nvPr/>
        </p:nvPicPr>
        <p:blipFill>
          <a:blip r:embed="rId3"/>
          <a:stretch>
            <a:fillRect/>
          </a:stretch>
        </p:blipFill>
        <p:spPr>
          <a:xfrm>
            <a:off x="3195462" y="2660538"/>
            <a:ext cx="201900" cy="201900"/>
          </a:xfrm>
          <a:prstGeom prst="rect">
            <a:avLst/>
          </a:prstGeom>
        </p:spPr>
      </p:pic>
      <p:sp>
        <p:nvSpPr>
          <p:cNvPr id="20" name="Shape 15"/>
          <p:cNvSpPr/>
          <p:nvPr/>
        </p:nvSpPr>
        <p:spPr>
          <a:xfrm>
            <a:off x="2359152" y="3063240"/>
            <a:ext cx="1874520" cy="1005840"/>
          </a:xfrm>
          <a:prstGeom prst="chevron">
            <a:avLst/>
          </a:prstGeom>
          <a:solidFill>
            <a:srgbClr val="8D6E63"/>
          </a:solidFill>
          <a:ln/>
        </p:spPr>
      </p:sp>
      <p:sp>
        <p:nvSpPr>
          <p:cNvPr id="21" name="Text 16"/>
          <p:cNvSpPr/>
          <p:nvPr/>
        </p:nvSpPr>
        <p:spPr>
          <a:xfrm>
            <a:off x="2542032" y="3063240"/>
            <a:ext cx="1645920" cy="10058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a:t>
            </a:r>
            <a:endParaRPr lang="en-US" sz="1800" dirty="0"/>
          </a:p>
          <a:p>
            <a:pPr algn="ctr" indent="0" marL="0">
              <a:buNone/>
            </a:pPr>
            <a:r>
              <a:rPr lang="en-US" sz="1100" b="1" dirty="0">
                <a:solidFill>
                  <a:srgbClr val="FFFFFF"/>
                </a:solidFill>
                <a:latin typeface="Calibri" pitchFamily="34" charset="0"/>
                <a:ea typeface="Calibri" pitchFamily="34" charset="-122"/>
                <a:cs typeface="Calibri" pitchFamily="34" charset="-120"/>
              </a:rPr>
              <a:t>Relevancia</a:t>
            </a:r>
            <a:endParaRPr lang="en-US" sz="1800" dirty="0"/>
          </a:p>
        </p:txBody>
      </p:sp>
      <p:sp>
        <p:nvSpPr>
          <p:cNvPr id="22" name="Text 17"/>
          <p:cNvSpPr/>
          <p:nvPr/>
        </p:nvSpPr>
        <p:spPr>
          <a:xfrm>
            <a:off x="2363724" y="4160520"/>
            <a:ext cx="1865376" cy="502920"/>
          </a:xfrm>
          <a:prstGeom prst="rect">
            <a:avLst/>
          </a:prstGeom>
          <a:noFill/>
          <a:ln/>
        </p:spPr>
        <p:txBody>
          <a:bodyPr wrap="square" lIns="0" tIns="0" rIns="0" bIns="0" rtlCol="0" anchor="ctr"/>
          <a:lstStyle/>
          <a:p>
            <a:pPr algn="ctr" indent="0" marL="0">
              <a:buNone/>
            </a:pPr>
            <a:r>
              <a:rPr lang="en-US" sz="950" i="1" dirty="0">
                <a:solidFill>
                  <a:srgbClr val="8D6E63"/>
                </a:solidFill>
                <a:latin typeface="Calibri" pitchFamily="34" charset="0"/>
                <a:ea typeface="Calibri" pitchFamily="34" charset="-122"/>
                <a:cs typeface="Calibri" pitchFamily="34" charset="-120"/>
              </a:rPr>
              <a:t>¿Responde mis preguntas?</a:t>
            </a:r>
            <a:endParaRPr lang="en-US" sz="950" dirty="0"/>
          </a:p>
        </p:txBody>
      </p:sp>
      <p:sp>
        <p:nvSpPr>
          <p:cNvPr id="23" name="Shape 18"/>
          <p:cNvSpPr/>
          <p:nvPr/>
        </p:nvSpPr>
        <p:spPr>
          <a:xfrm>
            <a:off x="4978908" y="2542032"/>
            <a:ext cx="438912" cy="438912"/>
          </a:xfrm>
          <a:prstGeom prst="ellipse">
            <a:avLst/>
          </a:prstGeom>
          <a:solidFill>
            <a:srgbClr val="795548"/>
          </a:solidFill>
          <a:ln/>
        </p:spPr>
      </p:sp>
      <p:pic>
        <p:nvPicPr>
          <p:cNvPr id="24" name="Image 3" descr="preencoded.png">    </p:cNvPr>
          <p:cNvPicPr>
            <a:picLocks noChangeAspect="1"/>
          </p:cNvPicPr>
          <p:nvPr/>
        </p:nvPicPr>
        <p:blipFill>
          <a:blip r:embed="rId4"/>
          <a:stretch>
            <a:fillRect/>
          </a:stretch>
        </p:blipFill>
        <p:spPr>
          <a:xfrm>
            <a:off x="5097414" y="2660538"/>
            <a:ext cx="201900" cy="201900"/>
          </a:xfrm>
          <a:prstGeom prst="rect">
            <a:avLst/>
          </a:prstGeom>
        </p:spPr>
      </p:pic>
      <p:sp>
        <p:nvSpPr>
          <p:cNvPr id="25" name="Shape 19"/>
          <p:cNvSpPr/>
          <p:nvPr/>
        </p:nvSpPr>
        <p:spPr>
          <a:xfrm>
            <a:off x="4261104" y="3063240"/>
            <a:ext cx="1874520" cy="1005840"/>
          </a:xfrm>
          <a:prstGeom prst="chevron">
            <a:avLst/>
          </a:prstGeom>
          <a:solidFill>
            <a:srgbClr val="795548"/>
          </a:solidFill>
          <a:ln/>
        </p:spPr>
      </p:sp>
      <p:sp>
        <p:nvSpPr>
          <p:cNvPr id="26" name="Text 20"/>
          <p:cNvSpPr/>
          <p:nvPr/>
        </p:nvSpPr>
        <p:spPr>
          <a:xfrm>
            <a:off x="4443984" y="3063240"/>
            <a:ext cx="1645920" cy="10058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a:p>
            <a:pPr algn="ctr" indent="0" marL="0">
              <a:buNone/>
            </a:pPr>
            <a:r>
              <a:rPr lang="en-US" sz="1100" b="1" dirty="0">
                <a:solidFill>
                  <a:srgbClr val="FFFFFF"/>
                </a:solidFill>
                <a:latin typeface="Calibri" pitchFamily="34" charset="0"/>
                <a:ea typeface="Calibri" pitchFamily="34" charset="-122"/>
                <a:cs typeface="Calibri" pitchFamily="34" charset="-120"/>
              </a:rPr>
              <a:t>Autoridad</a:t>
            </a:r>
            <a:endParaRPr lang="en-US" sz="1800" dirty="0"/>
          </a:p>
        </p:txBody>
      </p:sp>
      <p:sp>
        <p:nvSpPr>
          <p:cNvPr id="27" name="Text 21"/>
          <p:cNvSpPr/>
          <p:nvPr/>
        </p:nvSpPr>
        <p:spPr>
          <a:xfrm>
            <a:off x="4265676" y="4160520"/>
            <a:ext cx="1865376" cy="502920"/>
          </a:xfrm>
          <a:prstGeom prst="rect">
            <a:avLst/>
          </a:prstGeom>
          <a:noFill/>
          <a:ln/>
        </p:spPr>
        <p:txBody>
          <a:bodyPr wrap="square" lIns="0" tIns="0" rIns="0" bIns="0" rtlCol="0" anchor="ctr"/>
          <a:lstStyle/>
          <a:p>
            <a:pPr algn="ctr" indent="0" marL="0">
              <a:buNone/>
            </a:pPr>
            <a:r>
              <a:rPr lang="en-US" sz="950" i="1" dirty="0">
                <a:solidFill>
                  <a:srgbClr val="8D6E63"/>
                </a:solidFill>
                <a:latin typeface="Calibri" pitchFamily="34" charset="0"/>
                <a:ea typeface="Calibri" pitchFamily="34" charset="-122"/>
                <a:cs typeface="Calibri" pitchFamily="34" charset="-120"/>
              </a:rPr>
              <a:t>¿Quién lo escribió?</a:t>
            </a:r>
            <a:endParaRPr lang="en-US" sz="950" dirty="0"/>
          </a:p>
        </p:txBody>
      </p:sp>
      <p:sp>
        <p:nvSpPr>
          <p:cNvPr id="28" name="Shape 22"/>
          <p:cNvSpPr/>
          <p:nvPr/>
        </p:nvSpPr>
        <p:spPr>
          <a:xfrm>
            <a:off x="6880860" y="2542032"/>
            <a:ext cx="438912" cy="438912"/>
          </a:xfrm>
          <a:prstGeom prst="ellipse">
            <a:avLst/>
          </a:prstGeom>
          <a:solidFill>
            <a:srgbClr val="6D4C41"/>
          </a:solidFill>
          <a:ln/>
        </p:spPr>
      </p:sp>
      <p:pic>
        <p:nvPicPr>
          <p:cNvPr id="29" name="Image 4" descr="preencoded.png">    </p:cNvPr>
          <p:cNvPicPr>
            <a:picLocks noChangeAspect="1"/>
          </p:cNvPicPr>
          <p:nvPr/>
        </p:nvPicPr>
        <p:blipFill>
          <a:blip r:embed="rId5"/>
          <a:stretch>
            <a:fillRect/>
          </a:stretch>
        </p:blipFill>
        <p:spPr>
          <a:xfrm>
            <a:off x="6999366" y="2660538"/>
            <a:ext cx="201900" cy="201900"/>
          </a:xfrm>
          <a:prstGeom prst="rect">
            <a:avLst/>
          </a:prstGeom>
        </p:spPr>
      </p:pic>
      <p:sp>
        <p:nvSpPr>
          <p:cNvPr id="30" name="Shape 23"/>
          <p:cNvSpPr/>
          <p:nvPr/>
        </p:nvSpPr>
        <p:spPr>
          <a:xfrm>
            <a:off x="6163056" y="3063240"/>
            <a:ext cx="1874520" cy="1005840"/>
          </a:xfrm>
          <a:prstGeom prst="chevron">
            <a:avLst/>
          </a:prstGeom>
          <a:solidFill>
            <a:srgbClr val="6D4C41"/>
          </a:solidFill>
          <a:ln/>
        </p:spPr>
      </p:sp>
      <p:sp>
        <p:nvSpPr>
          <p:cNvPr id="31" name="Text 24"/>
          <p:cNvSpPr/>
          <p:nvPr/>
        </p:nvSpPr>
        <p:spPr>
          <a:xfrm>
            <a:off x="6345936" y="3063240"/>
            <a:ext cx="1645920" cy="10058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a:p>
            <a:pPr algn="ctr" indent="0" marL="0">
              <a:buNone/>
            </a:pPr>
            <a:r>
              <a:rPr lang="en-US" sz="1100" b="1" dirty="0">
                <a:solidFill>
                  <a:srgbClr val="FFFFFF"/>
                </a:solidFill>
                <a:latin typeface="Calibri" pitchFamily="34" charset="0"/>
                <a:ea typeface="Calibri" pitchFamily="34" charset="-122"/>
                <a:cs typeface="Calibri" pitchFamily="34" charset="-120"/>
              </a:rPr>
              <a:t>Exactitud</a:t>
            </a:r>
            <a:endParaRPr lang="en-US" sz="1800" dirty="0"/>
          </a:p>
        </p:txBody>
      </p:sp>
      <p:sp>
        <p:nvSpPr>
          <p:cNvPr id="32" name="Text 25"/>
          <p:cNvSpPr/>
          <p:nvPr/>
        </p:nvSpPr>
        <p:spPr>
          <a:xfrm>
            <a:off x="6167628" y="4160520"/>
            <a:ext cx="1865376" cy="502920"/>
          </a:xfrm>
          <a:prstGeom prst="rect">
            <a:avLst/>
          </a:prstGeom>
          <a:noFill/>
          <a:ln/>
        </p:spPr>
        <p:txBody>
          <a:bodyPr wrap="square" lIns="0" tIns="0" rIns="0" bIns="0" rtlCol="0" anchor="ctr"/>
          <a:lstStyle/>
          <a:p>
            <a:pPr algn="ctr" indent="0" marL="0">
              <a:buNone/>
            </a:pPr>
            <a:r>
              <a:rPr lang="en-US" sz="950" i="1" dirty="0">
                <a:solidFill>
                  <a:srgbClr val="8D6E63"/>
                </a:solidFill>
                <a:latin typeface="Calibri" pitchFamily="34" charset="0"/>
                <a:ea typeface="Calibri" pitchFamily="34" charset="-122"/>
                <a:cs typeface="Calibri" pitchFamily="34" charset="-120"/>
              </a:rPr>
              <a:t>¿Se puede comprobar?</a:t>
            </a:r>
            <a:endParaRPr lang="en-US" sz="950" dirty="0"/>
          </a:p>
        </p:txBody>
      </p:sp>
      <p:sp>
        <p:nvSpPr>
          <p:cNvPr id="33" name="Shape 26"/>
          <p:cNvSpPr/>
          <p:nvPr/>
        </p:nvSpPr>
        <p:spPr>
          <a:xfrm>
            <a:off x="8782812" y="2542032"/>
            <a:ext cx="438912" cy="438912"/>
          </a:xfrm>
          <a:prstGeom prst="ellipse">
            <a:avLst/>
          </a:prstGeom>
          <a:solidFill>
            <a:srgbClr val="5D4037"/>
          </a:solidFill>
          <a:ln/>
        </p:spPr>
      </p:sp>
      <p:pic>
        <p:nvPicPr>
          <p:cNvPr id="34" name="Image 5" descr="preencoded.png">    </p:cNvPr>
          <p:cNvPicPr>
            <a:picLocks noChangeAspect="1"/>
          </p:cNvPicPr>
          <p:nvPr/>
        </p:nvPicPr>
        <p:blipFill>
          <a:blip r:embed="rId6"/>
          <a:stretch>
            <a:fillRect/>
          </a:stretch>
        </p:blipFill>
        <p:spPr>
          <a:xfrm>
            <a:off x="8901318" y="2660538"/>
            <a:ext cx="201900" cy="201900"/>
          </a:xfrm>
          <a:prstGeom prst="rect">
            <a:avLst/>
          </a:prstGeom>
        </p:spPr>
      </p:pic>
      <p:sp>
        <p:nvSpPr>
          <p:cNvPr id="35" name="Shape 27"/>
          <p:cNvSpPr/>
          <p:nvPr/>
        </p:nvSpPr>
        <p:spPr>
          <a:xfrm>
            <a:off x="8065008" y="3063240"/>
            <a:ext cx="1874520" cy="1005840"/>
          </a:xfrm>
          <a:prstGeom prst="chevron">
            <a:avLst/>
          </a:prstGeom>
          <a:solidFill>
            <a:srgbClr val="5D4037"/>
          </a:solidFill>
          <a:ln/>
        </p:spPr>
      </p:sp>
      <p:sp>
        <p:nvSpPr>
          <p:cNvPr id="36" name="Text 28"/>
          <p:cNvSpPr/>
          <p:nvPr/>
        </p:nvSpPr>
        <p:spPr>
          <a:xfrm>
            <a:off x="8247888" y="3063240"/>
            <a:ext cx="1645920" cy="10058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a:t>
            </a:r>
            <a:endParaRPr lang="en-US" sz="1800" dirty="0"/>
          </a:p>
          <a:p>
            <a:pPr algn="ctr" indent="0" marL="0">
              <a:buNone/>
            </a:pPr>
            <a:r>
              <a:rPr lang="en-US" sz="1100" b="1" dirty="0">
                <a:solidFill>
                  <a:srgbClr val="FFFFFF"/>
                </a:solidFill>
                <a:latin typeface="Calibri" pitchFamily="34" charset="0"/>
                <a:ea typeface="Calibri" pitchFamily="34" charset="-122"/>
                <a:cs typeface="Calibri" pitchFamily="34" charset="-120"/>
              </a:rPr>
              <a:t>Propósito</a:t>
            </a:r>
            <a:endParaRPr lang="en-US" sz="1800" dirty="0"/>
          </a:p>
        </p:txBody>
      </p:sp>
      <p:sp>
        <p:nvSpPr>
          <p:cNvPr id="37" name="Text 29"/>
          <p:cNvSpPr/>
          <p:nvPr/>
        </p:nvSpPr>
        <p:spPr>
          <a:xfrm>
            <a:off x="8069580" y="4160520"/>
            <a:ext cx="1865376" cy="502920"/>
          </a:xfrm>
          <a:prstGeom prst="rect">
            <a:avLst/>
          </a:prstGeom>
          <a:noFill/>
          <a:ln/>
        </p:spPr>
        <p:txBody>
          <a:bodyPr wrap="square" lIns="0" tIns="0" rIns="0" bIns="0" rtlCol="0" anchor="ctr"/>
          <a:lstStyle/>
          <a:p>
            <a:pPr algn="ctr" indent="0" marL="0">
              <a:buNone/>
            </a:pPr>
            <a:r>
              <a:rPr lang="en-US" sz="950" i="1" dirty="0">
                <a:solidFill>
                  <a:srgbClr val="8D6E63"/>
                </a:solidFill>
                <a:latin typeface="Calibri" pitchFamily="34" charset="0"/>
                <a:ea typeface="Calibri" pitchFamily="34" charset="-122"/>
                <a:cs typeface="Calibri" pitchFamily="34" charset="-120"/>
              </a:rPr>
              <a:t>¿Para qué existe?</a:t>
            </a:r>
            <a:endParaRPr lang="en-US" sz="950" dirty="0"/>
          </a:p>
        </p:txBody>
      </p:sp>
      <p:sp>
        <p:nvSpPr>
          <p:cNvPr id="38" name="Shape 30"/>
          <p:cNvSpPr/>
          <p:nvPr/>
        </p:nvSpPr>
        <p:spPr>
          <a:xfrm>
            <a:off x="10195560" y="3044952"/>
            <a:ext cx="1042416" cy="1042416"/>
          </a:xfrm>
          <a:prstGeom prst="ellipse">
            <a:avLst/>
          </a:prstGeom>
          <a:solidFill>
            <a:srgbClr val="C67B3B"/>
          </a:solidFill>
          <a:ln/>
        </p:spPr>
      </p:sp>
      <p:pic>
        <p:nvPicPr>
          <p:cNvPr id="39" name="Image 6" descr="preencoded.png">    </p:cNvPr>
          <p:cNvPicPr>
            <a:picLocks noChangeAspect="1"/>
          </p:cNvPicPr>
          <p:nvPr/>
        </p:nvPicPr>
        <p:blipFill>
          <a:blip r:embed="rId7"/>
          <a:stretch>
            <a:fillRect/>
          </a:stretch>
        </p:blipFill>
        <p:spPr>
          <a:xfrm>
            <a:off x="10477012" y="3326404"/>
            <a:ext cx="479511" cy="479511"/>
          </a:xfrm>
          <a:prstGeom prst="rect">
            <a:avLst/>
          </a:prstGeom>
        </p:spPr>
      </p:pic>
      <p:sp>
        <p:nvSpPr>
          <p:cNvPr id="40" name="Text 31"/>
          <p:cNvSpPr/>
          <p:nvPr/>
        </p:nvSpPr>
        <p:spPr>
          <a:xfrm>
            <a:off x="9710928" y="4160520"/>
            <a:ext cx="2011680" cy="548640"/>
          </a:xfrm>
          <a:prstGeom prst="rect">
            <a:avLst/>
          </a:prstGeom>
          <a:noFill/>
          <a:ln/>
        </p:spPr>
        <p:txBody>
          <a:bodyPr wrap="square" lIns="0" tIns="0" rIns="0" bIns="0" rtlCol="0" anchor="ctr"/>
          <a:lstStyle/>
          <a:p>
            <a:pPr algn="ctr" indent="0" marL="0">
              <a:buNone/>
            </a:pPr>
            <a:r>
              <a:rPr lang="en-US" sz="1000" b="1" dirty="0">
                <a:solidFill>
                  <a:srgbClr val="C67B3B"/>
                </a:solidFill>
                <a:latin typeface="Calibri" pitchFamily="34" charset="0"/>
                <a:ea typeface="Calibri" pitchFamily="34" charset="-122"/>
                <a:cs typeface="Calibri" pitchFamily="34" charset="-120"/>
              </a:rPr>
              <a:t>¡FUENTE</a:t>
            </a:r>
            <a:endParaRPr lang="en-US" sz="1000" dirty="0"/>
          </a:p>
          <a:p>
            <a:pPr algn="ctr" indent="0" marL="0">
              <a:buNone/>
            </a:pPr>
            <a:r>
              <a:rPr lang="en-US" sz="1000" b="1" dirty="0">
                <a:solidFill>
                  <a:srgbClr val="C67B3B"/>
                </a:solidFill>
                <a:latin typeface="Calibri" pitchFamily="34" charset="0"/>
                <a:ea typeface="Calibri" pitchFamily="34" charset="-122"/>
                <a:cs typeface="Calibri" pitchFamily="34" charset="-120"/>
              </a:rPr>
              <a:t>CONFIABLE!</a:t>
            </a:r>
            <a:endParaRPr lang="en-US" sz="1000" dirty="0"/>
          </a:p>
        </p:txBody>
      </p:sp>
      <p:sp>
        <p:nvSpPr>
          <p:cNvPr id="41" name="Shape 32"/>
          <p:cNvSpPr/>
          <p:nvPr/>
        </p:nvSpPr>
        <p:spPr>
          <a:xfrm>
            <a:off x="502920" y="4892040"/>
            <a:ext cx="11183112" cy="1298448"/>
          </a:xfrm>
          <a:prstGeom prst="roundRect">
            <a:avLst>
              <a:gd name="adj" fmla="val 6338"/>
            </a:avLst>
          </a:prstGeom>
          <a:solidFill>
            <a:srgbClr val="FFFDF8"/>
          </a:solidFill>
          <a:ln w="9525">
            <a:solidFill>
              <a:srgbClr val="E3D5C3"/>
            </a:solidFill>
            <a:prstDash val="solid"/>
          </a:ln>
          <a:effectLst>
            <a:outerShdw sx="100000" sy="100000" kx="0" ky="0" algn="bl" rotWithShape="0" blurRad="76200" dist="25400" dir="5400000">
              <a:srgbClr val="8D6E63">
                <a:alpha val="25000"/>
              </a:srgbClr>
            </a:outerShdw>
          </a:effectLst>
        </p:spPr>
      </p:sp>
      <p:sp>
        <p:nvSpPr>
          <p:cNvPr id="42" name="Shape 33"/>
          <p:cNvSpPr/>
          <p:nvPr/>
        </p:nvSpPr>
        <p:spPr>
          <a:xfrm>
            <a:off x="722376" y="5074920"/>
            <a:ext cx="502920" cy="502920"/>
          </a:xfrm>
          <a:prstGeom prst="ellipse">
            <a:avLst/>
          </a:prstGeom>
          <a:solidFill>
            <a:srgbClr val="C67B3B"/>
          </a:solidFill>
          <a:ln/>
        </p:spPr>
      </p:sp>
      <p:pic>
        <p:nvPicPr>
          <p:cNvPr id="43" name="Image 7" descr="preencoded.png">    </p:cNvPr>
          <p:cNvPicPr>
            <a:picLocks noChangeAspect="1"/>
          </p:cNvPicPr>
          <p:nvPr/>
        </p:nvPicPr>
        <p:blipFill>
          <a:blip r:embed="rId8"/>
          <a:stretch>
            <a:fillRect/>
          </a:stretch>
        </p:blipFill>
        <p:spPr>
          <a:xfrm>
            <a:off x="858164" y="5210708"/>
            <a:ext cx="231343" cy="231343"/>
          </a:xfrm>
          <a:prstGeom prst="rect">
            <a:avLst/>
          </a:prstGeom>
        </p:spPr>
      </p:pic>
      <p:sp>
        <p:nvSpPr>
          <p:cNvPr id="44" name="Text 34"/>
          <p:cNvSpPr/>
          <p:nvPr/>
        </p:nvSpPr>
        <p:spPr>
          <a:xfrm>
            <a:off x="1389888" y="5029200"/>
            <a:ext cx="10058400" cy="274320"/>
          </a:xfrm>
          <a:prstGeom prst="rect">
            <a:avLst/>
          </a:prstGeom>
          <a:noFill/>
          <a:ln/>
        </p:spPr>
        <p:txBody>
          <a:bodyPr wrap="square" lIns="0" tIns="0" rIns="0" bIns="0" rtlCol="0" anchor="ctr"/>
          <a:lstStyle/>
          <a:p>
            <a:pPr indent="0" marL="0">
              <a:buNone/>
            </a:pPr>
            <a:r>
              <a:rPr lang="en-US" sz="1300" b="1" spc="100" kern="0" dirty="0">
                <a:solidFill>
                  <a:srgbClr val="4E342E"/>
                </a:solidFill>
                <a:latin typeface="Calibri" pitchFamily="34" charset="0"/>
                <a:ea typeface="Calibri" pitchFamily="34" charset="-122"/>
                <a:cs typeface="Calibri" pitchFamily="34" charset="-120"/>
              </a:rPr>
              <a:t>NUESTRA FUENTE SOBREVIVIÓ AL EMBUDO</a:t>
            </a:r>
            <a:endParaRPr lang="en-US" sz="1300" dirty="0"/>
          </a:p>
        </p:txBody>
      </p:sp>
      <p:sp>
        <p:nvSpPr>
          <p:cNvPr id="45" name="Text 35"/>
          <p:cNvSpPr/>
          <p:nvPr/>
        </p:nvSpPr>
        <p:spPr>
          <a:xfrm>
            <a:off x="1389888" y="5321808"/>
            <a:ext cx="10195560" cy="822960"/>
          </a:xfrm>
          <a:prstGeom prst="rect">
            <a:avLst/>
          </a:prstGeom>
          <a:noFill/>
          <a:ln/>
        </p:spPr>
        <p:txBody>
          <a:bodyPr wrap="square" lIns="0" tIns="0" rIns="0" bIns="0" rtlCol="0" anchor="ctr"/>
          <a:lstStyle/>
          <a:p>
            <a:pPr indent="0" marL="0">
              <a:buNone/>
            </a:pPr>
            <a:r>
              <a:rPr lang="en-US" sz="1150" dirty="0">
                <a:solidFill>
                  <a:srgbClr val="4E342E"/>
                </a:solidFill>
                <a:latin typeface="Calibri" pitchFamily="34" charset="0"/>
                <a:ea typeface="Calibri" pitchFamily="34" charset="-122"/>
                <a:cs typeface="Calibri" pitchFamily="34" charset="-120"/>
              </a:rPr>
              <a:t>UNESCO — «Recomendación sobre la ética de la inteligencia artificial» (2021), aprobada por más de 190 países. Pasó los 5 filtros: es actual, responde nuestras preguntas, tiene autoridad real, se puede verificar en otras páginas… y existe para enseñar, no para vender ni manipular.</a:t>
            </a:r>
            <a:endParaRPr lang="en-US" sz="1150" dirty="0"/>
          </a:p>
        </p:txBody>
      </p:sp>
      <p:sp>
        <p:nvSpPr>
          <p:cNvPr id="46" name="Text 36"/>
          <p:cNvSpPr/>
          <p:nvPr/>
        </p:nvSpPr>
        <p:spPr>
          <a:xfrm>
            <a:off x="11247120" y="6446520"/>
            <a:ext cx="777240" cy="292608"/>
          </a:xfrm>
          <a:prstGeom prst="rect">
            <a:avLst/>
          </a:prstGeom>
          <a:noFill/>
          <a:ln/>
        </p:spPr>
        <p:txBody>
          <a:bodyPr wrap="square" lIns="0" tIns="0" rIns="0" bIns="0" rtlCol="0" anchor="ctr"/>
          <a:lstStyle/>
          <a:p>
            <a:pPr algn="r" indent="0" marL="0">
              <a:buNone/>
            </a:pPr>
            <a:r>
              <a:rPr lang="en-US" sz="900" dirty="0">
                <a:solidFill>
                  <a:srgbClr val="8D6E63"/>
                </a:solidFill>
                <a:latin typeface="Calibri" pitchFamily="34" charset="0"/>
                <a:ea typeface="Calibri" pitchFamily="34" charset="-122"/>
                <a:cs typeface="Calibri" pitchFamily="34" charset="-120"/>
              </a:rPr>
              <a:t>6 / 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4E342E"/>
        </a:solidFill>
      </p:bgPr>
    </p:bg>
    <p:spTree>
      <p:nvGrpSpPr>
        <p:cNvPr id="1" name=""/>
        <p:cNvGrpSpPr/>
        <p:nvPr/>
      </p:nvGrpSpPr>
      <p:grpSpPr>
        <a:xfrm>
          <a:off x="0" y="0"/>
          <a:ext cx="0" cy="0"/>
          <a:chOff x="0" y="0"/>
          <a:chExt cx="0" cy="0"/>
        </a:xfrm>
      </p:grpSpPr>
      <p:sp>
        <p:nvSpPr>
          <p:cNvPr id="2" name="Shape 0"/>
          <p:cNvSpPr/>
          <p:nvPr/>
        </p:nvSpPr>
        <p:spPr>
          <a:xfrm>
            <a:off x="9509760" y="-1463040"/>
            <a:ext cx="4023360" cy="4023360"/>
          </a:xfrm>
          <a:prstGeom prst="ellipse">
            <a:avLst/>
          </a:prstGeom>
          <a:solidFill>
            <a:srgbClr val="C67B3B">
              <a:alpha val="18000"/>
            </a:srgbClr>
          </a:solidFill>
          <a:ln/>
        </p:spPr>
      </p:sp>
      <p:sp>
        <p:nvSpPr>
          <p:cNvPr id="3" name="Shape 1"/>
          <p:cNvSpPr/>
          <p:nvPr/>
        </p:nvSpPr>
        <p:spPr>
          <a:xfrm>
            <a:off x="-1188720" y="4754880"/>
            <a:ext cx="3291840" cy="3291840"/>
          </a:xfrm>
          <a:prstGeom prst="ellipse">
            <a:avLst/>
          </a:prstGeom>
          <a:solidFill>
            <a:srgbClr val="8D6E63">
              <a:alpha val="25000"/>
            </a:srgbClr>
          </a:solidFill>
          <a:ln/>
        </p:spPr>
      </p:sp>
      <p:sp>
        <p:nvSpPr>
          <p:cNvPr id="4" name="Text 2"/>
          <p:cNvSpPr/>
          <p:nvPr/>
        </p:nvSpPr>
        <p:spPr>
          <a:xfrm>
            <a:off x="731520" y="822960"/>
            <a:ext cx="10725912" cy="365760"/>
          </a:xfrm>
          <a:prstGeom prst="rect">
            <a:avLst/>
          </a:prstGeom>
          <a:noFill/>
          <a:ln/>
        </p:spPr>
        <p:txBody>
          <a:bodyPr wrap="square" lIns="0" tIns="0" rIns="0" bIns="0" rtlCol="0" anchor="ctr"/>
          <a:lstStyle/>
          <a:p>
            <a:pPr algn="ctr" indent="0" marL="0">
              <a:buNone/>
            </a:pPr>
            <a:r>
              <a:rPr lang="en-US" sz="1200" b="1" spc="300" kern="0" dirty="0">
                <a:solidFill>
                  <a:srgbClr val="C67B3B"/>
                </a:solidFill>
                <a:latin typeface="Calibri" pitchFamily="34" charset="0"/>
                <a:ea typeface="Calibri" pitchFamily="34" charset="-122"/>
                <a:cs typeface="Calibri" pitchFamily="34" charset="-120"/>
              </a:rPr>
              <a:t>PARA TERMINAR · HABLA TODO EL EQUIPO</a:t>
            </a:r>
            <a:endParaRPr lang="en-US" sz="1200" dirty="0"/>
          </a:p>
        </p:txBody>
      </p:sp>
      <p:sp>
        <p:nvSpPr>
          <p:cNvPr id="5" name="Text 3"/>
          <p:cNvSpPr/>
          <p:nvPr/>
        </p:nvSpPr>
        <p:spPr>
          <a:xfrm>
            <a:off x="731520" y="1280160"/>
            <a:ext cx="10725912" cy="1463040"/>
          </a:xfrm>
          <a:prstGeom prst="rect">
            <a:avLst/>
          </a:prstGeom>
          <a:noFill/>
          <a:ln/>
        </p:spPr>
        <p:txBody>
          <a:bodyPr wrap="square" lIns="0" tIns="0" rIns="0" bIns="0" rtlCol="0" anchor="ctr"/>
          <a:lstStyle/>
          <a:p>
            <a:pPr algn="ctr" indent="0" marL="0">
              <a:buNone/>
            </a:pPr>
            <a:r>
              <a:rPr lang="en-US" sz="3200" b="1" dirty="0">
                <a:solidFill>
                  <a:srgbClr val="F5EDE0"/>
                </a:solidFill>
                <a:latin typeface="Cambria" pitchFamily="34" charset="0"/>
                <a:ea typeface="Cambria" pitchFamily="34" charset="-122"/>
                <a:cs typeface="Cambria" pitchFamily="34" charset="-120"/>
              </a:rPr>
              <a:t>La IA no es buena ni mala:</a:t>
            </a:r>
            <a:endParaRPr lang="en-US" sz="3200" dirty="0"/>
          </a:p>
          <a:p>
            <a:pPr algn="ctr" indent="0" marL="0">
              <a:buNone/>
            </a:pPr>
            <a:r>
              <a:rPr lang="en-US" sz="3200" b="1" dirty="0">
                <a:solidFill>
                  <a:srgbClr val="F5EDE0"/>
                </a:solidFill>
                <a:latin typeface="Cambria" pitchFamily="34" charset="0"/>
                <a:ea typeface="Cambria" pitchFamily="34" charset="-122"/>
                <a:cs typeface="Cambria" pitchFamily="34" charset="-120"/>
              </a:rPr>
              <a:t>todo depende de cómo la uses.</a:t>
            </a:r>
            <a:endParaRPr lang="en-US" sz="3200" dirty="0"/>
          </a:p>
        </p:txBody>
      </p:sp>
      <p:sp>
        <p:nvSpPr>
          <p:cNvPr id="6" name="Shape 4"/>
          <p:cNvSpPr/>
          <p:nvPr/>
        </p:nvSpPr>
        <p:spPr>
          <a:xfrm>
            <a:off x="1371600" y="3063240"/>
            <a:ext cx="3127248" cy="1600200"/>
          </a:xfrm>
          <a:prstGeom prst="roundRect">
            <a:avLst>
              <a:gd name="adj" fmla="val 5143"/>
            </a:avLst>
          </a:prstGeom>
          <a:solidFill>
            <a:srgbClr val="5D4037"/>
          </a:solidFill>
          <a:ln w="12700">
            <a:solidFill>
              <a:srgbClr val="5D4037"/>
            </a:solidFill>
            <a:prstDash val="solid"/>
          </a:ln>
          <a:effectLst>
            <a:outerShdw sx="100000" sy="100000" kx="0" ky="0" algn="bl" rotWithShape="0" blurRad="88900" dist="25400" dir="5400000">
              <a:srgbClr val="3E2723">
                <a:alpha val="35000"/>
              </a:srgbClr>
            </a:outerShdw>
          </a:effectLst>
        </p:spPr>
      </p:sp>
      <p:sp>
        <p:nvSpPr>
          <p:cNvPr id="7" name="Shape 5"/>
          <p:cNvSpPr/>
          <p:nvPr/>
        </p:nvSpPr>
        <p:spPr>
          <a:xfrm>
            <a:off x="2688336" y="3246120"/>
            <a:ext cx="502920" cy="502920"/>
          </a:xfrm>
          <a:prstGeom prst="ellipse">
            <a:avLst/>
          </a:prstGeom>
          <a:solidFill>
            <a:srgbClr val="C67B3B"/>
          </a:solidFill>
          <a:ln/>
        </p:spPr>
      </p:sp>
      <p:pic>
        <p:nvPicPr>
          <p:cNvPr id="8" name="Image 0" descr="preencoded.png">    </p:cNvPr>
          <p:cNvPicPr>
            <a:picLocks noChangeAspect="1"/>
          </p:cNvPicPr>
          <p:nvPr/>
        </p:nvPicPr>
        <p:blipFill>
          <a:blip r:embed="rId1"/>
          <a:stretch>
            <a:fillRect/>
          </a:stretch>
        </p:blipFill>
        <p:spPr>
          <a:xfrm>
            <a:off x="2824124" y="3381908"/>
            <a:ext cx="231343" cy="231343"/>
          </a:xfrm>
          <a:prstGeom prst="rect">
            <a:avLst/>
          </a:prstGeom>
        </p:spPr>
      </p:pic>
      <p:sp>
        <p:nvSpPr>
          <p:cNvPr id="9" name="Text 6"/>
          <p:cNvSpPr/>
          <p:nvPr/>
        </p:nvSpPr>
        <p:spPr>
          <a:xfrm>
            <a:off x="1508760" y="3822192"/>
            <a:ext cx="2852928" cy="7315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Verifica antes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de compartir</a:t>
            </a:r>
            <a:endParaRPr lang="en-US" sz="1250" dirty="0"/>
          </a:p>
        </p:txBody>
      </p:sp>
      <p:sp>
        <p:nvSpPr>
          <p:cNvPr id="10" name="Shape 7"/>
          <p:cNvSpPr/>
          <p:nvPr/>
        </p:nvSpPr>
        <p:spPr>
          <a:xfrm>
            <a:off x="4681728" y="3063240"/>
            <a:ext cx="3127248" cy="1600200"/>
          </a:xfrm>
          <a:prstGeom prst="roundRect">
            <a:avLst>
              <a:gd name="adj" fmla="val 5143"/>
            </a:avLst>
          </a:prstGeom>
          <a:solidFill>
            <a:srgbClr val="5D4037"/>
          </a:solidFill>
          <a:ln w="12700">
            <a:solidFill>
              <a:srgbClr val="5D4037"/>
            </a:solidFill>
            <a:prstDash val="solid"/>
          </a:ln>
          <a:effectLst>
            <a:outerShdw sx="100000" sy="100000" kx="0" ky="0" algn="bl" rotWithShape="0" blurRad="88900" dist="25400" dir="5400000">
              <a:srgbClr val="3E2723">
                <a:alpha val="35000"/>
              </a:srgbClr>
            </a:outerShdw>
          </a:effectLst>
        </p:spPr>
      </p:sp>
      <p:sp>
        <p:nvSpPr>
          <p:cNvPr id="11" name="Shape 8"/>
          <p:cNvSpPr/>
          <p:nvPr/>
        </p:nvSpPr>
        <p:spPr>
          <a:xfrm>
            <a:off x="5998464" y="3246120"/>
            <a:ext cx="502920" cy="502920"/>
          </a:xfrm>
          <a:prstGeom prst="ellipse">
            <a:avLst/>
          </a:prstGeom>
          <a:solidFill>
            <a:srgbClr val="C67B3B"/>
          </a:solidFill>
          <a:ln/>
        </p:spPr>
      </p:sp>
      <p:pic>
        <p:nvPicPr>
          <p:cNvPr id="12" name="Image 1" descr="preencoded.png">    </p:cNvPr>
          <p:cNvPicPr>
            <a:picLocks noChangeAspect="1"/>
          </p:cNvPicPr>
          <p:nvPr/>
        </p:nvPicPr>
        <p:blipFill>
          <a:blip r:embed="rId2"/>
          <a:stretch>
            <a:fillRect/>
          </a:stretch>
        </p:blipFill>
        <p:spPr>
          <a:xfrm>
            <a:off x="6134252" y="3381908"/>
            <a:ext cx="231343" cy="231343"/>
          </a:xfrm>
          <a:prstGeom prst="rect">
            <a:avLst/>
          </a:prstGeom>
        </p:spPr>
      </p:pic>
      <p:sp>
        <p:nvSpPr>
          <p:cNvPr id="13" name="Text 9"/>
          <p:cNvSpPr/>
          <p:nvPr/>
        </p:nvSpPr>
        <p:spPr>
          <a:xfrm>
            <a:off x="4818888" y="3822192"/>
            <a:ext cx="2852928" cy="7315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Usa la IA como apoyo,</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no como reemplazo</a:t>
            </a:r>
            <a:endParaRPr lang="en-US" sz="1250" dirty="0"/>
          </a:p>
        </p:txBody>
      </p:sp>
      <p:sp>
        <p:nvSpPr>
          <p:cNvPr id="14" name="Shape 10"/>
          <p:cNvSpPr/>
          <p:nvPr/>
        </p:nvSpPr>
        <p:spPr>
          <a:xfrm>
            <a:off x="7991856" y="3063240"/>
            <a:ext cx="3127248" cy="1600200"/>
          </a:xfrm>
          <a:prstGeom prst="roundRect">
            <a:avLst>
              <a:gd name="adj" fmla="val 5143"/>
            </a:avLst>
          </a:prstGeom>
          <a:solidFill>
            <a:srgbClr val="5D4037"/>
          </a:solidFill>
          <a:ln w="12700">
            <a:solidFill>
              <a:srgbClr val="5D4037"/>
            </a:solidFill>
            <a:prstDash val="solid"/>
          </a:ln>
          <a:effectLst>
            <a:outerShdw sx="100000" sy="100000" kx="0" ky="0" algn="bl" rotWithShape="0" blurRad="88900" dist="25400" dir="5400000">
              <a:srgbClr val="3E2723">
                <a:alpha val="35000"/>
              </a:srgbClr>
            </a:outerShdw>
          </a:effectLst>
        </p:spPr>
      </p:sp>
      <p:sp>
        <p:nvSpPr>
          <p:cNvPr id="15" name="Shape 11"/>
          <p:cNvSpPr/>
          <p:nvPr/>
        </p:nvSpPr>
        <p:spPr>
          <a:xfrm>
            <a:off x="9308592" y="3246120"/>
            <a:ext cx="502920" cy="502920"/>
          </a:xfrm>
          <a:prstGeom prst="ellipse">
            <a:avLst/>
          </a:prstGeom>
          <a:solidFill>
            <a:srgbClr val="C67B3B"/>
          </a:solidFill>
          <a:ln/>
        </p:spPr>
      </p:sp>
      <p:pic>
        <p:nvPicPr>
          <p:cNvPr id="16" name="Image 2" descr="preencoded.png">    </p:cNvPr>
          <p:cNvPicPr>
            <a:picLocks noChangeAspect="1"/>
          </p:cNvPicPr>
          <p:nvPr/>
        </p:nvPicPr>
        <p:blipFill>
          <a:blip r:embed="rId3"/>
          <a:stretch>
            <a:fillRect/>
          </a:stretch>
        </p:blipFill>
        <p:spPr>
          <a:xfrm>
            <a:off x="9444380" y="3381908"/>
            <a:ext cx="231343" cy="231343"/>
          </a:xfrm>
          <a:prstGeom prst="rect">
            <a:avLst/>
          </a:prstGeom>
        </p:spPr>
      </p:pic>
      <p:sp>
        <p:nvSpPr>
          <p:cNvPr id="17" name="Text 12"/>
          <p:cNvSpPr/>
          <p:nvPr/>
        </p:nvSpPr>
        <p:spPr>
          <a:xfrm>
            <a:off x="8129016" y="3822192"/>
            <a:ext cx="2852928" cy="7315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Pasa toda fuente por</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el embudo C.R.A.A.P.</a:t>
            </a:r>
            <a:endParaRPr lang="en-US" sz="1250" dirty="0"/>
          </a:p>
        </p:txBody>
      </p:sp>
      <p:sp>
        <p:nvSpPr>
          <p:cNvPr id="18" name="Text 13"/>
          <p:cNvSpPr/>
          <p:nvPr/>
        </p:nvSpPr>
        <p:spPr>
          <a:xfrm>
            <a:off x="731520" y="5029200"/>
            <a:ext cx="10725912" cy="457200"/>
          </a:xfrm>
          <a:prstGeom prst="rect">
            <a:avLst/>
          </a:prstGeom>
          <a:noFill/>
          <a:ln/>
        </p:spPr>
        <p:txBody>
          <a:bodyPr wrap="square" lIns="0" tIns="0" rIns="0" bIns="0" rtlCol="0" anchor="ctr"/>
          <a:lstStyle/>
          <a:p>
            <a:pPr algn="ctr" indent="0" marL="0">
              <a:buNone/>
            </a:pPr>
            <a:r>
              <a:rPr lang="en-US" sz="1600" b="1" i="1" dirty="0">
                <a:solidFill>
                  <a:srgbClr val="F0C89A"/>
                </a:solidFill>
                <a:latin typeface="Calibri" pitchFamily="34" charset="0"/>
                <a:ea typeface="Calibri" pitchFamily="34" charset="-122"/>
                <a:cs typeface="Calibri" pitchFamily="34" charset="-120"/>
              </a:rPr>
              <a:t>Y tú… ¿usarás la inteligencia artificial para crecer o para engañar?</a:t>
            </a:r>
            <a:endParaRPr lang="en-US" sz="1600" dirty="0"/>
          </a:p>
        </p:txBody>
      </p:sp>
      <p:sp>
        <p:nvSpPr>
          <p:cNvPr id="19" name="Text 14"/>
          <p:cNvSpPr/>
          <p:nvPr/>
        </p:nvSpPr>
        <p:spPr>
          <a:xfrm>
            <a:off x="731520" y="5715000"/>
            <a:ext cx="10725912"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¡Gracias!  ·  ¿Preguntas?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2026-08-13T14:35:26Z</dcterms:created>
  <dcterms:modified xsi:type="dcterms:W3CDTF">2026-08-13T14:35:26Z</dcterms:modified>
</cp:coreProperties>
</file>